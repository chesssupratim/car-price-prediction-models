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5.xml" ContentType="application/vnd.openxmlformats-officedocument.presentationml.tags+xml"/>
  <Override PartName="/ppt/tags/tag6.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5" r:id="rId4"/>
  </p:sldMasterIdLst>
  <p:notesMasterIdLst>
    <p:notesMasterId r:id="rId19"/>
  </p:notesMasterIdLst>
  <p:handoutMasterIdLst>
    <p:handoutMasterId r:id="rId20"/>
  </p:handoutMasterIdLst>
  <p:sldIdLst>
    <p:sldId id="1650" r:id="rId5"/>
    <p:sldId id="1829" r:id="rId6"/>
    <p:sldId id="1578" r:id="rId7"/>
    <p:sldId id="1594" r:id="rId8"/>
    <p:sldId id="1832" r:id="rId9"/>
    <p:sldId id="1835" r:id="rId10"/>
    <p:sldId id="1831" r:id="rId11"/>
    <p:sldId id="1595" r:id="rId12"/>
    <p:sldId id="1825" r:id="rId13"/>
    <p:sldId id="1833" r:id="rId14"/>
    <p:sldId id="1834" r:id="rId15"/>
    <p:sldId id="1599" r:id="rId16"/>
    <p:sldId id="1836" r:id="rId17"/>
    <p:sldId id="183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2B61"/>
    <a:srgbClr val="125C99"/>
    <a:srgbClr val="EA9EB9"/>
    <a:srgbClr val="165C9A"/>
    <a:srgbClr val="34D1BF"/>
    <a:srgbClr val="B7DAF7"/>
    <a:srgbClr val="D7D6D8"/>
    <a:srgbClr val="000721"/>
    <a:srgbClr val="908A97"/>
    <a:srgbClr val="9B98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7865A1-3CBA-10D4-0742-4FA1A2CE800F}" v="568" dt="2025-11-30T18:34:45.9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3" autoAdjust="0"/>
    <p:restoredTop sz="92601" autoAdjust="0"/>
  </p:normalViewPr>
  <p:slideViewPr>
    <p:cSldViewPr snapToGrid="0">
      <p:cViewPr>
        <p:scale>
          <a:sx n="60" d="100"/>
          <a:sy n="60" d="100"/>
        </p:scale>
        <p:origin x="1050" y="3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80BA32-D9FB-4778-8E1E-239F9452047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E64BE57-D3EC-419E-85D9-99A84DB118DC}">
      <dgm:prSet/>
      <dgm:spPr/>
      <dgm:t>
        <a:bodyPr/>
        <a:lstStyle/>
        <a:p>
          <a:r>
            <a:rPr lang="en-US"/>
            <a:t>Data source(s) (where it's from, how it was collected)</a:t>
          </a:r>
        </a:p>
      </dgm:t>
    </dgm:pt>
    <dgm:pt modelId="{AF77AE01-ED62-47EF-9D66-1694B7842BDC}" type="parTrans" cxnId="{8DB1E4FF-9B11-4058-86C8-4FDB44A63A34}">
      <dgm:prSet/>
      <dgm:spPr/>
      <dgm:t>
        <a:bodyPr/>
        <a:lstStyle/>
        <a:p>
          <a:endParaRPr lang="en-US"/>
        </a:p>
      </dgm:t>
    </dgm:pt>
    <dgm:pt modelId="{BFD92981-D11A-4A31-8445-ED83C284C394}" type="sibTrans" cxnId="{8DB1E4FF-9B11-4058-86C8-4FDB44A63A34}">
      <dgm:prSet/>
      <dgm:spPr/>
      <dgm:t>
        <a:bodyPr/>
        <a:lstStyle/>
        <a:p>
          <a:endParaRPr lang="en-US"/>
        </a:p>
      </dgm:t>
    </dgm:pt>
    <dgm:pt modelId="{D39F378C-BCD3-48B0-B49D-24E498F43183}">
      <dgm:prSet/>
      <dgm:spPr/>
      <dgm:t>
        <a:bodyPr/>
        <a:lstStyle/>
        <a:p>
          <a:r>
            <a:rPr lang="en-US"/>
            <a:t>Kaggle (https://www.kaggle.com/datasets/milapgohil/car-dataset)</a:t>
          </a:r>
        </a:p>
      </dgm:t>
    </dgm:pt>
    <dgm:pt modelId="{871C7709-09D9-4EBE-9FB3-7FE620DAE837}" type="parTrans" cxnId="{24E5973F-3560-4872-85B6-9CD78C894A47}">
      <dgm:prSet/>
      <dgm:spPr/>
      <dgm:t>
        <a:bodyPr/>
        <a:lstStyle/>
        <a:p>
          <a:endParaRPr lang="en-US"/>
        </a:p>
      </dgm:t>
    </dgm:pt>
    <dgm:pt modelId="{8C087CF6-C3F5-4C9A-90DF-D66116028486}" type="sibTrans" cxnId="{24E5973F-3560-4872-85B6-9CD78C894A47}">
      <dgm:prSet/>
      <dgm:spPr/>
      <dgm:t>
        <a:bodyPr/>
        <a:lstStyle/>
        <a:p>
          <a:endParaRPr lang="en-US"/>
        </a:p>
      </dgm:t>
    </dgm:pt>
    <dgm:pt modelId="{72B29EBD-7E1A-4050-A158-04E0616CBC70}">
      <dgm:prSet/>
      <dgm:spPr/>
      <dgm:t>
        <a:bodyPr/>
        <a:lstStyle/>
        <a:p>
          <a:r>
            <a:rPr lang="en-US" dirty="0"/>
            <a:t>Description of the data (features, size, format)</a:t>
          </a:r>
        </a:p>
      </dgm:t>
    </dgm:pt>
    <dgm:pt modelId="{0A74328B-70A8-4F8D-99BE-38EF0416749C}" type="parTrans" cxnId="{9D93F210-0E4B-45B6-B685-74A48856AED4}">
      <dgm:prSet/>
      <dgm:spPr/>
      <dgm:t>
        <a:bodyPr/>
        <a:lstStyle/>
        <a:p>
          <a:endParaRPr lang="en-US"/>
        </a:p>
      </dgm:t>
    </dgm:pt>
    <dgm:pt modelId="{7FF3678A-A049-44CB-8ED5-2A2B0C53AD3B}" type="sibTrans" cxnId="{9D93F210-0E4B-45B6-B685-74A48856AED4}">
      <dgm:prSet/>
      <dgm:spPr/>
      <dgm:t>
        <a:bodyPr/>
        <a:lstStyle/>
        <a:p>
          <a:endParaRPr lang="en-US"/>
        </a:p>
      </dgm:t>
    </dgm:pt>
    <dgm:pt modelId="{A722AC18-8148-47ED-A011-7306CE5680B2}">
      <dgm:prSet/>
      <dgm:spPr/>
      <dgm:t>
        <a:bodyPr/>
        <a:lstStyle/>
        <a:p>
          <a:r>
            <a:rPr lang="en-US" dirty="0"/>
            <a:t>Features: Rows = 140K, Columns = 12 (String = 8, Int = 3, Bool = 1)</a:t>
          </a:r>
        </a:p>
      </dgm:t>
    </dgm:pt>
    <dgm:pt modelId="{74FA620A-38CC-4AAB-B91B-E0B3FD7A8C50}" type="parTrans" cxnId="{51E80E6F-8DC9-4AA7-8FE5-15F32ECB7621}">
      <dgm:prSet/>
      <dgm:spPr/>
      <dgm:t>
        <a:bodyPr/>
        <a:lstStyle/>
        <a:p>
          <a:endParaRPr lang="en-US"/>
        </a:p>
      </dgm:t>
    </dgm:pt>
    <dgm:pt modelId="{7FD95638-A671-4556-B651-22BB22461E93}" type="sibTrans" cxnId="{51E80E6F-8DC9-4AA7-8FE5-15F32ECB7621}">
      <dgm:prSet/>
      <dgm:spPr/>
      <dgm:t>
        <a:bodyPr/>
        <a:lstStyle/>
        <a:p>
          <a:endParaRPr lang="en-US"/>
        </a:p>
      </dgm:t>
    </dgm:pt>
    <dgm:pt modelId="{76D1DC66-089F-473B-876B-8EDC6FA26B44}">
      <dgm:prSet/>
      <dgm:spPr/>
      <dgm:t>
        <a:bodyPr/>
        <a:lstStyle/>
        <a:p>
          <a:r>
            <a:rPr lang="en-US" dirty="0"/>
            <a:t>Size: 11 MB</a:t>
          </a:r>
        </a:p>
      </dgm:t>
    </dgm:pt>
    <dgm:pt modelId="{E6A176C4-9AB7-4F6F-B743-5C0BB97EE752}" type="parTrans" cxnId="{76601047-9A49-4C61-B79E-888C03D00CB4}">
      <dgm:prSet/>
      <dgm:spPr/>
      <dgm:t>
        <a:bodyPr/>
        <a:lstStyle/>
        <a:p>
          <a:endParaRPr lang="en-US"/>
        </a:p>
      </dgm:t>
    </dgm:pt>
    <dgm:pt modelId="{DF9D3E9B-E89F-4C80-97CD-6EC5941067A7}" type="sibTrans" cxnId="{76601047-9A49-4C61-B79E-888C03D00CB4}">
      <dgm:prSet/>
      <dgm:spPr/>
      <dgm:t>
        <a:bodyPr/>
        <a:lstStyle/>
        <a:p>
          <a:endParaRPr lang="en-US"/>
        </a:p>
      </dgm:t>
    </dgm:pt>
    <dgm:pt modelId="{09ADB04B-93BB-451B-AD52-3AFE25FCA80B}">
      <dgm:prSet/>
      <dgm:spPr/>
      <dgm:t>
        <a:bodyPr/>
        <a:lstStyle/>
        <a:p>
          <a:r>
            <a:rPr lang="en-US" dirty="0"/>
            <a:t>Format: .csv</a:t>
          </a:r>
        </a:p>
      </dgm:t>
    </dgm:pt>
    <dgm:pt modelId="{418B171F-56C1-4D3F-874D-049E158FC1CA}" type="parTrans" cxnId="{6661C38F-53D9-4B25-AA07-C5C5A167D944}">
      <dgm:prSet/>
      <dgm:spPr/>
      <dgm:t>
        <a:bodyPr/>
        <a:lstStyle/>
        <a:p>
          <a:endParaRPr lang="en-US"/>
        </a:p>
      </dgm:t>
    </dgm:pt>
    <dgm:pt modelId="{4F4D2E3B-4420-45CA-A5D9-80A1AD03FEF1}" type="sibTrans" cxnId="{6661C38F-53D9-4B25-AA07-C5C5A167D944}">
      <dgm:prSet/>
      <dgm:spPr/>
      <dgm:t>
        <a:bodyPr/>
        <a:lstStyle/>
        <a:p>
          <a:endParaRPr lang="en-US"/>
        </a:p>
      </dgm:t>
    </dgm:pt>
    <dgm:pt modelId="{FA192FFA-EF0A-4940-B783-F61D15A91608}">
      <dgm:prSet/>
      <dgm:spPr/>
      <dgm:t>
        <a:bodyPr/>
        <a:lstStyle/>
        <a:p>
          <a:r>
            <a:rPr lang="en-US" dirty="0"/>
            <a:t>Fields:</a:t>
          </a:r>
        </a:p>
      </dgm:t>
    </dgm:pt>
    <dgm:pt modelId="{7D301A6E-FEEC-4F30-A18E-1570932F27C3}" type="parTrans" cxnId="{252A2237-A7F8-47F6-B750-7B505DA90CE2}">
      <dgm:prSet/>
      <dgm:spPr/>
      <dgm:t>
        <a:bodyPr/>
        <a:lstStyle/>
        <a:p>
          <a:endParaRPr lang="en-US"/>
        </a:p>
      </dgm:t>
    </dgm:pt>
    <dgm:pt modelId="{4CED4AE9-16A3-4661-B1FA-09F934BEC03C}" type="sibTrans" cxnId="{252A2237-A7F8-47F6-B750-7B505DA90CE2}">
      <dgm:prSet/>
      <dgm:spPr/>
      <dgm:t>
        <a:bodyPr/>
        <a:lstStyle/>
        <a:p>
          <a:endParaRPr lang="en-US"/>
        </a:p>
      </dgm:t>
    </dgm:pt>
    <dgm:pt modelId="{0E398E3A-D05D-41E8-BBD3-E3EFC132B4EA}">
      <dgm:prSet/>
      <dgm:spPr/>
      <dgm:t>
        <a:bodyPr/>
        <a:lstStyle/>
        <a:p>
          <a:r>
            <a:rPr lang="en-US" dirty="0"/>
            <a:t>Brand, Model name, Year, Price, KM Driven, Fuel Type, Transmission, Owner etc.</a:t>
          </a:r>
        </a:p>
      </dgm:t>
    </dgm:pt>
    <dgm:pt modelId="{401505AA-F2EB-4096-85FD-4AD7AFD2D33D}" type="parTrans" cxnId="{3FF79888-EA66-4A54-8431-61E8EB18DCB6}">
      <dgm:prSet/>
      <dgm:spPr/>
      <dgm:t>
        <a:bodyPr/>
        <a:lstStyle/>
        <a:p>
          <a:endParaRPr lang="en-US"/>
        </a:p>
      </dgm:t>
    </dgm:pt>
    <dgm:pt modelId="{5FFEC5D2-D6CF-4BF0-A4F4-FA35654609EE}" type="sibTrans" cxnId="{3FF79888-EA66-4A54-8431-61E8EB18DCB6}">
      <dgm:prSet/>
      <dgm:spPr/>
      <dgm:t>
        <a:bodyPr/>
        <a:lstStyle/>
        <a:p>
          <a:endParaRPr lang="en-US"/>
        </a:p>
      </dgm:t>
    </dgm:pt>
    <dgm:pt modelId="{93142C16-8315-4D63-8A5C-EB2994BBA012}">
      <dgm:prSet/>
      <dgm:spPr/>
      <dgm:t>
        <a:bodyPr/>
        <a:lstStyle/>
        <a:p>
          <a:r>
            <a:rPr lang="en-US"/>
            <a:t>Any preprocessing steps required</a:t>
          </a:r>
        </a:p>
      </dgm:t>
    </dgm:pt>
    <dgm:pt modelId="{04B44F82-F481-4C14-84BE-19CFCEE5CD0B}" type="parTrans" cxnId="{8939BEB7-D786-4FDB-9B92-4692C8D4708C}">
      <dgm:prSet/>
      <dgm:spPr/>
      <dgm:t>
        <a:bodyPr/>
        <a:lstStyle/>
        <a:p>
          <a:endParaRPr lang="en-US"/>
        </a:p>
      </dgm:t>
    </dgm:pt>
    <dgm:pt modelId="{C1EF449B-B42C-4951-A3A0-66DFB9DFC65A}" type="sibTrans" cxnId="{8939BEB7-D786-4FDB-9B92-4692C8D4708C}">
      <dgm:prSet/>
      <dgm:spPr/>
      <dgm:t>
        <a:bodyPr/>
        <a:lstStyle/>
        <a:p>
          <a:endParaRPr lang="en-US"/>
        </a:p>
      </dgm:t>
    </dgm:pt>
    <dgm:pt modelId="{50D2A886-2114-460A-B756-8327C172E363}">
      <dgm:prSet/>
      <dgm:spPr/>
      <dgm:t>
        <a:bodyPr/>
        <a:lstStyle/>
        <a:p>
          <a:r>
            <a:rPr lang="en-US" b="1" dirty="0"/>
            <a:t>Data cleaning</a:t>
          </a:r>
          <a:r>
            <a:rPr lang="en-US" dirty="0"/>
            <a:t>: Remove duplicates &amp; adjust extreme outliers.</a:t>
          </a:r>
        </a:p>
      </dgm:t>
    </dgm:pt>
    <dgm:pt modelId="{A049D77F-126F-4BC5-81E0-A63B1AE39A0A}" type="parTrans" cxnId="{C93FA796-586E-45F5-AB59-84C92A03641B}">
      <dgm:prSet/>
      <dgm:spPr/>
      <dgm:t>
        <a:bodyPr/>
        <a:lstStyle/>
        <a:p>
          <a:endParaRPr lang="en-US"/>
        </a:p>
      </dgm:t>
    </dgm:pt>
    <dgm:pt modelId="{F72568F7-0EC3-4771-8F14-EE8A49ED777F}" type="sibTrans" cxnId="{C93FA796-586E-45F5-AB59-84C92A03641B}">
      <dgm:prSet/>
      <dgm:spPr/>
      <dgm:t>
        <a:bodyPr/>
        <a:lstStyle/>
        <a:p>
          <a:endParaRPr lang="en-US"/>
        </a:p>
      </dgm:t>
    </dgm:pt>
    <dgm:pt modelId="{0485B8B4-2ADA-48E4-826C-F627BD20C40F}" type="pres">
      <dgm:prSet presAssocID="{4980BA32-D9FB-4778-8E1E-239F9452047F}" presName="linear" presStyleCnt="0">
        <dgm:presLayoutVars>
          <dgm:animLvl val="lvl"/>
          <dgm:resizeHandles val="exact"/>
        </dgm:presLayoutVars>
      </dgm:prSet>
      <dgm:spPr/>
    </dgm:pt>
    <dgm:pt modelId="{48C274F2-3F46-43E9-AACF-A42593357E55}" type="pres">
      <dgm:prSet presAssocID="{EE64BE57-D3EC-419E-85D9-99A84DB118DC}" presName="parentText" presStyleLbl="node1" presStyleIdx="0" presStyleCnt="3">
        <dgm:presLayoutVars>
          <dgm:chMax val="0"/>
          <dgm:bulletEnabled val="1"/>
        </dgm:presLayoutVars>
      </dgm:prSet>
      <dgm:spPr/>
    </dgm:pt>
    <dgm:pt modelId="{F3F81D94-6F8C-46CD-9343-FB9F8BCDF46E}" type="pres">
      <dgm:prSet presAssocID="{EE64BE57-D3EC-419E-85D9-99A84DB118DC}" presName="childText" presStyleLbl="revTx" presStyleIdx="0" presStyleCnt="3">
        <dgm:presLayoutVars>
          <dgm:bulletEnabled val="1"/>
        </dgm:presLayoutVars>
      </dgm:prSet>
      <dgm:spPr/>
    </dgm:pt>
    <dgm:pt modelId="{371ACC42-6A52-4A4B-B8A7-8162CFE3D8C9}" type="pres">
      <dgm:prSet presAssocID="{72B29EBD-7E1A-4050-A158-04E0616CBC70}" presName="parentText" presStyleLbl="node1" presStyleIdx="1" presStyleCnt="3">
        <dgm:presLayoutVars>
          <dgm:chMax val="0"/>
          <dgm:bulletEnabled val="1"/>
        </dgm:presLayoutVars>
      </dgm:prSet>
      <dgm:spPr/>
    </dgm:pt>
    <dgm:pt modelId="{F81D2531-C69B-4CAE-8FED-B344EC9C2D06}" type="pres">
      <dgm:prSet presAssocID="{72B29EBD-7E1A-4050-A158-04E0616CBC70}" presName="childText" presStyleLbl="revTx" presStyleIdx="1" presStyleCnt="3">
        <dgm:presLayoutVars>
          <dgm:bulletEnabled val="1"/>
        </dgm:presLayoutVars>
      </dgm:prSet>
      <dgm:spPr/>
    </dgm:pt>
    <dgm:pt modelId="{844A2AF2-BDBC-4149-A383-A0491A7F1B90}" type="pres">
      <dgm:prSet presAssocID="{93142C16-8315-4D63-8A5C-EB2994BBA012}" presName="parentText" presStyleLbl="node1" presStyleIdx="2" presStyleCnt="3">
        <dgm:presLayoutVars>
          <dgm:chMax val="0"/>
          <dgm:bulletEnabled val="1"/>
        </dgm:presLayoutVars>
      </dgm:prSet>
      <dgm:spPr/>
    </dgm:pt>
    <dgm:pt modelId="{DAE91E4C-6ECF-46D2-9C07-249BB260636F}" type="pres">
      <dgm:prSet presAssocID="{93142C16-8315-4D63-8A5C-EB2994BBA012}" presName="childText" presStyleLbl="revTx" presStyleIdx="2" presStyleCnt="3">
        <dgm:presLayoutVars>
          <dgm:bulletEnabled val="1"/>
        </dgm:presLayoutVars>
      </dgm:prSet>
      <dgm:spPr/>
    </dgm:pt>
  </dgm:ptLst>
  <dgm:cxnLst>
    <dgm:cxn modelId="{1CBDD406-20EA-45D3-8096-DA057FA512D2}" type="presOf" srcId="{FA192FFA-EF0A-4940-B783-F61D15A91608}" destId="{F81D2531-C69B-4CAE-8FED-B344EC9C2D06}" srcOrd="0" destOrd="3" presId="urn:microsoft.com/office/officeart/2005/8/layout/vList2"/>
    <dgm:cxn modelId="{9D93F210-0E4B-45B6-B685-74A48856AED4}" srcId="{4980BA32-D9FB-4778-8E1E-239F9452047F}" destId="{72B29EBD-7E1A-4050-A158-04E0616CBC70}" srcOrd="1" destOrd="0" parTransId="{0A74328B-70A8-4F8D-99BE-38EF0416749C}" sibTransId="{7FF3678A-A049-44CB-8ED5-2A2B0C53AD3B}"/>
    <dgm:cxn modelId="{00267915-8E9F-4DB1-A753-79C5ADC9BCA5}" type="presOf" srcId="{D39F378C-BCD3-48B0-B49D-24E498F43183}" destId="{F3F81D94-6F8C-46CD-9343-FB9F8BCDF46E}" srcOrd="0" destOrd="0" presId="urn:microsoft.com/office/officeart/2005/8/layout/vList2"/>
    <dgm:cxn modelId="{D962FA30-C92C-4C34-A555-3211EA852520}" type="presOf" srcId="{EE64BE57-D3EC-419E-85D9-99A84DB118DC}" destId="{48C274F2-3F46-43E9-AACF-A42593357E55}" srcOrd="0" destOrd="0" presId="urn:microsoft.com/office/officeart/2005/8/layout/vList2"/>
    <dgm:cxn modelId="{252A2237-A7F8-47F6-B750-7B505DA90CE2}" srcId="{72B29EBD-7E1A-4050-A158-04E0616CBC70}" destId="{FA192FFA-EF0A-4940-B783-F61D15A91608}" srcOrd="3" destOrd="0" parTransId="{7D301A6E-FEEC-4F30-A18E-1570932F27C3}" sibTransId="{4CED4AE9-16A3-4661-B1FA-09F934BEC03C}"/>
    <dgm:cxn modelId="{7D85203A-C426-411F-88F8-93C4133BBCC4}" type="presOf" srcId="{93142C16-8315-4D63-8A5C-EB2994BBA012}" destId="{844A2AF2-BDBC-4149-A383-A0491A7F1B90}" srcOrd="0" destOrd="0" presId="urn:microsoft.com/office/officeart/2005/8/layout/vList2"/>
    <dgm:cxn modelId="{24E5973F-3560-4872-85B6-9CD78C894A47}" srcId="{EE64BE57-D3EC-419E-85D9-99A84DB118DC}" destId="{D39F378C-BCD3-48B0-B49D-24E498F43183}" srcOrd="0" destOrd="0" parTransId="{871C7709-09D9-4EBE-9FB3-7FE620DAE837}" sibTransId="{8C087CF6-C3F5-4C9A-90DF-D66116028486}"/>
    <dgm:cxn modelId="{76601047-9A49-4C61-B79E-888C03D00CB4}" srcId="{72B29EBD-7E1A-4050-A158-04E0616CBC70}" destId="{76D1DC66-089F-473B-876B-8EDC6FA26B44}" srcOrd="1" destOrd="0" parTransId="{E6A176C4-9AB7-4F6F-B743-5C0BB97EE752}" sibTransId="{DF9D3E9B-E89F-4C80-97CD-6EC5941067A7}"/>
    <dgm:cxn modelId="{51E80E6F-8DC9-4AA7-8FE5-15F32ECB7621}" srcId="{72B29EBD-7E1A-4050-A158-04E0616CBC70}" destId="{A722AC18-8148-47ED-A011-7306CE5680B2}" srcOrd="0" destOrd="0" parTransId="{74FA620A-38CC-4AAB-B91B-E0B3FD7A8C50}" sibTransId="{7FD95638-A671-4556-B651-22BB22461E93}"/>
    <dgm:cxn modelId="{CB53C06F-21F2-43BB-9CD1-9CBC594DDD2B}" type="presOf" srcId="{50D2A886-2114-460A-B756-8327C172E363}" destId="{DAE91E4C-6ECF-46D2-9C07-249BB260636F}" srcOrd="0" destOrd="0" presId="urn:microsoft.com/office/officeart/2005/8/layout/vList2"/>
    <dgm:cxn modelId="{448E4670-580B-4255-8D26-FCDB2702695E}" type="presOf" srcId="{76D1DC66-089F-473B-876B-8EDC6FA26B44}" destId="{F81D2531-C69B-4CAE-8FED-B344EC9C2D06}" srcOrd="0" destOrd="1" presId="urn:microsoft.com/office/officeart/2005/8/layout/vList2"/>
    <dgm:cxn modelId="{6C81A673-6A3D-40CF-90AA-28F7B6AA01B1}" type="presOf" srcId="{0E398E3A-D05D-41E8-BBD3-E3EFC132B4EA}" destId="{F81D2531-C69B-4CAE-8FED-B344EC9C2D06}" srcOrd="0" destOrd="4" presId="urn:microsoft.com/office/officeart/2005/8/layout/vList2"/>
    <dgm:cxn modelId="{4318027D-7B4C-46D0-8A60-9F6483103A87}" type="presOf" srcId="{A722AC18-8148-47ED-A011-7306CE5680B2}" destId="{F81D2531-C69B-4CAE-8FED-B344EC9C2D06}" srcOrd="0" destOrd="0" presId="urn:microsoft.com/office/officeart/2005/8/layout/vList2"/>
    <dgm:cxn modelId="{63E47787-4E6C-46C7-ABFD-0A6E3D4F3DEF}" type="presOf" srcId="{4980BA32-D9FB-4778-8E1E-239F9452047F}" destId="{0485B8B4-2ADA-48E4-826C-F627BD20C40F}" srcOrd="0" destOrd="0" presId="urn:microsoft.com/office/officeart/2005/8/layout/vList2"/>
    <dgm:cxn modelId="{3FF79888-EA66-4A54-8431-61E8EB18DCB6}" srcId="{FA192FFA-EF0A-4940-B783-F61D15A91608}" destId="{0E398E3A-D05D-41E8-BBD3-E3EFC132B4EA}" srcOrd="0" destOrd="0" parTransId="{401505AA-F2EB-4096-85FD-4AD7AFD2D33D}" sibTransId="{5FFEC5D2-D6CF-4BF0-A4F4-FA35654609EE}"/>
    <dgm:cxn modelId="{6661C38F-53D9-4B25-AA07-C5C5A167D944}" srcId="{72B29EBD-7E1A-4050-A158-04E0616CBC70}" destId="{09ADB04B-93BB-451B-AD52-3AFE25FCA80B}" srcOrd="2" destOrd="0" parTransId="{418B171F-56C1-4D3F-874D-049E158FC1CA}" sibTransId="{4F4D2E3B-4420-45CA-A5D9-80A1AD03FEF1}"/>
    <dgm:cxn modelId="{C93FA796-586E-45F5-AB59-84C92A03641B}" srcId="{93142C16-8315-4D63-8A5C-EB2994BBA012}" destId="{50D2A886-2114-460A-B756-8327C172E363}" srcOrd="0" destOrd="0" parTransId="{A049D77F-126F-4BC5-81E0-A63B1AE39A0A}" sibTransId="{F72568F7-0EC3-4771-8F14-EE8A49ED777F}"/>
    <dgm:cxn modelId="{8939BEB7-D786-4FDB-9B92-4692C8D4708C}" srcId="{4980BA32-D9FB-4778-8E1E-239F9452047F}" destId="{93142C16-8315-4D63-8A5C-EB2994BBA012}" srcOrd="2" destOrd="0" parTransId="{04B44F82-F481-4C14-84BE-19CFCEE5CD0B}" sibTransId="{C1EF449B-B42C-4951-A3A0-66DFB9DFC65A}"/>
    <dgm:cxn modelId="{464DA9C0-6ED0-4A65-9942-DB23609EF9DF}" type="presOf" srcId="{09ADB04B-93BB-451B-AD52-3AFE25FCA80B}" destId="{F81D2531-C69B-4CAE-8FED-B344EC9C2D06}" srcOrd="0" destOrd="2" presId="urn:microsoft.com/office/officeart/2005/8/layout/vList2"/>
    <dgm:cxn modelId="{3B9425D4-A2FA-4B2D-BBD6-2C80C1FC3F41}" type="presOf" srcId="{72B29EBD-7E1A-4050-A158-04E0616CBC70}" destId="{371ACC42-6A52-4A4B-B8A7-8162CFE3D8C9}" srcOrd="0" destOrd="0" presId="urn:microsoft.com/office/officeart/2005/8/layout/vList2"/>
    <dgm:cxn modelId="{8DB1E4FF-9B11-4058-86C8-4FDB44A63A34}" srcId="{4980BA32-D9FB-4778-8E1E-239F9452047F}" destId="{EE64BE57-D3EC-419E-85D9-99A84DB118DC}" srcOrd="0" destOrd="0" parTransId="{AF77AE01-ED62-47EF-9D66-1694B7842BDC}" sibTransId="{BFD92981-D11A-4A31-8445-ED83C284C394}"/>
    <dgm:cxn modelId="{B3EEAF7F-7B94-4CDE-96DA-AC14661AE346}" type="presParOf" srcId="{0485B8B4-2ADA-48E4-826C-F627BD20C40F}" destId="{48C274F2-3F46-43E9-AACF-A42593357E55}" srcOrd="0" destOrd="0" presId="urn:microsoft.com/office/officeart/2005/8/layout/vList2"/>
    <dgm:cxn modelId="{1823886B-8B4D-4396-B1A3-31912FB5A6A6}" type="presParOf" srcId="{0485B8B4-2ADA-48E4-826C-F627BD20C40F}" destId="{F3F81D94-6F8C-46CD-9343-FB9F8BCDF46E}" srcOrd="1" destOrd="0" presId="urn:microsoft.com/office/officeart/2005/8/layout/vList2"/>
    <dgm:cxn modelId="{A9D74B81-CE43-4642-8920-B59FFE070B2E}" type="presParOf" srcId="{0485B8B4-2ADA-48E4-826C-F627BD20C40F}" destId="{371ACC42-6A52-4A4B-B8A7-8162CFE3D8C9}" srcOrd="2" destOrd="0" presId="urn:microsoft.com/office/officeart/2005/8/layout/vList2"/>
    <dgm:cxn modelId="{761C2561-1F30-4424-A556-DFF5DF74F194}" type="presParOf" srcId="{0485B8B4-2ADA-48E4-826C-F627BD20C40F}" destId="{F81D2531-C69B-4CAE-8FED-B344EC9C2D06}" srcOrd="3" destOrd="0" presId="urn:microsoft.com/office/officeart/2005/8/layout/vList2"/>
    <dgm:cxn modelId="{88DB6D89-F621-490A-8A2C-40308E6908AC}" type="presParOf" srcId="{0485B8B4-2ADA-48E4-826C-F627BD20C40F}" destId="{844A2AF2-BDBC-4149-A383-A0491A7F1B90}" srcOrd="4" destOrd="0" presId="urn:microsoft.com/office/officeart/2005/8/layout/vList2"/>
    <dgm:cxn modelId="{042CD80D-08D0-4956-B266-FE1B39CAFA01}" type="presParOf" srcId="{0485B8B4-2ADA-48E4-826C-F627BD20C40F}" destId="{DAE91E4C-6ECF-46D2-9C07-249BB260636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80BA32-D9FB-4778-8E1E-239F9452047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E64BE57-D3EC-419E-85D9-99A84DB118DC}">
      <dgm:prSet/>
      <dgm:spPr/>
      <dgm:t>
        <a:bodyPr/>
        <a:lstStyle/>
        <a:p>
          <a:r>
            <a:rPr lang="en-US" dirty="0"/>
            <a:t>Feature Engineering</a:t>
          </a:r>
        </a:p>
      </dgm:t>
    </dgm:pt>
    <dgm:pt modelId="{AF77AE01-ED62-47EF-9D66-1694B7842BDC}" type="parTrans" cxnId="{8DB1E4FF-9B11-4058-86C8-4FDB44A63A34}">
      <dgm:prSet/>
      <dgm:spPr/>
      <dgm:t>
        <a:bodyPr/>
        <a:lstStyle/>
        <a:p>
          <a:endParaRPr lang="en-US"/>
        </a:p>
      </dgm:t>
    </dgm:pt>
    <dgm:pt modelId="{BFD92981-D11A-4A31-8445-ED83C284C394}" type="sibTrans" cxnId="{8DB1E4FF-9B11-4058-86C8-4FDB44A63A34}">
      <dgm:prSet/>
      <dgm:spPr/>
      <dgm:t>
        <a:bodyPr/>
        <a:lstStyle/>
        <a:p>
          <a:endParaRPr lang="en-US"/>
        </a:p>
      </dgm:t>
    </dgm:pt>
    <dgm:pt modelId="{0485B8B4-2ADA-48E4-826C-F627BD20C40F}" type="pres">
      <dgm:prSet presAssocID="{4980BA32-D9FB-4778-8E1E-239F9452047F}" presName="linear" presStyleCnt="0">
        <dgm:presLayoutVars>
          <dgm:animLvl val="lvl"/>
          <dgm:resizeHandles val="exact"/>
        </dgm:presLayoutVars>
      </dgm:prSet>
      <dgm:spPr/>
    </dgm:pt>
    <dgm:pt modelId="{48C274F2-3F46-43E9-AACF-A42593357E55}" type="pres">
      <dgm:prSet presAssocID="{EE64BE57-D3EC-419E-85D9-99A84DB118DC}" presName="parentText" presStyleLbl="node1" presStyleIdx="0" presStyleCnt="1" custScaleY="28379" custLinFactY="-77595" custLinFactNeighborX="158" custLinFactNeighborY="-100000">
        <dgm:presLayoutVars>
          <dgm:chMax val="0"/>
          <dgm:bulletEnabled val="1"/>
        </dgm:presLayoutVars>
      </dgm:prSet>
      <dgm:spPr/>
    </dgm:pt>
  </dgm:ptLst>
  <dgm:cxnLst>
    <dgm:cxn modelId="{D962FA30-C92C-4C34-A555-3211EA852520}" type="presOf" srcId="{EE64BE57-D3EC-419E-85D9-99A84DB118DC}" destId="{48C274F2-3F46-43E9-AACF-A42593357E55}" srcOrd="0" destOrd="0" presId="urn:microsoft.com/office/officeart/2005/8/layout/vList2"/>
    <dgm:cxn modelId="{63E47787-4E6C-46C7-ABFD-0A6E3D4F3DEF}" type="presOf" srcId="{4980BA32-D9FB-4778-8E1E-239F9452047F}" destId="{0485B8B4-2ADA-48E4-826C-F627BD20C40F}" srcOrd="0" destOrd="0" presId="urn:microsoft.com/office/officeart/2005/8/layout/vList2"/>
    <dgm:cxn modelId="{8DB1E4FF-9B11-4058-86C8-4FDB44A63A34}" srcId="{4980BA32-D9FB-4778-8E1E-239F9452047F}" destId="{EE64BE57-D3EC-419E-85D9-99A84DB118DC}" srcOrd="0" destOrd="0" parTransId="{AF77AE01-ED62-47EF-9D66-1694B7842BDC}" sibTransId="{BFD92981-D11A-4A31-8445-ED83C284C394}"/>
    <dgm:cxn modelId="{B3EEAF7F-7B94-4CDE-96DA-AC14661AE346}" type="presParOf" srcId="{0485B8B4-2ADA-48E4-826C-F627BD20C40F}" destId="{48C274F2-3F46-43E9-AACF-A42593357E55}" srcOrd="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D49D6C-74B1-43AE-B13B-0FF2C7613B67}"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IN"/>
        </a:p>
      </dgm:t>
    </dgm:pt>
    <dgm:pt modelId="{B74DF415-CC3E-4083-A68F-D34153D18156}">
      <dgm:prSet phldrT="[Text]" phldr="0"/>
      <dgm:spPr/>
      <dgm:t>
        <a:bodyPr/>
        <a:lstStyle/>
        <a:p>
          <a:r>
            <a:rPr lang="en-IN"/>
            <a:t>Design and Plan</a:t>
          </a:r>
        </a:p>
      </dgm:t>
    </dgm:pt>
    <dgm:pt modelId="{C0FCBA7A-36D5-4A60-8017-49FB968CCB72}" type="parTrans" cxnId="{C745E024-018A-47FB-8867-3D3E4411977E}">
      <dgm:prSet/>
      <dgm:spPr/>
      <dgm:t>
        <a:bodyPr/>
        <a:lstStyle/>
        <a:p>
          <a:endParaRPr lang="en-IN"/>
        </a:p>
      </dgm:t>
    </dgm:pt>
    <dgm:pt modelId="{1EDC1D99-15BA-4386-A499-9302B59FDDDA}" type="sibTrans" cxnId="{C745E024-018A-47FB-8867-3D3E4411977E}">
      <dgm:prSet/>
      <dgm:spPr/>
      <dgm:t>
        <a:bodyPr/>
        <a:lstStyle/>
        <a:p>
          <a:endParaRPr lang="en-IN"/>
        </a:p>
      </dgm:t>
    </dgm:pt>
    <dgm:pt modelId="{9FF4A22C-7353-4343-8A00-8AD4AD8153FC}">
      <dgm:prSet phldrT="[Text]"/>
      <dgm:spPr/>
      <dgm:t>
        <a:bodyPr/>
        <a:lstStyle/>
        <a:p>
          <a:r>
            <a:rPr lang="en-IN" dirty="0"/>
            <a:t>Completion of Plan (1</a:t>
          </a:r>
          <a:r>
            <a:rPr lang="en-IN" baseline="30000" dirty="0"/>
            <a:t>st</a:t>
          </a:r>
          <a:r>
            <a:rPr lang="en-IN" dirty="0"/>
            <a:t> Milestone : 25</a:t>
          </a:r>
          <a:r>
            <a:rPr lang="en-IN" baseline="30000" dirty="0"/>
            <a:t>th</a:t>
          </a:r>
          <a:r>
            <a:rPr lang="en-IN" dirty="0"/>
            <a:t> Oct)</a:t>
          </a:r>
        </a:p>
      </dgm:t>
    </dgm:pt>
    <dgm:pt modelId="{9E9B527D-C4C2-4AC0-9DAC-F4E693E9A8DC}" type="parTrans" cxnId="{FC8EF565-B41A-4840-989E-476572BBD667}">
      <dgm:prSet/>
      <dgm:spPr/>
      <dgm:t>
        <a:bodyPr/>
        <a:lstStyle/>
        <a:p>
          <a:endParaRPr lang="en-IN"/>
        </a:p>
      </dgm:t>
    </dgm:pt>
    <dgm:pt modelId="{C9B8AD11-6923-4328-B0A4-3EBC4AC75EC4}" type="sibTrans" cxnId="{FC8EF565-B41A-4840-989E-476572BBD667}">
      <dgm:prSet/>
      <dgm:spPr/>
      <dgm:t>
        <a:bodyPr/>
        <a:lstStyle/>
        <a:p>
          <a:endParaRPr lang="en-IN"/>
        </a:p>
      </dgm:t>
    </dgm:pt>
    <dgm:pt modelId="{7F5EE267-628F-4A1D-B1CE-19CEDDD7F3FD}">
      <dgm:prSet phldrT="[Text]" phldr="0"/>
      <dgm:spPr/>
      <dgm:t>
        <a:bodyPr/>
        <a:lstStyle/>
        <a:p>
          <a:r>
            <a:rPr lang="en-IN"/>
            <a:t>EDA</a:t>
          </a:r>
        </a:p>
      </dgm:t>
    </dgm:pt>
    <dgm:pt modelId="{B69C9116-A749-4869-AE13-997DA04E4B1E}" type="parTrans" cxnId="{3FB7B3D1-65E0-48DC-BD92-1A199A49F18B}">
      <dgm:prSet/>
      <dgm:spPr/>
      <dgm:t>
        <a:bodyPr/>
        <a:lstStyle/>
        <a:p>
          <a:endParaRPr lang="en-IN"/>
        </a:p>
      </dgm:t>
    </dgm:pt>
    <dgm:pt modelId="{1083C06F-D375-4BC6-B7EF-5D4990AC3E3F}" type="sibTrans" cxnId="{3FB7B3D1-65E0-48DC-BD92-1A199A49F18B}">
      <dgm:prSet/>
      <dgm:spPr/>
      <dgm:t>
        <a:bodyPr/>
        <a:lstStyle/>
        <a:p>
          <a:endParaRPr lang="en-IN"/>
        </a:p>
      </dgm:t>
    </dgm:pt>
    <dgm:pt modelId="{4ACB5EAA-BC2E-44EA-BAD9-4E801BAC790C}">
      <dgm:prSet phldrT="[Text]"/>
      <dgm:spPr/>
      <dgm:t>
        <a:bodyPr/>
        <a:lstStyle/>
        <a:p>
          <a:r>
            <a:rPr lang="en-IN"/>
            <a:t>Data Cleansing (3rd Milestone : 10</a:t>
          </a:r>
          <a:r>
            <a:rPr lang="en-IN" baseline="30000"/>
            <a:t>th</a:t>
          </a:r>
          <a:r>
            <a:rPr lang="en-IN"/>
            <a:t> Nov)</a:t>
          </a:r>
        </a:p>
      </dgm:t>
    </dgm:pt>
    <dgm:pt modelId="{5C04E043-6779-431A-B080-60882E7949B6}" type="parTrans" cxnId="{1B606456-9871-4DB9-A33A-A23304E2B65A}">
      <dgm:prSet/>
      <dgm:spPr/>
      <dgm:t>
        <a:bodyPr/>
        <a:lstStyle/>
        <a:p>
          <a:endParaRPr lang="en-IN"/>
        </a:p>
      </dgm:t>
    </dgm:pt>
    <dgm:pt modelId="{DFF54672-76B9-4CB5-9BA1-D6DB2E196C0B}" type="sibTrans" cxnId="{1B606456-9871-4DB9-A33A-A23304E2B65A}">
      <dgm:prSet/>
      <dgm:spPr/>
      <dgm:t>
        <a:bodyPr/>
        <a:lstStyle/>
        <a:p>
          <a:endParaRPr lang="en-IN"/>
        </a:p>
      </dgm:t>
    </dgm:pt>
    <dgm:pt modelId="{A0984353-C16D-43DC-950C-49FEBE4C22B8}">
      <dgm:prSet phldrT="[Text]" phldr="0"/>
      <dgm:spPr/>
      <dgm:t>
        <a:bodyPr/>
        <a:lstStyle/>
        <a:p>
          <a:r>
            <a:rPr lang="en-IN" dirty="0"/>
            <a:t>Data Modelling &amp; Evaluation</a:t>
          </a:r>
        </a:p>
      </dgm:t>
    </dgm:pt>
    <dgm:pt modelId="{CAE16FFA-006B-45BB-9FE5-CEC23E39C822}" type="parTrans" cxnId="{CFB87973-A0CF-403C-AD11-B6BE262EB9E0}">
      <dgm:prSet/>
      <dgm:spPr/>
      <dgm:t>
        <a:bodyPr/>
        <a:lstStyle/>
        <a:p>
          <a:endParaRPr lang="en-IN"/>
        </a:p>
      </dgm:t>
    </dgm:pt>
    <dgm:pt modelId="{E7AF72DC-7E99-42AB-B542-3073FD54D276}" type="sibTrans" cxnId="{CFB87973-A0CF-403C-AD11-B6BE262EB9E0}">
      <dgm:prSet/>
      <dgm:spPr/>
      <dgm:t>
        <a:bodyPr/>
        <a:lstStyle/>
        <a:p>
          <a:endParaRPr lang="en-IN"/>
        </a:p>
      </dgm:t>
    </dgm:pt>
    <dgm:pt modelId="{AB528C17-7B46-4905-AC52-A7D54A4CDE15}">
      <dgm:prSet phldrT="[Text]"/>
      <dgm:spPr/>
      <dgm:t>
        <a:bodyPr/>
        <a:lstStyle/>
        <a:p>
          <a:r>
            <a:rPr lang="en-IN"/>
            <a:t>Building the model and testing ( 4th Milestone : 20</a:t>
          </a:r>
          <a:r>
            <a:rPr lang="en-IN" baseline="30000"/>
            <a:t>th</a:t>
          </a:r>
          <a:r>
            <a:rPr lang="en-IN"/>
            <a:t> Nov)</a:t>
          </a:r>
        </a:p>
      </dgm:t>
    </dgm:pt>
    <dgm:pt modelId="{57383920-CB42-4A4F-9352-27D3DE77C656}" type="parTrans" cxnId="{7FCEE93B-F60D-4E85-A504-544F307AAAB4}">
      <dgm:prSet/>
      <dgm:spPr/>
      <dgm:t>
        <a:bodyPr/>
        <a:lstStyle/>
        <a:p>
          <a:endParaRPr lang="en-IN"/>
        </a:p>
      </dgm:t>
    </dgm:pt>
    <dgm:pt modelId="{8D286D2A-B1EC-4722-A07B-59E7712A0004}" type="sibTrans" cxnId="{7FCEE93B-F60D-4E85-A504-544F307AAAB4}">
      <dgm:prSet/>
      <dgm:spPr/>
      <dgm:t>
        <a:bodyPr/>
        <a:lstStyle/>
        <a:p>
          <a:endParaRPr lang="en-IN"/>
        </a:p>
      </dgm:t>
    </dgm:pt>
    <dgm:pt modelId="{47B47028-7922-4F04-BB16-56DB3AA8B37D}">
      <dgm:prSet phldrT="[Text]"/>
      <dgm:spPr/>
      <dgm:t>
        <a:bodyPr/>
        <a:lstStyle/>
        <a:p>
          <a:r>
            <a:rPr lang="en-IN" dirty="0" err="1"/>
            <a:t>Streamlit</a:t>
          </a:r>
          <a:r>
            <a:rPr lang="en-IN" dirty="0"/>
            <a:t> Dashboard &amp; Report generation</a:t>
          </a:r>
        </a:p>
      </dgm:t>
    </dgm:pt>
    <dgm:pt modelId="{16ED0570-7362-4659-83C8-1E4D823D156F}" type="parTrans" cxnId="{39F69D73-7299-47D7-B50D-66A106312A6C}">
      <dgm:prSet/>
      <dgm:spPr/>
      <dgm:t>
        <a:bodyPr/>
        <a:lstStyle/>
        <a:p>
          <a:endParaRPr lang="en-IN"/>
        </a:p>
      </dgm:t>
    </dgm:pt>
    <dgm:pt modelId="{85A6720F-296C-43AB-9867-B8CAFE91A8FA}" type="sibTrans" cxnId="{39F69D73-7299-47D7-B50D-66A106312A6C}">
      <dgm:prSet/>
      <dgm:spPr/>
      <dgm:t>
        <a:bodyPr/>
        <a:lstStyle/>
        <a:p>
          <a:endParaRPr lang="en-IN"/>
        </a:p>
      </dgm:t>
    </dgm:pt>
    <dgm:pt modelId="{4D0D8C26-8562-4B5D-B505-1039DF5A0E19}">
      <dgm:prSet/>
      <dgm:spPr/>
      <dgm:t>
        <a:bodyPr/>
        <a:lstStyle/>
        <a:p>
          <a:r>
            <a:rPr lang="en-IN"/>
            <a:t>Final Testing ( 5</a:t>
          </a:r>
          <a:r>
            <a:rPr lang="en-IN" baseline="30000"/>
            <a:t>th</a:t>
          </a:r>
          <a:r>
            <a:rPr lang="en-IN"/>
            <a:t> Milestone : 30</a:t>
          </a:r>
          <a:r>
            <a:rPr lang="en-IN" baseline="30000"/>
            <a:t>th</a:t>
          </a:r>
          <a:r>
            <a:rPr lang="en-IN"/>
            <a:t> Nov)</a:t>
          </a:r>
        </a:p>
      </dgm:t>
    </dgm:pt>
    <dgm:pt modelId="{ACF463B9-142F-46E0-9F9E-7D80A65D571F}" type="parTrans" cxnId="{BA9F813F-3DA6-4CB0-B49D-7B490D892AE1}">
      <dgm:prSet/>
      <dgm:spPr/>
      <dgm:t>
        <a:bodyPr/>
        <a:lstStyle/>
        <a:p>
          <a:endParaRPr lang="en-IN"/>
        </a:p>
      </dgm:t>
    </dgm:pt>
    <dgm:pt modelId="{415EB690-6CE7-4667-9259-2DB18CF4E50D}" type="sibTrans" cxnId="{BA9F813F-3DA6-4CB0-B49D-7B490D892AE1}">
      <dgm:prSet/>
      <dgm:spPr/>
      <dgm:t>
        <a:bodyPr/>
        <a:lstStyle/>
        <a:p>
          <a:endParaRPr lang="en-IN"/>
        </a:p>
      </dgm:t>
    </dgm:pt>
    <dgm:pt modelId="{69B93B50-67D1-4D3A-BB4A-CCD55B98E993}">
      <dgm:prSet phldrT="[Text]" phldr="0"/>
      <dgm:spPr/>
      <dgm:t>
        <a:bodyPr/>
        <a:lstStyle/>
        <a:p>
          <a:r>
            <a:rPr lang="en-IN"/>
            <a:t>Data Collection</a:t>
          </a:r>
        </a:p>
      </dgm:t>
    </dgm:pt>
    <dgm:pt modelId="{BCC31ADC-6917-429E-BB47-1DC4BEA8458A}" type="parTrans" cxnId="{6C5085F3-1B26-47F9-9509-6D9A3FA05EA4}">
      <dgm:prSet/>
      <dgm:spPr/>
      <dgm:t>
        <a:bodyPr/>
        <a:lstStyle/>
        <a:p>
          <a:endParaRPr lang="en-IN"/>
        </a:p>
      </dgm:t>
    </dgm:pt>
    <dgm:pt modelId="{1982B4A1-3AF3-4F17-98B0-9ABEC9637150}" type="sibTrans" cxnId="{6C5085F3-1B26-47F9-9509-6D9A3FA05EA4}">
      <dgm:prSet/>
      <dgm:spPr/>
      <dgm:t>
        <a:bodyPr/>
        <a:lstStyle/>
        <a:p>
          <a:endParaRPr lang="en-IN"/>
        </a:p>
      </dgm:t>
    </dgm:pt>
    <dgm:pt modelId="{BB41C2D4-C5F8-4A85-BDBC-C555815159BE}">
      <dgm:prSet/>
      <dgm:spPr/>
      <dgm:t>
        <a:bodyPr/>
        <a:lstStyle/>
        <a:p>
          <a:r>
            <a:rPr lang="en-IN"/>
            <a:t>Evaluate the Data source(2</a:t>
          </a:r>
          <a:r>
            <a:rPr lang="en-IN" baseline="30000"/>
            <a:t>nd</a:t>
          </a:r>
          <a:r>
            <a:rPr lang="en-IN"/>
            <a:t> Milestone : 1</a:t>
          </a:r>
          <a:r>
            <a:rPr lang="en-IN" baseline="30000"/>
            <a:t>st</a:t>
          </a:r>
          <a:r>
            <a:rPr lang="en-IN"/>
            <a:t> Nov)</a:t>
          </a:r>
        </a:p>
      </dgm:t>
    </dgm:pt>
    <dgm:pt modelId="{0925F2FA-2A02-49B2-AE2A-65C8F3C25103}" type="parTrans" cxnId="{F6383944-A7AB-4E3D-AFB8-A2E78A267677}">
      <dgm:prSet/>
      <dgm:spPr/>
      <dgm:t>
        <a:bodyPr/>
        <a:lstStyle/>
        <a:p>
          <a:endParaRPr lang="en-IN"/>
        </a:p>
      </dgm:t>
    </dgm:pt>
    <dgm:pt modelId="{AC822D01-3B9E-4AFA-9E7D-4449C8D5D858}" type="sibTrans" cxnId="{F6383944-A7AB-4E3D-AFB8-A2E78A267677}">
      <dgm:prSet/>
      <dgm:spPr/>
      <dgm:t>
        <a:bodyPr/>
        <a:lstStyle/>
        <a:p>
          <a:endParaRPr lang="en-IN"/>
        </a:p>
      </dgm:t>
    </dgm:pt>
    <dgm:pt modelId="{EE5632C7-4521-4AC8-9F58-33BAA01433BE}" type="pres">
      <dgm:prSet presAssocID="{AFD49D6C-74B1-43AE-B13B-0FF2C7613B67}" presName="linearFlow" presStyleCnt="0">
        <dgm:presLayoutVars>
          <dgm:dir/>
          <dgm:animLvl val="lvl"/>
          <dgm:resizeHandles val="exact"/>
        </dgm:presLayoutVars>
      </dgm:prSet>
      <dgm:spPr/>
    </dgm:pt>
    <dgm:pt modelId="{CAE97CBC-739B-4CB2-A357-3B5803A82473}" type="pres">
      <dgm:prSet presAssocID="{B74DF415-CC3E-4083-A68F-D34153D18156}" presName="composite" presStyleCnt="0"/>
      <dgm:spPr/>
    </dgm:pt>
    <dgm:pt modelId="{2761000F-00FC-4473-82D9-E5AF55D95986}" type="pres">
      <dgm:prSet presAssocID="{B74DF415-CC3E-4083-A68F-D34153D18156}" presName="parTx" presStyleLbl="node1" presStyleIdx="0" presStyleCnt="5">
        <dgm:presLayoutVars>
          <dgm:chMax val="0"/>
          <dgm:chPref val="0"/>
          <dgm:bulletEnabled val="1"/>
        </dgm:presLayoutVars>
      </dgm:prSet>
      <dgm:spPr/>
    </dgm:pt>
    <dgm:pt modelId="{B76B6D30-E560-4DF2-8677-E1E6C9328CC2}" type="pres">
      <dgm:prSet presAssocID="{B74DF415-CC3E-4083-A68F-D34153D18156}" presName="parSh" presStyleLbl="node1" presStyleIdx="0" presStyleCnt="5"/>
      <dgm:spPr/>
    </dgm:pt>
    <dgm:pt modelId="{0D184B32-541A-47F6-A8E6-DF1F14049282}" type="pres">
      <dgm:prSet presAssocID="{B74DF415-CC3E-4083-A68F-D34153D18156}" presName="desTx" presStyleLbl="fgAcc1" presStyleIdx="0" presStyleCnt="5" custLinFactNeighborX="-6105" custLinFactNeighborY="1402">
        <dgm:presLayoutVars>
          <dgm:bulletEnabled val="1"/>
        </dgm:presLayoutVars>
      </dgm:prSet>
      <dgm:spPr/>
    </dgm:pt>
    <dgm:pt modelId="{29FA148F-585F-4AFA-A092-77A61F8FD1A2}" type="pres">
      <dgm:prSet presAssocID="{1EDC1D99-15BA-4386-A499-9302B59FDDDA}" presName="sibTrans" presStyleLbl="sibTrans2D1" presStyleIdx="0" presStyleCnt="4"/>
      <dgm:spPr/>
    </dgm:pt>
    <dgm:pt modelId="{A5372BD5-9BB4-4282-9BF4-5B62D7049388}" type="pres">
      <dgm:prSet presAssocID="{1EDC1D99-15BA-4386-A499-9302B59FDDDA}" presName="connTx" presStyleLbl="sibTrans2D1" presStyleIdx="0" presStyleCnt="4"/>
      <dgm:spPr/>
    </dgm:pt>
    <dgm:pt modelId="{0776C9B4-C487-4AD6-A01F-2C5E71462A91}" type="pres">
      <dgm:prSet presAssocID="{69B93B50-67D1-4D3A-BB4A-CCD55B98E993}" presName="composite" presStyleCnt="0"/>
      <dgm:spPr/>
    </dgm:pt>
    <dgm:pt modelId="{D8DF2143-BFE9-4B43-B9CE-8193DDE56A7A}" type="pres">
      <dgm:prSet presAssocID="{69B93B50-67D1-4D3A-BB4A-CCD55B98E993}" presName="parTx" presStyleLbl="node1" presStyleIdx="0" presStyleCnt="5">
        <dgm:presLayoutVars>
          <dgm:chMax val="0"/>
          <dgm:chPref val="0"/>
          <dgm:bulletEnabled val="1"/>
        </dgm:presLayoutVars>
      </dgm:prSet>
      <dgm:spPr/>
    </dgm:pt>
    <dgm:pt modelId="{3CA7BB7E-6B3A-4855-96ED-2B98EE6D88BB}" type="pres">
      <dgm:prSet presAssocID="{69B93B50-67D1-4D3A-BB4A-CCD55B98E993}" presName="parSh" presStyleLbl="node1" presStyleIdx="1" presStyleCnt="5"/>
      <dgm:spPr/>
    </dgm:pt>
    <dgm:pt modelId="{D7730FD9-5013-4102-A60A-77218124B5C2}" type="pres">
      <dgm:prSet presAssocID="{69B93B50-67D1-4D3A-BB4A-CCD55B98E993}" presName="desTx" presStyleLbl="fgAcc1" presStyleIdx="1" presStyleCnt="5">
        <dgm:presLayoutVars>
          <dgm:bulletEnabled val="1"/>
        </dgm:presLayoutVars>
      </dgm:prSet>
      <dgm:spPr/>
    </dgm:pt>
    <dgm:pt modelId="{E1CFA5BF-0EBA-458D-9877-9B4FC9B7B113}" type="pres">
      <dgm:prSet presAssocID="{1982B4A1-3AF3-4F17-98B0-9ABEC9637150}" presName="sibTrans" presStyleLbl="sibTrans2D1" presStyleIdx="1" presStyleCnt="4"/>
      <dgm:spPr/>
    </dgm:pt>
    <dgm:pt modelId="{E1D780AD-C1E5-44A4-8A07-D3F6F4A95BBB}" type="pres">
      <dgm:prSet presAssocID="{1982B4A1-3AF3-4F17-98B0-9ABEC9637150}" presName="connTx" presStyleLbl="sibTrans2D1" presStyleIdx="1" presStyleCnt="4"/>
      <dgm:spPr/>
    </dgm:pt>
    <dgm:pt modelId="{F790A22E-465A-45A3-961D-5DC2AF7953D1}" type="pres">
      <dgm:prSet presAssocID="{7F5EE267-628F-4A1D-B1CE-19CEDDD7F3FD}" presName="composite" presStyleCnt="0"/>
      <dgm:spPr/>
    </dgm:pt>
    <dgm:pt modelId="{A2885811-ED6C-4F4B-97B0-A18B6179E926}" type="pres">
      <dgm:prSet presAssocID="{7F5EE267-628F-4A1D-B1CE-19CEDDD7F3FD}" presName="parTx" presStyleLbl="node1" presStyleIdx="1" presStyleCnt="5">
        <dgm:presLayoutVars>
          <dgm:chMax val="0"/>
          <dgm:chPref val="0"/>
          <dgm:bulletEnabled val="1"/>
        </dgm:presLayoutVars>
      </dgm:prSet>
      <dgm:spPr/>
    </dgm:pt>
    <dgm:pt modelId="{4A49916C-4594-40D6-BF8F-9D0ACB926602}" type="pres">
      <dgm:prSet presAssocID="{7F5EE267-628F-4A1D-B1CE-19CEDDD7F3FD}" presName="parSh" presStyleLbl="node1" presStyleIdx="2" presStyleCnt="5"/>
      <dgm:spPr/>
    </dgm:pt>
    <dgm:pt modelId="{52621065-4433-451A-8ED2-5D4C6CFC55F4}" type="pres">
      <dgm:prSet presAssocID="{7F5EE267-628F-4A1D-B1CE-19CEDDD7F3FD}" presName="desTx" presStyleLbl="fgAcc1" presStyleIdx="2" presStyleCnt="5">
        <dgm:presLayoutVars>
          <dgm:bulletEnabled val="1"/>
        </dgm:presLayoutVars>
      </dgm:prSet>
      <dgm:spPr/>
    </dgm:pt>
    <dgm:pt modelId="{568BC79C-BA0A-42CB-8659-5ED2DFE89DE1}" type="pres">
      <dgm:prSet presAssocID="{1083C06F-D375-4BC6-B7EF-5D4990AC3E3F}" presName="sibTrans" presStyleLbl="sibTrans2D1" presStyleIdx="2" presStyleCnt="4"/>
      <dgm:spPr/>
    </dgm:pt>
    <dgm:pt modelId="{058499FD-B1E2-4C02-92D7-B02E7BB3028B}" type="pres">
      <dgm:prSet presAssocID="{1083C06F-D375-4BC6-B7EF-5D4990AC3E3F}" presName="connTx" presStyleLbl="sibTrans2D1" presStyleIdx="2" presStyleCnt="4"/>
      <dgm:spPr/>
    </dgm:pt>
    <dgm:pt modelId="{76D82EA0-BF82-4F62-ACAD-A44A831A6338}" type="pres">
      <dgm:prSet presAssocID="{A0984353-C16D-43DC-950C-49FEBE4C22B8}" presName="composite" presStyleCnt="0"/>
      <dgm:spPr/>
    </dgm:pt>
    <dgm:pt modelId="{13C8A75B-F4CB-4372-9865-DDA1579741E5}" type="pres">
      <dgm:prSet presAssocID="{A0984353-C16D-43DC-950C-49FEBE4C22B8}" presName="parTx" presStyleLbl="node1" presStyleIdx="2" presStyleCnt="5">
        <dgm:presLayoutVars>
          <dgm:chMax val="0"/>
          <dgm:chPref val="0"/>
          <dgm:bulletEnabled val="1"/>
        </dgm:presLayoutVars>
      </dgm:prSet>
      <dgm:spPr/>
    </dgm:pt>
    <dgm:pt modelId="{8278E463-82F9-4E09-B3B1-53D27EE86D17}" type="pres">
      <dgm:prSet presAssocID="{A0984353-C16D-43DC-950C-49FEBE4C22B8}" presName="parSh" presStyleLbl="node1" presStyleIdx="3" presStyleCnt="5"/>
      <dgm:spPr/>
    </dgm:pt>
    <dgm:pt modelId="{9D7EB8EB-8B83-4B14-8F4B-6087571FBED7}" type="pres">
      <dgm:prSet presAssocID="{A0984353-C16D-43DC-950C-49FEBE4C22B8}" presName="desTx" presStyleLbl="fgAcc1" presStyleIdx="3" presStyleCnt="5">
        <dgm:presLayoutVars>
          <dgm:bulletEnabled val="1"/>
        </dgm:presLayoutVars>
      </dgm:prSet>
      <dgm:spPr/>
    </dgm:pt>
    <dgm:pt modelId="{6C655507-253B-42A3-8274-5C430550F4CD}" type="pres">
      <dgm:prSet presAssocID="{E7AF72DC-7E99-42AB-B542-3073FD54D276}" presName="sibTrans" presStyleLbl="sibTrans2D1" presStyleIdx="3" presStyleCnt="4"/>
      <dgm:spPr/>
    </dgm:pt>
    <dgm:pt modelId="{705FCE19-AFC3-48EB-B81A-723F148B151E}" type="pres">
      <dgm:prSet presAssocID="{E7AF72DC-7E99-42AB-B542-3073FD54D276}" presName="connTx" presStyleLbl="sibTrans2D1" presStyleIdx="3" presStyleCnt="4"/>
      <dgm:spPr/>
    </dgm:pt>
    <dgm:pt modelId="{23F599F7-A982-4A02-910B-A98473A246C8}" type="pres">
      <dgm:prSet presAssocID="{47B47028-7922-4F04-BB16-56DB3AA8B37D}" presName="composite" presStyleCnt="0"/>
      <dgm:spPr/>
    </dgm:pt>
    <dgm:pt modelId="{9252123D-38F7-45D6-8F4D-D0FC2A260182}" type="pres">
      <dgm:prSet presAssocID="{47B47028-7922-4F04-BB16-56DB3AA8B37D}" presName="parTx" presStyleLbl="node1" presStyleIdx="3" presStyleCnt="5">
        <dgm:presLayoutVars>
          <dgm:chMax val="0"/>
          <dgm:chPref val="0"/>
          <dgm:bulletEnabled val="1"/>
        </dgm:presLayoutVars>
      </dgm:prSet>
      <dgm:spPr/>
    </dgm:pt>
    <dgm:pt modelId="{F80A9A50-B5D1-4827-A047-4E9798FB7149}" type="pres">
      <dgm:prSet presAssocID="{47B47028-7922-4F04-BB16-56DB3AA8B37D}" presName="parSh" presStyleLbl="node1" presStyleIdx="4" presStyleCnt="5"/>
      <dgm:spPr/>
    </dgm:pt>
    <dgm:pt modelId="{E3510EAD-8C15-4F91-A335-0BEAB95C2D46}" type="pres">
      <dgm:prSet presAssocID="{47B47028-7922-4F04-BB16-56DB3AA8B37D}" presName="desTx" presStyleLbl="fgAcc1" presStyleIdx="4" presStyleCnt="5">
        <dgm:presLayoutVars>
          <dgm:bulletEnabled val="1"/>
        </dgm:presLayoutVars>
      </dgm:prSet>
      <dgm:spPr/>
    </dgm:pt>
  </dgm:ptLst>
  <dgm:cxnLst>
    <dgm:cxn modelId="{1B212A1D-DD9B-42D0-A70A-04E2316F81A3}" type="presOf" srcId="{A0984353-C16D-43DC-950C-49FEBE4C22B8}" destId="{13C8A75B-F4CB-4372-9865-DDA1579741E5}" srcOrd="0" destOrd="0" presId="urn:microsoft.com/office/officeart/2005/8/layout/process3"/>
    <dgm:cxn modelId="{C745E024-018A-47FB-8867-3D3E4411977E}" srcId="{AFD49D6C-74B1-43AE-B13B-0FF2C7613B67}" destId="{B74DF415-CC3E-4083-A68F-D34153D18156}" srcOrd="0" destOrd="0" parTransId="{C0FCBA7A-36D5-4A60-8017-49FB968CCB72}" sibTransId="{1EDC1D99-15BA-4386-A499-9302B59FDDDA}"/>
    <dgm:cxn modelId="{F0FF4B35-FF71-4B0D-90E2-279F4B3B434D}" type="presOf" srcId="{4ACB5EAA-BC2E-44EA-BAD9-4E801BAC790C}" destId="{52621065-4433-451A-8ED2-5D4C6CFC55F4}" srcOrd="0" destOrd="0" presId="urn:microsoft.com/office/officeart/2005/8/layout/process3"/>
    <dgm:cxn modelId="{7315C539-6157-46A3-AEB0-1F641085DFE2}" type="presOf" srcId="{E7AF72DC-7E99-42AB-B542-3073FD54D276}" destId="{705FCE19-AFC3-48EB-B81A-723F148B151E}" srcOrd="1" destOrd="0" presId="urn:microsoft.com/office/officeart/2005/8/layout/process3"/>
    <dgm:cxn modelId="{7FCEE93B-F60D-4E85-A504-544F307AAAB4}" srcId="{A0984353-C16D-43DC-950C-49FEBE4C22B8}" destId="{AB528C17-7B46-4905-AC52-A7D54A4CDE15}" srcOrd="0" destOrd="0" parTransId="{57383920-CB42-4A4F-9352-27D3DE77C656}" sibTransId="{8D286D2A-B1EC-4722-A07B-59E7712A0004}"/>
    <dgm:cxn modelId="{BA9F813F-3DA6-4CB0-B49D-7B490D892AE1}" srcId="{47B47028-7922-4F04-BB16-56DB3AA8B37D}" destId="{4D0D8C26-8562-4B5D-B505-1039DF5A0E19}" srcOrd="0" destOrd="0" parTransId="{ACF463B9-142F-46E0-9F9E-7D80A65D571F}" sibTransId="{415EB690-6CE7-4667-9259-2DB18CF4E50D}"/>
    <dgm:cxn modelId="{EDEF7362-C853-426D-B409-D4A4E6513A0A}" type="presOf" srcId="{B74DF415-CC3E-4083-A68F-D34153D18156}" destId="{B76B6D30-E560-4DF2-8677-E1E6C9328CC2}" srcOrd="1" destOrd="0" presId="urn:microsoft.com/office/officeart/2005/8/layout/process3"/>
    <dgm:cxn modelId="{E134C162-E9D0-4101-868D-DDE361C2E636}" type="presOf" srcId="{1982B4A1-3AF3-4F17-98B0-9ABEC9637150}" destId="{E1CFA5BF-0EBA-458D-9877-9B4FC9B7B113}" srcOrd="0" destOrd="0" presId="urn:microsoft.com/office/officeart/2005/8/layout/process3"/>
    <dgm:cxn modelId="{F6383944-A7AB-4E3D-AFB8-A2E78A267677}" srcId="{69B93B50-67D1-4D3A-BB4A-CCD55B98E993}" destId="{BB41C2D4-C5F8-4A85-BDBC-C555815159BE}" srcOrd="0" destOrd="0" parTransId="{0925F2FA-2A02-49B2-AE2A-65C8F3C25103}" sibTransId="{AC822D01-3B9E-4AFA-9E7D-4449C8D5D858}"/>
    <dgm:cxn modelId="{966D6944-F655-4F52-B941-DE337507EB74}" type="presOf" srcId="{1EDC1D99-15BA-4386-A499-9302B59FDDDA}" destId="{29FA148F-585F-4AFA-A092-77A61F8FD1A2}" srcOrd="0" destOrd="0" presId="urn:microsoft.com/office/officeart/2005/8/layout/process3"/>
    <dgm:cxn modelId="{FC8EF565-B41A-4840-989E-476572BBD667}" srcId="{B74DF415-CC3E-4083-A68F-D34153D18156}" destId="{9FF4A22C-7353-4343-8A00-8AD4AD8153FC}" srcOrd="0" destOrd="0" parTransId="{9E9B527D-C4C2-4AC0-9DAC-F4E693E9A8DC}" sibTransId="{C9B8AD11-6923-4328-B0A4-3EBC4AC75EC4}"/>
    <dgm:cxn modelId="{40A6E466-64F4-40E9-8901-D52F9EDA8FC2}" type="presOf" srcId="{69B93B50-67D1-4D3A-BB4A-CCD55B98E993}" destId="{D8DF2143-BFE9-4B43-B9CE-8193DDE56A7A}" srcOrd="0" destOrd="0" presId="urn:microsoft.com/office/officeart/2005/8/layout/process3"/>
    <dgm:cxn modelId="{EB52EC6A-8AF6-4D40-981D-23DF518150BA}" type="presOf" srcId="{47B47028-7922-4F04-BB16-56DB3AA8B37D}" destId="{9252123D-38F7-45D6-8F4D-D0FC2A260182}" srcOrd="0" destOrd="0" presId="urn:microsoft.com/office/officeart/2005/8/layout/process3"/>
    <dgm:cxn modelId="{214B264D-52FE-4FA2-912C-B241C650D75C}" type="presOf" srcId="{B74DF415-CC3E-4083-A68F-D34153D18156}" destId="{2761000F-00FC-4473-82D9-E5AF55D95986}" srcOrd="0" destOrd="0" presId="urn:microsoft.com/office/officeart/2005/8/layout/process3"/>
    <dgm:cxn modelId="{99296872-7393-4102-9EB2-71BEA4BB67EB}" type="presOf" srcId="{A0984353-C16D-43DC-950C-49FEBE4C22B8}" destId="{8278E463-82F9-4E09-B3B1-53D27EE86D17}" srcOrd="1" destOrd="0" presId="urn:microsoft.com/office/officeart/2005/8/layout/process3"/>
    <dgm:cxn modelId="{CFB87973-A0CF-403C-AD11-B6BE262EB9E0}" srcId="{AFD49D6C-74B1-43AE-B13B-0FF2C7613B67}" destId="{A0984353-C16D-43DC-950C-49FEBE4C22B8}" srcOrd="3" destOrd="0" parTransId="{CAE16FFA-006B-45BB-9FE5-CEC23E39C822}" sibTransId="{E7AF72DC-7E99-42AB-B542-3073FD54D276}"/>
    <dgm:cxn modelId="{39F69D73-7299-47D7-B50D-66A106312A6C}" srcId="{AFD49D6C-74B1-43AE-B13B-0FF2C7613B67}" destId="{47B47028-7922-4F04-BB16-56DB3AA8B37D}" srcOrd="4" destOrd="0" parTransId="{16ED0570-7362-4659-83C8-1E4D823D156F}" sibTransId="{85A6720F-296C-43AB-9867-B8CAFE91A8FA}"/>
    <dgm:cxn modelId="{1E481776-7C97-4AC8-928C-78BEEB6DD1A1}" type="presOf" srcId="{4D0D8C26-8562-4B5D-B505-1039DF5A0E19}" destId="{E3510EAD-8C15-4F91-A335-0BEAB95C2D46}" srcOrd="0" destOrd="0" presId="urn:microsoft.com/office/officeart/2005/8/layout/process3"/>
    <dgm:cxn modelId="{1B606456-9871-4DB9-A33A-A23304E2B65A}" srcId="{7F5EE267-628F-4A1D-B1CE-19CEDDD7F3FD}" destId="{4ACB5EAA-BC2E-44EA-BAD9-4E801BAC790C}" srcOrd="0" destOrd="0" parTransId="{5C04E043-6779-431A-B080-60882E7949B6}" sibTransId="{DFF54672-76B9-4CB5-9BA1-D6DB2E196C0B}"/>
    <dgm:cxn modelId="{88445B85-8471-4E32-B091-AC8EF15250B1}" type="presOf" srcId="{47B47028-7922-4F04-BB16-56DB3AA8B37D}" destId="{F80A9A50-B5D1-4827-A047-4E9798FB7149}" srcOrd="1" destOrd="0" presId="urn:microsoft.com/office/officeart/2005/8/layout/process3"/>
    <dgm:cxn modelId="{5C7572A4-E7F2-46E8-87B6-337E1E72E54E}" type="presOf" srcId="{1EDC1D99-15BA-4386-A499-9302B59FDDDA}" destId="{A5372BD5-9BB4-4282-9BF4-5B62D7049388}" srcOrd="1" destOrd="0" presId="urn:microsoft.com/office/officeart/2005/8/layout/process3"/>
    <dgm:cxn modelId="{A7BE42B1-BCAC-4BBF-AF35-8B5FB0453465}" type="presOf" srcId="{AFD49D6C-74B1-43AE-B13B-0FF2C7613B67}" destId="{EE5632C7-4521-4AC8-9F58-33BAA01433BE}" srcOrd="0" destOrd="0" presId="urn:microsoft.com/office/officeart/2005/8/layout/process3"/>
    <dgm:cxn modelId="{C9A955B3-5CA1-4E90-9038-051E8E10429F}" type="presOf" srcId="{AB528C17-7B46-4905-AC52-A7D54A4CDE15}" destId="{9D7EB8EB-8B83-4B14-8F4B-6087571FBED7}" srcOrd="0" destOrd="0" presId="urn:microsoft.com/office/officeart/2005/8/layout/process3"/>
    <dgm:cxn modelId="{2BF40BC2-105D-40E2-A5C6-24697FF075A8}" type="presOf" srcId="{1083C06F-D375-4BC6-B7EF-5D4990AC3E3F}" destId="{058499FD-B1E2-4C02-92D7-B02E7BB3028B}" srcOrd="1" destOrd="0" presId="urn:microsoft.com/office/officeart/2005/8/layout/process3"/>
    <dgm:cxn modelId="{B4FDEAC3-FF76-4330-876F-6FE9C4CDFEA6}" type="presOf" srcId="{7F5EE267-628F-4A1D-B1CE-19CEDDD7F3FD}" destId="{4A49916C-4594-40D6-BF8F-9D0ACB926602}" srcOrd="1" destOrd="0" presId="urn:microsoft.com/office/officeart/2005/8/layout/process3"/>
    <dgm:cxn modelId="{86731DC6-D3FC-4296-A819-FAF09720FA12}" type="presOf" srcId="{69B93B50-67D1-4D3A-BB4A-CCD55B98E993}" destId="{3CA7BB7E-6B3A-4855-96ED-2B98EE6D88BB}" srcOrd="1" destOrd="0" presId="urn:microsoft.com/office/officeart/2005/8/layout/process3"/>
    <dgm:cxn modelId="{F7DA88CE-3C6E-47CB-9974-61233F5FFD66}" type="presOf" srcId="{E7AF72DC-7E99-42AB-B542-3073FD54D276}" destId="{6C655507-253B-42A3-8274-5C430550F4CD}" srcOrd="0" destOrd="0" presId="urn:microsoft.com/office/officeart/2005/8/layout/process3"/>
    <dgm:cxn modelId="{3FB7B3D1-65E0-48DC-BD92-1A199A49F18B}" srcId="{AFD49D6C-74B1-43AE-B13B-0FF2C7613B67}" destId="{7F5EE267-628F-4A1D-B1CE-19CEDDD7F3FD}" srcOrd="2" destOrd="0" parTransId="{B69C9116-A749-4869-AE13-997DA04E4B1E}" sibTransId="{1083C06F-D375-4BC6-B7EF-5D4990AC3E3F}"/>
    <dgm:cxn modelId="{F97EC1E4-21A1-4DB5-8676-2216E7B9CAC4}" type="presOf" srcId="{BB41C2D4-C5F8-4A85-BDBC-C555815159BE}" destId="{D7730FD9-5013-4102-A60A-77218124B5C2}" srcOrd="0" destOrd="0" presId="urn:microsoft.com/office/officeart/2005/8/layout/process3"/>
    <dgm:cxn modelId="{8645B0EA-FA27-4F6A-AAFC-9D210834288E}" type="presOf" srcId="{1982B4A1-3AF3-4F17-98B0-9ABEC9637150}" destId="{E1D780AD-C1E5-44A4-8A07-D3F6F4A95BBB}" srcOrd="1" destOrd="0" presId="urn:microsoft.com/office/officeart/2005/8/layout/process3"/>
    <dgm:cxn modelId="{650CFCF1-2D69-4B3E-812E-BEF28CBA8430}" type="presOf" srcId="{9FF4A22C-7353-4343-8A00-8AD4AD8153FC}" destId="{0D184B32-541A-47F6-A8E6-DF1F14049282}" srcOrd="0" destOrd="0" presId="urn:microsoft.com/office/officeart/2005/8/layout/process3"/>
    <dgm:cxn modelId="{6C5085F3-1B26-47F9-9509-6D9A3FA05EA4}" srcId="{AFD49D6C-74B1-43AE-B13B-0FF2C7613B67}" destId="{69B93B50-67D1-4D3A-BB4A-CCD55B98E993}" srcOrd="1" destOrd="0" parTransId="{BCC31ADC-6917-429E-BB47-1DC4BEA8458A}" sibTransId="{1982B4A1-3AF3-4F17-98B0-9ABEC9637150}"/>
    <dgm:cxn modelId="{76A46BFB-68DC-4BFD-BDF8-A1DD9D7E7867}" type="presOf" srcId="{7F5EE267-628F-4A1D-B1CE-19CEDDD7F3FD}" destId="{A2885811-ED6C-4F4B-97B0-A18B6179E926}" srcOrd="0" destOrd="0" presId="urn:microsoft.com/office/officeart/2005/8/layout/process3"/>
    <dgm:cxn modelId="{9BD557FE-9B69-4C5D-8410-ED3E3590F15A}" type="presOf" srcId="{1083C06F-D375-4BC6-B7EF-5D4990AC3E3F}" destId="{568BC79C-BA0A-42CB-8659-5ED2DFE89DE1}" srcOrd="0" destOrd="0" presId="urn:microsoft.com/office/officeart/2005/8/layout/process3"/>
    <dgm:cxn modelId="{8F1FF97D-6951-4EC3-AEB5-D07F7166F865}" type="presParOf" srcId="{EE5632C7-4521-4AC8-9F58-33BAA01433BE}" destId="{CAE97CBC-739B-4CB2-A357-3B5803A82473}" srcOrd="0" destOrd="0" presId="urn:microsoft.com/office/officeart/2005/8/layout/process3"/>
    <dgm:cxn modelId="{BB6810B3-5BA7-4B89-BB22-221ED61668F7}" type="presParOf" srcId="{CAE97CBC-739B-4CB2-A357-3B5803A82473}" destId="{2761000F-00FC-4473-82D9-E5AF55D95986}" srcOrd="0" destOrd="0" presId="urn:microsoft.com/office/officeart/2005/8/layout/process3"/>
    <dgm:cxn modelId="{022ACC9D-1B86-4568-A2E0-3E298249737A}" type="presParOf" srcId="{CAE97CBC-739B-4CB2-A357-3B5803A82473}" destId="{B76B6D30-E560-4DF2-8677-E1E6C9328CC2}" srcOrd="1" destOrd="0" presId="urn:microsoft.com/office/officeart/2005/8/layout/process3"/>
    <dgm:cxn modelId="{A9B84066-2FAC-44E3-8016-A4EACE6BA54A}" type="presParOf" srcId="{CAE97CBC-739B-4CB2-A357-3B5803A82473}" destId="{0D184B32-541A-47F6-A8E6-DF1F14049282}" srcOrd="2" destOrd="0" presId="urn:microsoft.com/office/officeart/2005/8/layout/process3"/>
    <dgm:cxn modelId="{61A26549-9BCB-4BEE-8FC4-9709EDAB8A12}" type="presParOf" srcId="{EE5632C7-4521-4AC8-9F58-33BAA01433BE}" destId="{29FA148F-585F-4AFA-A092-77A61F8FD1A2}" srcOrd="1" destOrd="0" presId="urn:microsoft.com/office/officeart/2005/8/layout/process3"/>
    <dgm:cxn modelId="{C7CF0475-4832-46FC-B66B-230D0188E645}" type="presParOf" srcId="{29FA148F-585F-4AFA-A092-77A61F8FD1A2}" destId="{A5372BD5-9BB4-4282-9BF4-5B62D7049388}" srcOrd="0" destOrd="0" presId="urn:microsoft.com/office/officeart/2005/8/layout/process3"/>
    <dgm:cxn modelId="{BCFEB658-FF41-41E1-B16C-2129AA99D0B1}" type="presParOf" srcId="{EE5632C7-4521-4AC8-9F58-33BAA01433BE}" destId="{0776C9B4-C487-4AD6-A01F-2C5E71462A91}" srcOrd="2" destOrd="0" presId="urn:microsoft.com/office/officeart/2005/8/layout/process3"/>
    <dgm:cxn modelId="{51C65580-0F7E-4C29-8D44-BD95D7BD6B4A}" type="presParOf" srcId="{0776C9B4-C487-4AD6-A01F-2C5E71462A91}" destId="{D8DF2143-BFE9-4B43-B9CE-8193DDE56A7A}" srcOrd="0" destOrd="0" presId="urn:microsoft.com/office/officeart/2005/8/layout/process3"/>
    <dgm:cxn modelId="{4FC15CB6-68BA-42D9-9A86-F17C50E7B7C7}" type="presParOf" srcId="{0776C9B4-C487-4AD6-A01F-2C5E71462A91}" destId="{3CA7BB7E-6B3A-4855-96ED-2B98EE6D88BB}" srcOrd="1" destOrd="0" presId="urn:microsoft.com/office/officeart/2005/8/layout/process3"/>
    <dgm:cxn modelId="{9FB5604C-BEC8-4619-86BF-BE311C187604}" type="presParOf" srcId="{0776C9B4-C487-4AD6-A01F-2C5E71462A91}" destId="{D7730FD9-5013-4102-A60A-77218124B5C2}" srcOrd="2" destOrd="0" presId="urn:microsoft.com/office/officeart/2005/8/layout/process3"/>
    <dgm:cxn modelId="{1AB2E739-BBF3-4905-B141-C1B241A3C61C}" type="presParOf" srcId="{EE5632C7-4521-4AC8-9F58-33BAA01433BE}" destId="{E1CFA5BF-0EBA-458D-9877-9B4FC9B7B113}" srcOrd="3" destOrd="0" presId="urn:microsoft.com/office/officeart/2005/8/layout/process3"/>
    <dgm:cxn modelId="{1B64071E-5527-4552-9A25-0FF300C549F2}" type="presParOf" srcId="{E1CFA5BF-0EBA-458D-9877-9B4FC9B7B113}" destId="{E1D780AD-C1E5-44A4-8A07-D3F6F4A95BBB}" srcOrd="0" destOrd="0" presId="urn:microsoft.com/office/officeart/2005/8/layout/process3"/>
    <dgm:cxn modelId="{C694F9B9-E2C8-45E1-B7A1-34F3925C9E78}" type="presParOf" srcId="{EE5632C7-4521-4AC8-9F58-33BAA01433BE}" destId="{F790A22E-465A-45A3-961D-5DC2AF7953D1}" srcOrd="4" destOrd="0" presId="urn:microsoft.com/office/officeart/2005/8/layout/process3"/>
    <dgm:cxn modelId="{8D8015D5-94A9-4FCF-B049-3824FD53345D}" type="presParOf" srcId="{F790A22E-465A-45A3-961D-5DC2AF7953D1}" destId="{A2885811-ED6C-4F4B-97B0-A18B6179E926}" srcOrd="0" destOrd="0" presId="urn:microsoft.com/office/officeart/2005/8/layout/process3"/>
    <dgm:cxn modelId="{FE140659-6DDD-4762-9503-07893B8908B8}" type="presParOf" srcId="{F790A22E-465A-45A3-961D-5DC2AF7953D1}" destId="{4A49916C-4594-40D6-BF8F-9D0ACB926602}" srcOrd="1" destOrd="0" presId="urn:microsoft.com/office/officeart/2005/8/layout/process3"/>
    <dgm:cxn modelId="{BED7FC28-1C16-4BB2-8E98-1A8B6398CA2D}" type="presParOf" srcId="{F790A22E-465A-45A3-961D-5DC2AF7953D1}" destId="{52621065-4433-451A-8ED2-5D4C6CFC55F4}" srcOrd="2" destOrd="0" presId="urn:microsoft.com/office/officeart/2005/8/layout/process3"/>
    <dgm:cxn modelId="{82811BFB-E270-4105-8DC1-7AA0DF19977E}" type="presParOf" srcId="{EE5632C7-4521-4AC8-9F58-33BAA01433BE}" destId="{568BC79C-BA0A-42CB-8659-5ED2DFE89DE1}" srcOrd="5" destOrd="0" presId="urn:microsoft.com/office/officeart/2005/8/layout/process3"/>
    <dgm:cxn modelId="{080BC86C-2058-46D7-9E8C-15D47089A6EF}" type="presParOf" srcId="{568BC79C-BA0A-42CB-8659-5ED2DFE89DE1}" destId="{058499FD-B1E2-4C02-92D7-B02E7BB3028B}" srcOrd="0" destOrd="0" presId="urn:microsoft.com/office/officeart/2005/8/layout/process3"/>
    <dgm:cxn modelId="{97784211-CCFB-4CA5-BE8F-43DDAEBE7611}" type="presParOf" srcId="{EE5632C7-4521-4AC8-9F58-33BAA01433BE}" destId="{76D82EA0-BF82-4F62-ACAD-A44A831A6338}" srcOrd="6" destOrd="0" presId="urn:microsoft.com/office/officeart/2005/8/layout/process3"/>
    <dgm:cxn modelId="{78475800-A510-499E-94A6-1A46F743F533}" type="presParOf" srcId="{76D82EA0-BF82-4F62-ACAD-A44A831A6338}" destId="{13C8A75B-F4CB-4372-9865-DDA1579741E5}" srcOrd="0" destOrd="0" presId="urn:microsoft.com/office/officeart/2005/8/layout/process3"/>
    <dgm:cxn modelId="{7E59055B-1E4F-4664-BDD3-8F59C89B8C1B}" type="presParOf" srcId="{76D82EA0-BF82-4F62-ACAD-A44A831A6338}" destId="{8278E463-82F9-4E09-B3B1-53D27EE86D17}" srcOrd="1" destOrd="0" presId="urn:microsoft.com/office/officeart/2005/8/layout/process3"/>
    <dgm:cxn modelId="{76196A83-717E-4FA9-A971-A9A6E4C0C7C0}" type="presParOf" srcId="{76D82EA0-BF82-4F62-ACAD-A44A831A6338}" destId="{9D7EB8EB-8B83-4B14-8F4B-6087571FBED7}" srcOrd="2" destOrd="0" presId="urn:microsoft.com/office/officeart/2005/8/layout/process3"/>
    <dgm:cxn modelId="{BE348D09-F93E-4487-B137-75CB11320DB6}" type="presParOf" srcId="{EE5632C7-4521-4AC8-9F58-33BAA01433BE}" destId="{6C655507-253B-42A3-8274-5C430550F4CD}" srcOrd="7" destOrd="0" presId="urn:microsoft.com/office/officeart/2005/8/layout/process3"/>
    <dgm:cxn modelId="{A069D9B6-F4FC-47C8-B78E-D7B6C7E4A784}" type="presParOf" srcId="{6C655507-253B-42A3-8274-5C430550F4CD}" destId="{705FCE19-AFC3-48EB-B81A-723F148B151E}" srcOrd="0" destOrd="0" presId="urn:microsoft.com/office/officeart/2005/8/layout/process3"/>
    <dgm:cxn modelId="{45616F60-2C87-4C4F-A51A-293459C0E00C}" type="presParOf" srcId="{EE5632C7-4521-4AC8-9F58-33BAA01433BE}" destId="{23F599F7-A982-4A02-910B-A98473A246C8}" srcOrd="8" destOrd="0" presId="urn:microsoft.com/office/officeart/2005/8/layout/process3"/>
    <dgm:cxn modelId="{DF7D2FD0-DFA8-44B3-BEA6-F2328CE71CD1}" type="presParOf" srcId="{23F599F7-A982-4A02-910B-A98473A246C8}" destId="{9252123D-38F7-45D6-8F4D-D0FC2A260182}" srcOrd="0" destOrd="0" presId="urn:microsoft.com/office/officeart/2005/8/layout/process3"/>
    <dgm:cxn modelId="{379D0E49-EAA3-4BED-97F1-78EA83E161B4}" type="presParOf" srcId="{23F599F7-A982-4A02-910B-A98473A246C8}" destId="{F80A9A50-B5D1-4827-A047-4E9798FB7149}" srcOrd="1" destOrd="0" presId="urn:microsoft.com/office/officeart/2005/8/layout/process3"/>
    <dgm:cxn modelId="{61239A0D-F4FC-4A19-8D08-1F05C3813184}" type="presParOf" srcId="{23F599F7-A982-4A02-910B-A98473A246C8}" destId="{E3510EAD-8C15-4F91-A335-0BEAB95C2D46}"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274F2-3F46-43E9-AACF-A42593357E55}">
      <dsp:nvSpPr>
        <dsp:cNvPr id="0" name=""/>
        <dsp:cNvSpPr/>
      </dsp:nvSpPr>
      <dsp:spPr>
        <a:xfrm>
          <a:off x="0" y="481419"/>
          <a:ext cx="7448365" cy="6236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Data source(s) (where it's from, how it was collected)</a:t>
          </a:r>
        </a:p>
      </dsp:txBody>
      <dsp:txXfrm>
        <a:off x="30442" y="511861"/>
        <a:ext cx="7387481" cy="562726"/>
      </dsp:txXfrm>
    </dsp:sp>
    <dsp:sp modelId="{F3F81D94-6F8C-46CD-9343-FB9F8BCDF46E}">
      <dsp:nvSpPr>
        <dsp:cNvPr id="0" name=""/>
        <dsp:cNvSpPr/>
      </dsp:nvSpPr>
      <dsp:spPr>
        <a:xfrm>
          <a:off x="0" y="1105029"/>
          <a:ext cx="7448365" cy="632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486"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Kaggle (https://www.kaggle.com/datasets/milapgohil/car-dataset)</a:t>
          </a:r>
        </a:p>
      </dsp:txBody>
      <dsp:txXfrm>
        <a:off x="0" y="1105029"/>
        <a:ext cx="7448365" cy="632385"/>
      </dsp:txXfrm>
    </dsp:sp>
    <dsp:sp modelId="{371ACC42-6A52-4A4B-B8A7-8162CFE3D8C9}">
      <dsp:nvSpPr>
        <dsp:cNvPr id="0" name=""/>
        <dsp:cNvSpPr/>
      </dsp:nvSpPr>
      <dsp:spPr>
        <a:xfrm>
          <a:off x="0" y="1737414"/>
          <a:ext cx="7448365" cy="6236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Description of the data (features, size, format)</a:t>
          </a:r>
        </a:p>
      </dsp:txBody>
      <dsp:txXfrm>
        <a:off x="30442" y="1767856"/>
        <a:ext cx="7387481" cy="562726"/>
      </dsp:txXfrm>
    </dsp:sp>
    <dsp:sp modelId="{F81D2531-C69B-4CAE-8FED-B344EC9C2D06}">
      <dsp:nvSpPr>
        <dsp:cNvPr id="0" name=""/>
        <dsp:cNvSpPr/>
      </dsp:nvSpPr>
      <dsp:spPr>
        <a:xfrm>
          <a:off x="0" y="2361024"/>
          <a:ext cx="7448365" cy="1991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486"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Features: Rows = 140K, Columns = 12 (String = 8, Int = 3, Bool = 1)</a:t>
          </a:r>
        </a:p>
        <a:p>
          <a:pPr marL="228600" lvl="1" indent="-228600" algn="l" defTabSz="889000">
            <a:lnSpc>
              <a:spcPct val="90000"/>
            </a:lnSpc>
            <a:spcBef>
              <a:spcPct val="0"/>
            </a:spcBef>
            <a:spcAft>
              <a:spcPct val="20000"/>
            </a:spcAft>
            <a:buChar char="•"/>
          </a:pPr>
          <a:r>
            <a:rPr lang="en-US" sz="2000" kern="1200" dirty="0"/>
            <a:t>Size: 11 MB</a:t>
          </a:r>
        </a:p>
        <a:p>
          <a:pPr marL="228600" lvl="1" indent="-228600" algn="l" defTabSz="889000">
            <a:lnSpc>
              <a:spcPct val="90000"/>
            </a:lnSpc>
            <a:spcBef>
              <a:spcPct val="0"/>
            </a:spcBef>
            <a:spcAft>
              <a:spcPct val="20000"/>
            </a:spcAft>
            <a:buChar char="•"/>
          </a:pPr>
          <a:r>
            <a:rPr lang="en-US" sz="2000" kern="1200" dirty="0"/>
            <a:t>Format: .csv</a:t>
          </a:r>
        </a:p>
        <a:p>
          <a:pPr marL="228600" lvl="1" indent="-228600" algn="l" defTabSz="889000">
            <a:lnSpc>
              <a:spcPct val="90000"/>
            </a:lnSpc>
            <a:spcBef>
              <a:spcPct val="0"/>
            </a:spcBef>
            <a:spcAft>
              <a:spcPct val="20000"/>
            </a:spcAft>
            <a:buChar char="•"/>
          </a:pPr>
          <a:r>
            <a:rPr lang="en-US" sz="2000" kern="1200" dirty="0"/>
            <a:t>Fields:</a:t>
          </a:r>
        </a:p>
        <a:p>
          <a:pPr marL="457200" lvl="2" indent="-228600" algn="l" defTabSz="889000">
            <a:lnSpc>
              <a:spcPct val="90000"/>
            </a:lnSpc>
            <a:spcBef>
              <a:spcPct val="0"/>
            </a:spcBef>
            <a:spcAft>
              <a:spcPct val="20000"/>
            </a:spcAft>
            <a:buChar char="•"/>
          </a:pPr>
          <a:r>
            <a:rPr lang="en-US" sz="2000" kern="1200" dirty="0"/>
            <a:t>Brand, Model name, Year, Price, KM Driven, Fuel Type, Transmission, Owner etc.</a:t>
          </a:r>
        </a:p>
      </dsp:txBody>
      <dsp:txXfrm>
        <a:off x="0" y="2361024"/>
        <a:ext cx="7448365" cy="1991340"/>
      </dsp:txXfrm>
    </dsp:sp>
    <dsp:sp modelId="{844A2AF2-BDBC-4149-A383-A0491A7F1B90}">
      <dsp:nvSpPr>
        <dsp:cNvPr id="0" name=""/>
        <dsp:cNvSpPr/>
      </dsp:nvSpPr>
      <dsp:spPr>
        <a:xfrm>
          <a:off x="0" y="4352364"/>
          <a:ext cx="7448365" cy="6236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Any preprocessing steps required</a:t>
          </a:r>
        </a:p>
      </dsp:txBody>
      <dsp:txXfrm>
        <a:off x="30442" y="4382806"/>
        <a:ext cx="7387481" cy="562726"/>
      </dsp:txXfrm>
    </dsp:sp>
    <dsp:sp modelId="{DAE91E4C-6ECF-46D2-9C07-249BB260636F}">
      <dsp:nvSpPr>
        <dsp:cNvPr id="0" name=""/>
        <dsp:cNvSpPr/>
      </dsp:nvSpPr>
      <dsp:spPr>
        <a:xfrm>
          <a:off x="0" y="4975974"/>
          <a:ext cx="7448365"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486"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1" kern="1200" dirty="0"/>
            <a:t>Data cleaning</a:t>
          </a:r>
          <a:r>
            <a:rPr lang="en-US" sz="2000" kern="1200" dirty="0"/>
            <a:t>: Remove duplicates &amp; adjust extreme outliers.</a:t>
          </a:r>
        </a:p>
      </dsp:txBody>
      <dsp:txXfrm>
        <a:off x="0" y="4975974"/>
        <a:ext cx="7448365" cy="430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274F2-3F46-43E9-AACF-A42593357E55}">
      <dsp:nvSpPr>
        <dsp:cNvPr id="0" name=""/>
        <dsp:cNvSpPr/>
      </dsp:nvSpPr>
      <dsp:spPr>
        <a:xfrm>
          <a:off x="0" y="8"/>
          <a:ext cx="7448365" cy="43562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Feature Engineering</a:t>
          </a:r>
        </a:p>
      </dsp:txBody>
      <dsp:txXfrm>
        <a:off x="21266" y="21274"/>
        <a:ext cx="7405833" cy="3930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6B6D30-E560-4DF2-8677-E1E6C9328CC2}">
      <dsp:nvSpPr>
        <dsp:cNvPr id="0" name=""/>
        <dsp:cNvSpPr/>
      </dsp:nvSpPr>
      <dsp:spPr>
        <a:xfrm>
          <a:off x="4229" y="2385342"/>
          <a:ext cx="954388" cy="4121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en-IN" sz="700" kern="1200"/>
            <a:t>Design and Plan</a:t>
          </a:r>
        </a:p>
      </dsp:txBody>
      <dsp:txXfrm>
        <a:off x="4229" y="2385342"/>
        <a:ext cx="954388" cy="274788"/>
      </dsp:txXfrm>
    </dsp:sp>
    <dsp:sp modelId="{0D184B32-541A-47F6-A8E6-DF1F14049282}">
      <dsp:nvSpPr>
        <dsp:cNvPr id="0" name=""/>
        <dsp:cNvSpPr/>
      </dsp:nvSpPr>
      <dsp:spPr>
        <a:xfrm>
          <a:off x="141441" y="2666136"/>
          <a:ext cx="954388" cy="4284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en-IN" sz="700" kern="1200" dirty="0"/>
            <a:t>Completion of Plan (1</a:t>
          </a:r>
          <a:r>
            <a:rPr lang="en-IN" sz="700" kern="1200" baseline="30000" dirty="0"/>
            <a:t>st</a:t>
          </a:r>
          <a:r>
            <a:rPr lang="en-IN" sz="700" kern="1200" dirty="0"/>
            <a:t> Milestone : 25</a:t>
          </a:r>
          <a:r>
            <a:rPr lang="en-IN" sz="700" kern="1200" baseline="30000" dirty="0"/>
            <a:t>th</a:t>
          </a:r>
          <a:r>
            <a:rPr lang="en-IN" sz="700" kern="1200" dirty="0"/>
            <a:t> Oct)</a:t>
          </a:r>
        </a:p>
      </dsp:txBody>
      <dsp:txXfrm>
        <a:off x="153988" y="2678683"/>
        <a:ext cx="929294" cy="403306"/>
      </dsp:txXfrm>
    </dsp:sp>
    <dsp:sp modelId="{29FA148F-585F-4AFA-A092-77A61F8FD1A2}">
      <dsp:nvSpPr>
        <dsp:cNvPr id="0" name=""/>
        <dsp:cNvSpPr/>
      </dsp:nvSpPr>
      <dsp:spPr>
        <a:xfrm>
          <a:off x="1103299" y="2403928"/>
          <a:ext cx="306725" cy="2376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1103299" y="2451451"/>
        <a:ext cx="235441" cy="142569"/>
      </dsp:txXfrm>
    </dsp:sp>
    <dsp:sp modelId="{3CA7BB7E-6B3A-4855-96ED-2B98EE6D88BB}">
      <dsp:nvSpPr>
        <dsp:cNvPr id="0" name=""/>
        <dsp:cNvSpPr/>
      </dsp:nvSpPr>
      <dsp:spPr>
        <a:xfrm>
          <a:off x="1537345" y="2385342"/>
          <a:ext cx="954388" cy="4121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en-IN" sz="700" kern="1200"/>
            <a:t>Data Collection</a:t>
          </a:r>
        </a:p>
      </dsp:txBody>
      <dsp:txXfrm>
        <a:off x="1537345" y="2385342"/>
        <a:ext cx="954388" cy="274788"/>
      </dsp:txXfrm>
    </dsp:sp>
    <dsp:sp modelId="{D7730FD9-5013-4102-A60A-77218124B5C2}">
      <dsp:nvSpPr>
        <dsp:cNvPr id="0" name=""/>
        <dsp:cNvSpPr/>
      </dsp:nvSpPr>
      <dsp:spPr>
        <a:xfrm>
          <a:off x="1732822" y="2660130"/>
          <a:ext cx="954388" cy="4284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en-IN" sz="700" kern="1200"/>
            <a:t>Evaluate the Data source(2</a:t>
          </a:r>
          <a:r>
            <a:rPr lang="en-IN" sz="700" kern="1200" baseline="30000"/>
            <a:t>nd</a:t>
          </a:r>
          <a:r>
            <a:rPr lang="en-IN" sz="700" kern="1200"/>
            <a:t> Milestone : 1</a:t>
          </a:r>
          <a:r>
            <a:rPr lang="en-IN" sz="700" kern="1200" baseline="30000"/>
            <a:t>st</a:t>
          </a:r>
          <a:r>
            <a:rPr lang="en-IN" sz="700" kern="1200"/>
            <a:t> Nov)</a:t>
          </a:r>
        </a:p>
      </dsp:txBody>
      <dsp:txXfrm>
        <a:off x="1745369" y="2672677"/>
        <a:ext cx="929294" cy="403306"/>
      </dsp:txXfrm>
    </dsp:sp>
    <dsp:sp modelId="{E1CFA5BF-0EBA-458D-9877-9B4FC9B7B113}">
      <dsp:nvSpPr>
        <dsp:cNvPr id="0" name=""/>
        <dsp:cNvSpPr/>
      </dsp:nvSpPr>
      <dsp:spPr>
        <a:xfrm>
          <a:off x="2636415" y="2403928"/>
          <a:ext cx="306725" cy="2376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2636415" y="2451451"/>
        <a:ext cx="235441" cy="142569"/>
      </dsp:txXfrm>
    </dsp:sp>
    <dsp:sp modelId="{4A49916C-4594-40D6-BF8F-9D0ACB926602}">
      <dsp:nvSpPr>
        <dsp:cNvPr id="0" name=""/>
        <dsp:cNvSpPr/>
      </dsp:nvSpPr>
      <dsp:spPr>
        <a:xfrm>
          <a:off x="3070460" y="2385342"/>
          <a:ext cx="954388" cy="4121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en-IN" sz="700" kern="1200"/>
            <a:t>EDA</a:t>
          </a:r>
        </a:p>
      </dsp:txBody>
      <dsp:txXfrm>
        <a:off x="3070460" y="2385342"/>
        <a:ext cx="954388" cy="274788"/>
      </dsp:txXfrm>
    </dsp:sp>
    <dsp:sp modelId="{52621065-4433-451A-8ED2-5D4C6CFC55F4}">
      <dsp:nvSpPr>
        <dsp:cNvPr id="0" name=""/>
        <dsp:cNvSpPr/>
      </dsp:nvSpPr>
      <dsp:spPr>
        <a:xfrm>
          <a:off x="3265937" y="2660130"/>
          <a:ext cx="954388" cy="4284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en-IN" sz="700" kern="1200"/>
            <a:t>Data Cleansing (3rd Milestone : 10</a:t>
          </a:r>
          <a:r>
            <a:rPr lang="en-IN" sz="700" kern="1200" baseline="30000"/>
            <a:t>th</a:t>
          </a:r>
          <a:r>
            <a:rPr lang="en-IN" sz="700" kern="1200"/>
            <a:t> Nov)</a:t>
          </a:r>
        </a:p>
      </dsp:txBody>
      <dsp:txXfrm>
        <a:off x="3278484" y="2672677"/>
        <a:ext cx="929294" cy="403306"/>
      </dsp:txXfrm>
    </dsp:sp>
    <dsp:sp modelId="{568BC79C-BA0A-42CB-8659-5ED2DFE89DE1}">
      <dsp:nvSpPr>
        <dsp:cNvPr id="0" name=""/>
        <dsp:cNvSpPr/>
      </dsp:nvSpPr>
      <dsp:spPr>
        <a:xfrm>
          <a:off x="4169530" y="2403928"/>
          <a:ext cx="306725" cy="2376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4169530" y="2451451"/>
        <a:ext cx="235441" cy="142569"/>
      </dsp:txXfrm>
    </dsp:sp>
    <dsp:sp modelId="{8278E463-82F9-4E09-B3B1-53D27EE86D17}">
      <dsp:nvSpPr>
        <dsp:cNvPr id="0" name=""/>
        <dsp:cNvSpPr/>
      </dsp:nvSpPr>
      <dsp:spPr>
        <a:xfrm>
          <a:off x="4603575" y="2385342"/>
          <a:ext cx="954388" cy="4121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en-IN" sz="700" kern="1200" dirty="0"/>
            <a:t>Data Modelling &amp; Evaluation</a:t>
          </a:r>
        </a:p>
      </dsp:txBody>
      <dsp:txXfrm>
        <a:off x="4603575" y="2385342"/>
        <a:ext cx="954388" cy="274788"/>
      </dsp:txXfrm>
    </dsp:sp>
    <dsp:sp modelId="{9D7EB8EB-8B83-4B14-8F4B-6087571FBED7}">
      <dsp:nvSpPr>
        <dsp:cNvPr id="0" name=""/>
        <dsp:cNvSpPr/>
      </dsp:nvSpPr>
      <dsp:spPr>
        <a:xfrm>
          <a:off x="4799052" y="2660130"/>
          <a:ext cx="954388" cy="4284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en-IN" sz="700" kern="1200"/>
            <a:t>Building the model and testing ( 4th Milestone : 20</a:t>
          </a:r>
          <a:r>
            <a:rPr lang="en-IN" sz="700" kern="1200" baseline="30000"/>
            <a:t>th</a:t>
          </a:r>
          <a:r>
            <a:rPr lang="en-IN" sz="700" kern="1200"/>
            <a:t> Nov)</a:t>
          </a:r>
        </a:p>
      </dsp:txBody>
      <dsp:txXfrm>
        <a:off x="4811599" y="2672677"/>
        <a:ext cx="929294" cy="403306"/>
      </dsp:txXfrm>
    </dsp:sp>
    <dsp:sp modelId="{6C655507-253B-42A3-8274-5C430550F4CD}">
      <dsp:nvSpPr>
        <dsp:cNvPr id="0" name=""/>
        <dsp:cNvSpPr/>
      </dsp:nvSpPr>
      <dsp:spPr>
        <a:xfrm>
          <a:off x="5702645" y="2403928"/>
          <a:ext cx="306725" cy="2376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5702645" y="2451451"/>
        <a:ext cx="235441" cy="142569"/>
      </dsp:txXfrm>
    </dsp:sp>
    <dsp:sp modelId="{F80A9A50-B5D1-4827-A047-4E9798FB7149}">
      <dsp:nvSpPr>
        <dsp:cNvPr id="0" name=""/>
        <dsp:cNvSpPr/>
      </dsp:nvSpPr>
      <dsp:spPr>
        <a:xfrm>
          <a:off x="6136690" y="2385342"/>
          <a:ext cx="954388" cy="4121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84" tIns="49784" rIns="49784" bIns="26670" numCol="1" spcCol="1270" anchor="t" anchorCtr="0">
          <a:noAutofit/>
        </a:bodyPr>
        <a:lstStyle/>
        <a:p>
          <a:pPr marL="0" lvl="0" indent="0" algn="l" defTabSz="311150">
            <a:lnSpc>
              <a:spcPct val="90000"/>
            </a:lnSpc>
            <a:spcBef>
              <a:spcPct val="0"/>
            </a:spcBef>
            <a:spcAft>
              <a:spcPct val="35000"/>
            </a:spcAft>
            <a:buNone/>
          </a:pPr>
          <a:r>
            <a:rPr lang="en-IN" sz="700" kern="1200" dirty="0" err="1"/>
            <a:t>Streamlit</a:t>
          </a:r>
          <a:r>
            <a:rPr lang="en-IN" sz="700" kern="1200" dirty="0"/>
            <a:t> Dashboard &amp; Report generation</a:t>
          </a:r>
        </a:p>
      </dsp:txBody>
      <dsp:txXfrm>
        <a:off x="6136690" y="2385342"/>
        <a:ext cx="954388" cy="274788"/>
      </dsp:txXfrm>
    </dsp:sp>
    <dsp:sp modelId="{E3510EAD-8C15-4F91-A335-0BEAB95C2D46}">
      <dsp:nvSpPr>
        <dsp:cNvPr id="0" name=""/>
        <dsp:cNvSpPr/>
      </dsp:nvSpPr>
      <dsp:spPr>
        <a:xfrm>
          <a:off x="6332167" y="2660130"/>
          <a:ext cx="954388" cy="4284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784" tIns="49784" rIns="49784" bIns="49784" numCol="1" spcCol="1270" anchor="t" anchorCtr="0">
          <a:noAutofit/>
        </a:bodyPr>
        <a:lstStyle/>
        <a:p>
          <a:pPr marL="57150" lvl="1" indent="-57150" algn="l" defTabSz="311150">
            <a:lnSpc>
              <a:spcPct val="90000"/>
            </a:lnSpc>
            <a:spcBef>
              <a:spcPct val="0"/>
            </a:spcBef>
            <a:spcAft>
              <a:spcPct val="15000"/>
            </a:spcAft>
            <a:buChar char="•"/>
          </a:pPr>
          <a:r>
            <a:rPr lang="en-IN" sz="700" kern="1200"/>
            <a:t>Final Testing ( 5</a:t>
          </a:r>
          <a:r>
            <a:rPr lang="en-IN" sz="700" kern="1200" baseline="30000"/>
            <a:t>th</a:t>
          </a:r>
          <a:r>
            <a:rPr lang="en-IN" sz="700" kern="1200"/>
            <a:t> Milestone : 30</a:t>
          </a:r>
          <a:r>
            <a:rPr lang="en-IN" sz="700" kern="1200" baseline="30000"/>
            <a:t>th</a:t>
          </a:r>
          <a:r>
            <a:rPr lang="en-IN" sz="700" kern="1200"/>
            <a:t> Nov)</a:t>
          </a:r>
        </a:p>
      </dsp:txBody>
      <dsp:txXfrm>
        <a:off x="6344714" y="2672677"/>
        <a:ext cx="929294" cy="40330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9B5162-31D5-D27B-CB8B-8469F66660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14EB8204-F427-3587-2023-45F3DF3CAD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D0B005-AE3F-4DA2-9559-980D1360C114}" type="datetimeFigureOut">
              <a:rPr lang="en-SG" smtClean="0"/>
              <a:t>1/12/2025</a:t>
            </a:fld>
            <a:endParaRPr lang="en-SG"/>
          </a:p>
        </p:txBody>
      </p:sp>
      <p:sp>
        <p:nvSpPr>
          <p:cNvPr id="4" name="Footer Placeholder 3">
            <a:extLst>
              <a:ext uri="{FF2B5EF4-FFF2-40B4-BE49-F238E27FC236}">
                <a16:creationId xmlns:a16="http://schemas.microsoft.com/office/drawing/2014/main" id="{B1FF136A-E7CF-98B4-480E-A32119CB16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02167F81-B274-2766-0143-5AF2148974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42E51-4BA4-41E8-8E38-E80BA45B03F6}" type="slidenum">
              <a:rPr lang="en-SG" smtClean="0"/>
              <a:t>‹#›</a:t>
            </a:fld>
            <a:endParaRPr lang="en-SG"/>
          </a:p>
        </p:txBody>
      </p:sp>
    </p:spTree>
    <p:extLst>
      <p:ext uri="{BB962C8B-B14F-4D97-AF65-F5344CB8AC3E}">
        <p14:creationId xmlns:p14="http://schemas.microsoft.com/office/powerpoint/2010/main" val="11558915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A0547B-158A-49BE-8714-80B0BEEFC392}" type="datetimeFigureOut">
              <a:rPr lang="en-SG" smtClean="0"/>
              <a:t>1/12/2025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1C9C6-E11A-4277-9787-7297B88DF7E0}" type="slidenum">
              <a:rPr lang="en-SG" smtClean="0"/>
              <a:t>‹#›</a:t>
            </a:fld>
            <a:endParaRPr lang="en-SG"/>
          </a:p>
        </p:txBody>
      </p:sp>
    </p:spTree>
    <p:extLst>
      <p:ext uri="{BB962C8B-B14F-4D97-AF65-F5344CB8AC3E}">
        <p14:creationId xmlns:p14="http://schemas.microsoft.com/office/powerpoint/2010/main" val="2715609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3B40B-983F-620E-9CBD-074E1E0E6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DEC67-8A8C-151F-806A-7B4E3466F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13062-51E3-389D-4710-8EB6DF0CFAD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1858CDE-2AFF-F02B-8621-6357FA80B1D7}"/>
              </a:ext>
            </a:extLst>
          </p:cNvPr>
          <p:cNvSpPr>
            <a:spLocks noGrp="1"/>
          </p:cNvSpPr>
          <p:nvPr>
            <p:ph type="sldNum" sz="quarter" idx="5"/>
          </p:nvPr>
        </p:nvSpPr>
        <p:spPr/>
        <p:txBody>
          <a:bodyPr/>
          <a:lstStyle/>
          <a:p>
            <a:fld id="{61D1C9C6-E11A-4277-9787-7297B88DF7E0}" type="slidenum">
              <a:rPr lang="en-SG" smtClean="0"/>
              <a:t>1</a:t>
            </a:fld>
            <a:endParaRPr lang="en-SG"/>
          </a:p>
        </p:txBody>
      </p:sp>
    </p:spTree>
    <p:extLst>
      <p:ext uri="{BB962C8B-B14F-4D97-AF65-F5344CB8AC3E}">
        <p14:creationId xmlns:p14="http://schemas.microsoft.com/office/powerpoint/2010/main" val="2595753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D1C9C6-E11A-4277-9787-7297B88DF7E0}" type="slidenum">
              <a:rPr lang="en-SG" smtClean="0"/>
              <a:t>2</a:t>
            </a:fld>
            <a:endParaRPr lang="en-SG"/>
          </a:p>
        </p:txBody>
      </p:sp>
    </p:spTree>
    <p:extLst>
      <p:ext uri="{BB962C8B-B14F-4D97-AF65-F5344CB8AC3E}">
        <p14:creationId xmlns:p14="http://schemas.microsoft.com/office/powerpoint/2010/main" val="1363789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97280" y="758952"/>
            <a:ext cx="10058400" cy="3566160"/>
          </a:xfrm>
        </p:spPr>
        <p:txBody>
          <a:bodyPr anchor="b">
            <a:normAutofit/>
          </a:bodyPr>
          <a:lstStyle>
            <a:lvl1pPr algn="l">
              <a:lnSpc>
                <a:spcPct val="85000"/>
              </a:lnSpc>
              <a:defRPr sz="3600" spc="-50" baseline="0">
                <a:solidFill>
                  <a:srgbClr val="125C99"/>
                </a:solidFill>
              </a:defRPr>
            </a:lvl1pPr>
          </a:lstStyle>
          <a:p>
            <a:r>
              <a:rPr lang="en-US"/>
              <a:t>Title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b="0" i="1" cap="none" spc="200" baseline="0">
                <a:solidFill>
                  <a:srgbClr val="125C99"/>
                </a:solidFill>
                <a:latin typeface="Graphik Light" panose="020B0403030202060203"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6" name="Rectangle 5">
            <a:extLst>
              <a:ext uri="{FF2B5EF4-FFF2-40B4-BE49-F238E27FC236}">
                <a16:creationId xmlns:a16="http://schemas.microsoft.com/office/drawing/2014/main" id="{55E40B5F-8E85-EEE8-22B5-A003E0B82F48}"/>
              </a:ext>
            </a:extLst>
          </p:cNvPr>
          <p:cNvSpPr/>
          <p:nvPr userDrawn="1"/>
        </p:nvSpPr>
        <p:spPr>
          <a:xfrm>
            <a:off x="0" y="6398324"/>
            <a:ext cx="12188825" cy="4572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689904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buClr>
                <a:srgbClr val="C32B61"/>
              </a:buClr>
              <a:defRPr>
                <a:latin typeface="Arial Nova" panose="020B0504020202020204" pitchFamily="34" charset="0"/>
              </a:defRPr>
            </a:lvl1pPr>
            <a:lvl2pPr>
              <a:buClr>
                <a:srgbClr val="C32B61"/>
              </a:buClr>
              <a:defRPr>
                <a:latin typeface="Arial Nova" panose="020B0504020202020204" pitchFamily="34" charset="0"/>
              </a:defRPr>
            </a:lvl2pPr>
            <a:lvl3pPr>
              <a:buClr>
                <a:srgbClr val="C32B61"/>
              </a:buClr>
              <a:defRPr>
                <a:latin typeface="Arial Nova" panose="020B0504020202020204" pitchFamily="34" charset="0"/>
              </a:defRPr>
            </a:lvl3pPr>
            <a:lvl4pPr>
              <a:buClr>
                <a:srgbClr val="C32B61"/>
              </a:buClr>
              <a:defRPr>
                <a:latin typeface="Arial Nova" panose="020B0504020202020204" pitchFamily="34" charset="0"/>
              </a:defRPr>
            </a:lvl4pPr>
            <a:lvl5pPr>
              <a:buClr>
                <a:srgbClr val="C32B61"/>
              </a:buClr>
              <a:defRPr>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551C70ED-94CA-A642-FD1E-522A6990F33D}"/>
              </a:ext>
            </a:extLst>
          </p:cNvPr>
          <p:cNvSpPr>
            <a:spLocks noGrp="1"/>
          </p:cNvSpPr>
          <p:nvPr>
            <p:ph type="title"/>
          </p:nvPr>
        </p:nvSpPr>
        <p:spPr/>
        <p:txBody>
          <a:bodyPr/>
          <a:lstStyle>
            <a:lvl1pPr>
              <a:defRPr>
                <a:solidFill>
                  <a:srgbClr val="125C99"/>
                </a:solidFill>
              </a:defRPr>
            </a:lvl1pPr>
          </a:lstStyle>
          <a:p>
            <a:r>
              <a:rPr lang="en-US"/>
              <a:t>Click to edit Master title style</a:t>
            </a:r>
            <a:endParaRPr lang="en-SG"/>
          </a:p>
        </p:txBody>
      </p:sp>
      <p:sp>
        <p:nvSpPr>
          <p:cNvPr id="11" name="Footer Placeholder 10">
            <a:extLst>
              <a:ext uri="{FF2B5EF4-FFF2-40B4-BE49-F238E27FC236}">
                <a16:creationId xmlns:a16="http://schemas.microsoft.com/office/drawing/2014/main" id="{F14EF858-2983-E647-2178-E92591E7E8FD}"/>
              </a:ext>
            </a:extLst>
          </p:cNvPr>
          <p:cNvSpPr>
            <a:spLocks noGrp="1"/>
          </p:cNvSpPr>
          <p:nvPr>
            <p:ph type="ftr" sz="quarter" idx="11"/>
          </p:nvPr>
        </p:nvSpPr>
        <p:spPr/>
        <p:txBody>
          <a:bodyPr/>
          <a:lstStyle/>
          <a:p>
            <a:r>
              <a:rPr lang="it-IT"/>
              <a:t>DA 204o: Data Science in Practice</a:t>
            </a:r>
            <a:endParaRPr lang="en-SG"/>
          </a:p>
        </p:txBody>
      </p:sp>
      <p:sp>
        <p:nvSpPr>
          <p:cNvPr id="12" name="Slide Number Placeholder 11">
            <a:extLst>
              <a:ext uri="{FF2B5EF4-FFF2-40B4-BE49-F238E27FC236}">
                <a16:creationId xmlns:a16="http://schemas.microsoft.com/office/drawing/2014/main" id="{2C483A77-9139-666A-419A-D5D0E83B91ED}"/>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881070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it-IT"/>
              <a:t>DA 204o: Data Science in Practice</a:t>
            </a:r>
            <a:endParaRPr lang="en-SG"/>
          </a:p>
        </p:txBody>
      </p:sp>
      <p:sp>
        <p:nvSpPr>
          <p:cNvPr id="5" name="Slide Number Placeholder 4"/>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3225785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Tx" preserve="1">
  <p:cSld name="5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D9C957-3D36-784B-CCB2-F897908B8900}"/>
              </a:ext>
            </a:extLst>
          </p:cNvPr>
          <p:cNvSpPr/>
          <p:nvPr userDrawn="1"/>
        </p:nvSpPr>
        <p:spPr>
          <a:xfrm>
            <a:off x="16" y="0"/>
            <a:ext cx="4050791" cy="68580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17251"/>
            <a:ext cx="3200400" cy="2104007"/>
          </a:xfrm>
        </p:spPr>
        <p:txBody>
          <a:bodyPr anchor="b">
            <a:normAutofit/>
          </a:bodyPr>
          <a:lstStyle>
            <a:lvl1pPr>
              <a:lnSpc>
                <a:spcPct val="100000"/>
              </a:lnSpc>
              <a:defRPr sz="3200" b="1">
                <a:solidFill>
                  <a:schemeClr val="bg1"/>
                </a:solidFill>
                <a:latin typeface="Arial Nova" panose="020B0504020202020204" pitchFamily="34" charset="0"/>
              </a:defRPr>
            </a:lvl1pPr>
          </a:lstStyle>
          <a:p>
            <a:r>
              <a:rPr lang="en-US"/>
              <a:t>Click to edit Master title style</a:t>
            </a:r>
          </a:p>
        </p:txBody>
      </p:sp>
      <p:sp>
        <p:nvSpPr>
          <p:cNvPr id="3" name="Content Placeholder 2"/>
          <p:cNvSpPr>
            <a:spLocks noGrp="1"/>
          </p:cNvSpPr>
          <p:nvPr>
            <p:ph idx="1"/>
          </p:nvPr>
        </p:nvSpPr>
        <p:spPr>
          <a:xfrm>
            <a:off x="4403324" y="417251"/>
            <a:ext cx="7448365" cy="5887954"/>
          </a:xfrm>
        </p:spPr>
        <p:txBody>
          <a:bodyPr>
            <a:normAutofit/>
          </a:bodyPr>
          <a:lstStyle>
            <a:lvl1pPr>
              <a:defRPr sz="2400">
                <a:latin typeface="Arial Nova" panose="020B0504020202020204" pitchFamily="34" charset="0"/>
              </a:defRPr>
            </a:lvl1pPr>
            <a:lvl2pPr>
              <a:defRPr sz="2000">
                <a:latin typeface="Arial Nova" panose="020B0504020202020204" pitchFamily="34" charset="0"/>
              </a:defRPr>
            </a:lvl2pPr>
            <a:lvl3pPr>
              <a:defRPr sz="1600">
                <a:latin typeface="Arial Nova" panose="020B0504020202020204" pitchFamily="34" charset="0"/>
              </a:defRPr>
            </a:lvl3pPr>
            <a:lvl4pPr>
              <a:defRPr sz="1600">
                <a:latin typeface="Arial Nova" panose="020B0504020202020204" pitchFamily="34" charset="0"/>
              </a:defRPr>
            </a:lvl4pPr>
            <a:lvl5pPr>
              <a:defRPr sz="1600">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2000">
                <a:solidFill>
                  <a:schemeClr val="bg1"/>
                </a:solidFill>
                <a:latin typeface="Graphik Regular" panose="020B050303020206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4415108" y="6448459"/>
            <a:ext cx="4714449" cy="376449"/>
          </a:xfrm>
        </p:spPr>
        <p:txBody>
          <a:bodyPr/>
          <a:lstStyle>
            <a:lvl1pPr algn="l">
              <a:defRPr>
                <a:solidFill>
                  <a:schemeClr val="bg1">
                    <a:lumMod val="50000"/>
                  </a:schemeClr>
                </a:solidFill>
              </a:defRPr>
            </a:lvl1p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F1758FF-0BF1-4103-A89A-38EC40E85429}" type="slidenum">
              <a:rPr lang="en-SG" smtClean="0"/>
              <a:t>‹#›</a:t>
            </a:fld>
            <a:endParaRPr lang="en-SG"/>
          </a:p>
        </p:txBody>
      </p:sp>
    </p:spTree>
    <p:extLst>
      <p:ext uri="{BB962C8B-B14F-4D97-AF65-F5344CB8AC3E}">
        <p14:creationId xmlns:p14="http://schemas.microsoft.com/office/powerpoint/2010/main" val="31043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Tx" preserve="1">
  <p:cSld name="4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D9C957-3D36-784B-CCB2-F897908B8900}"/>
              </a:ext>
            </a:extLst>
          </p:cNvPr>
          <p:cNvSpPr/>
          <p:nvPr userDrawn="1"/>
        </p:nvSpPr>
        <p:spPr>
          <a:xfrm>
            <a:off x="16" y="0"/>
            <a:ext cx="4050791" cy="68580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17251"/>
            <a:ext cx="3200400" cy="2104007"/>
          </a:xfrm>
        </p:spPr>
        <p:txBody>
          <a:bodyPr anchor="b">
            <a:normAutofit/>
          </a:bodyPr>
          <a:lstStyle>
            <a:lvl1pPr>
              <a:lnSpc>
                <a:spcPct val="100000"/>
              </a:lnSpc>
              <a:defRPr sz="3200" b="1">
                <a:solidFill>
                  <a:schemeClr val="bg1"/>
                </a:solidFill>
                <a:latin typeface="Arial Nova" panose="020B0504020202020204" pitchFamily="34" charset="0"/>
              </a:defRPr>
            </a:lvl1pPr>
          </a:lstStyle>
          <a:p>
            <a:r>
              <a:rPr lang="en-US"/>
              <a:t>Click to edit Master title style</a:t>
            </a:r>
          </a:p>
        </p:txBody>
      </p:sp>
      <p:sp>
        <p:nvSpPr>
          <p:cNvPr id="3" name="Content Placeholder 2"/>
          <p:cNvSpPr>
            <a:spLocks noGrp="1"/>
          </p:cNvSpPr>
          <p:nvPr>
            <p:ph idx="1"/>
          </p:nvPr>
        </p:nvSpPr>
        <p:spPr>
          <a:xfrm>
            <a:off x="4403324" y="417251"/>
            <a:ext cx="7448365" cy="5887954"/>
          </a:xfrm>
        </p:spPr>
        <p:txBody>
          <a:bodyPr>
            <a:normAutofit/>
          </a:bodyPr>
          <a:lstStyle>
            <a:lvl1pPr>
              <a:defRPr sz="2400">
                <a:latin typeface="Arial Nova" panose="020B0504020202020204" pitchFamily="34" charset="0"/>
              </a:defRPr>
            </a:lvl1pPr>
            <a:lvl2pPr>
              <a:defRPr sz="2000">
                <a:latin typeface="Arial Nova" panose="020B0504020202020204" pitchFamily="34" charset="0"/>
              </a:defRPr>
            </a:lvl2pPr>
            <a:lvl3pPr>
              <a:defRPr sz="1600">
                <a:latin typeface="Arial Nova" panose="020B0504020202020204" pitchFamily="34" charset="0"/>
              </a:defRPr>
            </a:lvl3pPr>
            <a:lvl4pPr>
              <a:defRPr sz="1600">
                <a:latin typeface="Arial Nova" panose="020B0504020202020204" pitchFamily="34" charset="0"/>
              </a:defRPr>
            </a:lvl4pPr>
            <a:lvl5pPr>
              <a:defRPr sz="1600">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2000">
                <a:solidFill>
                  <a:schemeClr val="bg1"/>
                </a:solidFill>
                <a:latin typeface="Graphik Regular" panose="020B050303020206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4415108" y="6448459"/>
            <a:ext cx="4714449" cy="376449"/>
          </a:xfrm>
        </p:spPr>
        <p:txBody>
          <a:bodyPr/>
          <a:lstStyle>
            <a:lvl1pPr algn="l">
              <a:defRPr>
                <a:solidFill>
                  <a:schemeClr val="bg1">
                    <a:lumMod val="50000"/>
                  </a:schemeClr>
                </a:solidFill>
              </a:defRPr>
            </a:lvl1p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F1758FF-0BF1-4103-A89A-38EC40E85429}" type="slidenum">
              <a:rPr lang="en-SG" smtClean="0"/>
              <a:t>‹#›</a:t>
            </a:fld>
            <a:endParaRPr lang="en-SG"/>
          </a:p>
        </p:txBody>
      </p:sp>
      <p:pic>
        <p:nvPicPr>
          <p:cNvPr id="1026" name="Picture 2">
            <a:extLst>
              <a:ext uri="{FF2B5EF4-FFF2-40B4-BE49-F238E27FC236}">
                <a16:creationId xmlns:a16="http://schemas.microsoft.com/office/drawing/2014/main" id="{2DC710EE-2F6A-88D9-2835-61B2028C8D93}"/>
              </a:ext>
            </a:extLst>
          </p:cNvPr>
          <p:cNvPicPr>
            <a:picLocks noChangeAspect="1" noChangeArrowheads="1"/>
          </p:cNvPicPr>
          <p:nvPr userDrawn="1"/>
        </p:nvPicPr>
        <p:blipFill>
          <a:blip r:embed="rId2">
            <a:alphaModFix amt="5000"/>
            <a:extLst>
              <a:ext uri="{28A0092B-C50C-407E-A947-70E740481C1C}">
                <a14:useLocalDpi xmlns:a14="http://schemas.microsoft.com/office/drawing/2010/main" val="0"/>
              </a:ext>
            </a:extLst>
          </a:blip>
          <a:srcRect/>
          <a:stretch>
            <a:fillRect/>
          </a:stretch>
        </p:blipFill>
        <p:spPr bwMode="auto">
          <a:xfrm>
            <a:off x="340311" y="3028685"/>
            <a:ext cx="3552917" cy="3552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242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C7F84D-5946-5579-1C91-F06E4D730110}"/>
              </a:ext>
            </a:extLst>
          </p:cNvPr>
          <p:cNvGraphicFramePr>
            <a:graphicFrameLocks noChangeAspect="1"/>
          </p:cNvGraphicFramePr>
          <p:nvPr userDrawn="1">
            <p:custDataLst>
              <p:tags r:id="rId7"/>
            </p:custDataLst>
            <p:extLst>
              <p:ext uri="{D42A27DB-BD31-4B8C-83A1-F6EECF244321}">
                <p14:modId xmlns:p14="http://schemas.microsoft.com/office/powerpoint/2010/main" val="3988779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50" imgH="446" progId="TCLayout.ActiveDocument.1">
                  <p:embed/>
                </p:oleObj>
              </mc:Choice>
              <mc:Fallback>
                <p:oleObj name="think-cell Slide" r:id="rId8" imgW="450" imgH="446" progId="TCLayout.ActiveDocument.1">
                  <p:embed/>
                  <p:pic>
                    <p:nvPicPr>
                      <p:cNvPr id="0" name=""/>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63984" y="106532"/>
            <a:ext cx="11532093" cy="63031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363984" y="941033"/>
            <a:ext cx="11532093" cy="535071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none" baseline="0">
                <a:solidFill>
                  <a:schemeClr val="bg1">
                    <a:lumMod val="50000"/>
                  </a:schemeClr>
                </a:solidFill>
                <a:latin typeface="Arial Nova" panose="020B0504020202020204" pitchFamily="34" charset="0"/>
              </a:defRPr>
            </a:lvl1pPr>
          </a:lstStyle>
          <a:p>
            <a:r>
              <a:rPr lang="it-IT"/>
              <a:t>DA 204o: Data Science in Practice</a:t>
            </a:r>
            <a:endParaRPr lang="en-SG"/>
          </a:p>
        </p:txBody>
      </p:sp>
      <p:sp>
        <p:nvSpPr>
          <p:cNvPr id="6" name="Slide Number Placeholder 5"/>
          <p:cNvSpPr>
            <a:spLocks noGrp="1"/>
          </p:cNvSpPr>
          <p:nvPr>
            <p:ph type="sldNum" sz="quarter" idx="4"/>
          </p:nvPr>
        </p:nvSpPr>
        <p:spPr>
          <a:xfrm>
            <a:off x="10879975" y="6459784"/>
            <a:ext cx="1312025" cy="365125"/>
          </a:xfrm>
          <a:prstGeom prst="rect">
            <a:avLst/>
          </a:prstGeom>
          <a:noFill/>
        </p:spPr>
        <p:txBody>
          <a:bodyPr vert="horz" lIns="91440" tIns="45720" rIns="91440" bIns="45720" rtlCol="0" anchor="ctr"/>
          <a:lstStyle>
            <a:lvl1pPr algn="r">
              <a:defRPr sz="900">
                <a:solidFill>
                  <a:schemeClr val="bg1">
                    <a:lumMod val="50000"/>
                  </a:schemeClr>
                </a:solidFill>
                <a:latin typeface="Arial Nova" panose="020B0504020202020204" pitchFamily="34" charset="0"/>
              </a:defRPr>
            </a:lvl1pPr>
          </a:lstStyle>
          <a:p>
            <a:fld id="{BF1758FF-0BF1-4103-A89A-38EC40E85429}" type="slidenum">
              <a:rPr lang="en-SG" smtClean="0"/>
              <a:pPr/>
              <a:t>‹#›</a:t>
            </a:fld>
            <a:endParaRPr lang="en-SG"/>
          </a:p>
        </p:txBody>
      </p:sp>
      <p:sp>
        <p:nvSpPr>
          <p:cNvPr id="9" name="Rectangle 8">
            <a:extLst>
              <a:ext uri="{FF2B5EF4-FFF2-40B4-BE49-F238E27FC236}">
                <a16:creationId xmlns:a16="http://schemas.microsoft.com/office/drawing/2014/main" id="{E101544A-9BB0-391C-AD93-827BB2E263E8}"/>
              </a:ext>
            </a:extLst>
          </p:cNvPr>
          <p:cNvSpPr/>
          <p:nvPr userDrawn="1"/>
        </p:nvSpPr>
        <p:spPr>
          <a:xfrm>
            <a:off x="-106787" y="0"/>
            <a:ext cx="213574" cy="736847"/>
          </a:xfrm>
          <a:prstGeom prst="rect">
            <a:avLst/>
          </a:prstGeom>
          <a:solidFill>
            <a:srgbClr val="C32B6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115078455"/>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82" r:id="rId3"/>
    <p:sldLayoutId id="2147483791" r:id="rId4"/>
    <p:sldLayoutId id="2147483790" r:id="rId5"/>
  </p:sldLayoutIdLst>
  <p:hf hdr="0" dt="0"/>
  <p:txStyles>
    <p:titleStyle>
      <a:lvl1pPr algn="l" defTabSz="914400" rtl="0" eaLnBrk="1" latinLnBrk="0" hangingPunct="1">
        <a:lnSpc>
          <a:spcPct val="85000"/>
        </a:lnSpc>
        <a:spcBef>
          <a:spcPct val="0"/>
        </a:spcBef>
        <a:buNone/>
        <a:defRPr sz="3200" b="1" kern="1200" spc="-50" baseline="0">
          <a:solidFill>
            <a:srgbClr val="125C99"/>
          </a:solidFill>
          <a:latin typeface="Arial Nova" panose="020B0504020202020204" pitchFamily="34" charset="0"/>
          <a:ea typeface="+mj-ea"/>
          <a:cs typeface="+mj-cs"/>
        </a:defRPr>
      </a:lvl1pPr>
    </p:titleStyle>
    <p:bodyStyle>
      <a:lvl1pPr marL="216000" indent="-216000" algn="l" defTabSz="914400" rtl="0" eaLnBrk="1" latinLnBrk="0" hangingPunct="1">
        <a:lnSpc>
          <a:spcPct val="90000"/>
        </a:lnSpc>
        <a:spcBef>
          <a:spcPts val="1200"/>
        </a:spcBef>
        <a:spcAft>
          <a:spcPts val="200"/>
        </a:spcAft>
        <a:buClr>
          <a:srgbClr val="C32B61"/>
        </a:buClr>
        <a:buSzPct val="100000"/>
        <a:buFont typeface="Symbol" panose="05050102010706020507" pitchFamily="18" charset="2"/>
        <a:buChar char=""/>
        <a:defRPr sz="2400" kern="1200">
          <a:solidFill>
            <a:schemeClr val="tx1">
              <a:lumMod val="75000"/>
              <a:lumOff val="25000"/>
            </a:schemeClr>
          </a:solidFill>
          <a:latin typeface="Arial Nova" panose="020B0504020202020204" pitchFamily="34" charset="0"/>
          <a:ea typeface="+mn-ea"/>
          <a:cs typeface="+mn-cs"/>
        </a:defRPr>
      </a:lvl1pPr>
      <a:lvl2pPr marL="48691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2000" kern="1200">
          <a:solidFill>
            <a:schemeClr val="tx1">
              <a:lumMod val="75000"/>
              <a:lumOff val="25000"/>
            </a:schemeClr>
          </a:solidFill>
          <a:latin typeface="Arial Nova" panose="020B0504020202020204" pitchFamily="34" charset="0"/>
          <a:ea typeface="+mn-ea"/>
          <a:cs typeface="+mn-cs"/>
        </a:defRPr>
      </a:lvl2pPr>
      <a:lvl3pPr marL="66979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3pPr>
      <a:lvl4pPr marL="85267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4pPr>
      <a:lvl5pPr marL="103555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oleObject" Target="../embeddings/oleObject3.bin"/><Relationship Id="rId7" Type="http://schemas.openxmlformats.org/officeDocument/2006/relationships/diagramQuickStyle" Target="../diagrams/quickStyle2.xml"/><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7.png"/><Relationship Id="rId4" Type="http://schemas.openxmlformats.org/officeDocument/2006/relationships/image" Target="../media/image1.emf"/><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0.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spinny.com/" TargetMode="External"/><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www.spinny.com/" TargetMode="External"/><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tags" Target="../tags/tag6.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D8180E-874F-C8F8-035D-91DFEC0359EC}"/>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56E17B1-6967-AE9B-00E6-FFCDC6909BF9}"/>
              </a:ext>
            </a:extLst>
          </p:cNvPr>
          <p:cNvGraphicFramePr>
            <a:graphicFrameLocks noChangeAspect="1"/>
          </p:cNvGraphicFramePr>
          <p:nvPr>
            <p:custDataLst>
              <p:tags r:id="rId1"/>
            </p:custDataLst>
            <p:extLst>
              <p:ext uri="{D42A27DB-BD31-4B8C-83A1-F6EECF244321}">
                <p14:modId xmlns:p14="http://schemas.microsoft.com/office/powerpoint/2010/main" val="13552223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0" imgH="446" progId="TCLayout.ActiveDocument.1">
                  <p:embed/>
                </p:oleObj>
              </mc:Choice>
              <mc:Fallback>
                <p:oleObj name="think-cell Slide" r:id="rId4" imgW="450" imgH="44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049CF664-F5C7-ECCF-E2AC-E4EE51E7B0E1}"/>
              </a:ext>
            </a:extLst>
          </p:cNvPr>
          <p:cNvSpPr>
            <a:spLocks noGrp="1"/>
          </p:cNvSpPr>
          <p:nvPr>
            <p:ph type="ctrTitle"/>
          </p:nvPr>
        </p:nvSpPr>
        <p:spPr>
          <a:xfrm>
            <a:off x="453832" y="1170531"/>
            <a:ext cx="6919823" cy="2505563"/>
          </a:xfrm>
        </p:spPr>
        <p:txBody>
          <a:bodyPr vert="horz">
            <a:normAutofit/>
          </a:bodyPr>
          <a:lstStyle/>
          <a:p>
            <a:pPr>
              <a:lnSpc>
                <a:spcPct val="100000"/>
              </a:lnSpc>
              <a:spcBef>
                <a:spcPts val="0"/>
              </a:spcBef>
              <a:spcAft>
                <a:spcPts val="1200"/>
              </a:spcAft>
            </a:pPr>
            <a:r>
              <a:rPr lang="en-SG" sz="2400" b="1" dirty="0">
                <a:latin typeface="Arial Nova"/>
              </a:rPr>
              <a:t>DA 204o</a:t>
            </a:r>
            <a:r>
              <a:rPr lang="en-SG" sz="2400" dirty="0">
                <a:solidFill>
                  <a:srgbClr val="125C99"/>
                </a:solidFill>
                <a:latin typeface="Arial Nova"/>
              </a:rPr>
              <a:t>: </a:t>
            </a:r>
            <a:r>
              <a:rPr lang="en-US" sz="2400" b="1" dirty="0">
                <a:solidFill>
                  <a:srgbClr val="165C9A"/>
                </a:solidFill>
                <a:latin typeface="Arial Nova"/>
              </a:rPr>
              <a:t>Data Science in Practice</a:t>
            </a:r>
            <a:br>
              <a:rPr lang="en-US" sz="2400" b="1" dirty="0">
                <a:latin typeface="Arial Nova" panose="020B0504020202020204" pitchFamily="34" charset="0"/>
              </a:rPr>
            </a:br>
            <a:r>
              <a:rPr lang="en-US" sz="2400" i="1" dirty="0">
                <a:solidFill>
                  <a:srgbClr val="165C9A"/>
                </a:solidFill>
                <a:latin typeface="Arial Nova"/>
              </a:rPr>
              <a:t>Course Project Proposal</a:t>
            </a:r>
            <a:br>
              <a:rPr lang="en-US" sz="2400" i="1" dirty="0">
                <a:latin typeface="Arial Nova" panose="020B0504020202020204" pitchFamily="34" charset="0"/>
              </a:rPr>
            </a:br>
            <a:br>
              <a:rPr lang="en-US" sz="2400" i="1" dirty="0">
                <a:latin typeface="Arial Nova" panose="020B0504020202020204" pitchFamily="34" charset="0"/>
              </a:rPr>
            </a:br>
            <a:r>
              <a:rPr lang="en-US" sz="2400" i="1" dirty="0"/>
              <a:t>Auto-Insight: Predicting Ownership, Usage, Price and</a:t>
            </a:r>
            <a:r>
              <a:rPr lang="en-US" sz="2400" dirty="0"/>
              <a:t> </a:t>
            </a:r>
            <a:r>
              <a:rPr lang="en-US" sz="2400" i="1" dirty="0"/>
              <a:t>Insights from Indian Car Listings</a:t>
            </a:r>
            <a:endParaRPr lang="en-US" sz="2400" b="0" i="1" dirty="0">
              <a:solidFill>
                <a:schemeClr val="tx1">
                  <a:lumMod val="65000"/>
                  <a:lumOff val="35000"/>
                </a:schemeClr>
              </a:solidFill>
              <a:latin typeface="Arial Nova" panose="020B0504020202020204" pitchFamily="34" charset="0"/>
            </a:endParaRPr>
          </a:p>
        </p:txBody>
      </p:sp>
      <p:sp>
        <p:nvSpPr>
          <p:cNvPr id="6" name="Subtitle 5">
            <a:extLst>
              <a:ext uri="{FF2B5EF4-FFF2-40B4-BE49-F238E27FC236}">
                <a16:creationId xmlns:a16="http://schemas.microsoft.com/office/drawing/2014/main" id="{AEB76576-68BF-244C-B40E-1C5A72FE35DB}"/>
              </a:ext>
            </a:extLst>
          </p:cNvPr>
          <p:cNvSpPr>
            <a:spLocks noGrp="1"/>
          </p:cNvSpPr>
          <p:nvPr>
            <p:ph type="subTitle" idx="1"/>
          </p:nvPr>
        </p:nvSpPr>
        <p:spPr>
          <a:xfrm>
            <a:off x="453832" y="5049146"/>
            <a:ext cx="6706012" cy="2056879"/>
          </a:xfrm>
        </p:spPr>
        <p:txBody>
          <a:bodyPr vert="horz" lIns="91440" tIns="45720" rIns="91440" bIns="45720" rtlCol="0" anchor="t">
            <a:normAutofit/>
          </a:bodyPr>
          <a:lstStyle/>
          <a:p>
            <a:pPr>
              <a:spcBef>
                <a:spcPts val="0"/>
              </a:spcBef>
            </a:pPr>
            <a:r>
              <a:rPr lang="en-US" sz="2000" i="0" spc="10" dirty="0">
                <a:solidFill>
                  <a:schemeClr val="tx1">
                    <a:lumMod val="75000"/>
                    <a:lumOff val="25000"/>
                  </a:schemeClr>
                </a:solidFill>
                <a:latin typeface="Arial Nova"/>
              </a:rPr>
              <a:t>Binayak Chakraborty, binayakc@iisc.ac.in</a:t>
            </a:r>
            <a:endParaRPr lang="en-US" sz="2000" i="0" spc="10" dirty="0">
              <a:solidFill>
                <a:srgbClr val="000000"/>
              </a:solidFill>
              <a:latin typeface="Arial Nova"/>
            </a:endParaRPr>
          </a:p>
          <a:p>
            <a:pPr>
              <a:spcBef>
                <a:spcPts val="0"/>
              </a:spcBef>
            </a:pPr>
            <a:r>
              <a:rPr lang="en-US" sz="2000" i="0" spc="10" dirty="0">
                <a:solidFill>
                  <a:schemeClr val="tx1">
                    <a:lumMod val="75000"/>
                    <a:lumOff val="25000"/>
                  </a:schemeClr>
                </a:solidFill>
                <a:latin typeface="Arial Nova"/>
              </a:rPr>
              <a:t>Supratim Dey, supratimdey@iisc.ac.in</a:t>
            </a:r>
            <a:endParaRPr lang="en-US" sz="2000" i="0" spc="10" dirty="0">
              <a:solidFill>
                <a:srgbClr val="000000"/>
              </a:solidFill>
              <a:latin typeface="Arial Nova"/>
            </a:endParaRPr>
          </a:p>
          <a:p>
            <a:pPr>
              <a:spcBef>
                <a:spcPts val="0"/>
              </a:spcBef>
            </a:pPr>
            <a:r>
              <a:rPr lang="en-US" sz="2000" i="0" spc="10" dirty="0">
                <a:solidFill>
                  <a:schemeClr val="tx1">
                    <a:lumMod val="75000"/>
                    <a:lumOff val="25000"/>
                  </a:schemeClr>
                </a:solidFill>
                <a:latin typeface="Arial Nova"/>
              </a:rPr>
              <a:t>Rohit Agarwal, rohitagarwal@iisc.ac.in</a:t>
            </a:r>
          </a:p>
          <a:p>
            <a:pPr>
              <a:spcBef>
                <a:spcPts val="0"/>
              </a:spcBef>
            </a:pPr>
            <a:r>
              <a:rPr lang="en-US" sz="2000" i="0" spc="10" dirty="0" err="1">
                <a:solidFill>
                  <a:schemeClr val="tx1">
                    <a:lumMod val="75000"/>
                    <a:lumOff val="25000"/>
                  </a:schemeClr>
                </a:solidFill>
                <a:latin typeface="Arial Nova"/>
              </a:rPr>
              <a:t>Rituparno</a:t>
            </a:r>
            <a:r>
              <a:rPr lang="en-US" sz="2000" i="0" spc="10" dirty="0">
                <a:solidFill>
                  <a:schemeClr val="tx1">
                    <a:lumMod val="75000"/>
                    <a:lumOff val="25000"/>
                  </a:schemeClr>
                </a:solidFill>
                <a:latin typeface="Arial Nova"/>
              </a:rPr>
              <a:t> Chatterjee, rituparnoc@iisc.ac.in</a:t>
            </a:r>
          </a:p>
        </p:txBody>
      </p:sp>
      <p:pic>
        <p:nvPicPr>
          <p:cNvPr id="1030" name="Picture 6">
            <a:extLst>
              <a:ext uri="{FF2B5EF4-FFF2-40B4-BE49-F238E27FC236}">
                <a16:creationId xmlns:a16="http://schemas.microsoft.com/office/drawing/2014/main" id="{E853756E-9B62-A8E7-32E6-5CCF990CC30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117" t="9724" r="19603" b="12061"/>
          <a:stretch/>
        </p:blipFill>
        <p:spPr bwMode="auto">
          <a:xfrm>
            <a:off x="406952" y="191896"/>
            <a:ext cx="1732654" cy="1643799"/>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6A426A42-B161-DC67-A6F0-109822C7CFE9}"/>
              </a:ext>
            </a:extLst>
          </p:cNvPr>
          <p:cNvCxnSpPr>
            <a:cxnSpLocks/>
          </p:cNvCxnSpPr>
          <p:nvPr/>
        </p:nvCxnSpPr>
        <p:spPr>
          <a:xfrm>
            <a:off x="560738" y="3987661"/>
            <a:ext cx="6372000" cy="0"/>
          </a:xfrm>
          <a:prstGeom prst="line">
            <a:avLst/>
          </a:prstGeom>
          <a:ln w="28575">
            <a:gradFill flip="none" rotWithShape="1">
              <a:gsLst>
                <a:gs pos="0">
                  <a:srgbClr val="C32B61"/>
                </a:gs>
                <a:gs pos="100000">
                  <a:schemeClr val="bg1"/>
                </a:gs>
              </a:gsLst>
              <a:path path="circle">
                <a:fillToRect r="100000" b="100000"/>
              </a:path>
              <a:tileRect l="-100000" t="-100000"/>
            </a:gra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E4B7A1B-652F-A092-FEB5-299C9B5CA6BE}"/>
              </a:ext>
            </a:extLst>
          </p:cNvPr>
          <p:cNvPicPr>
            <a:picLocks noChangeAspect="1"/>
          </p:cNvPicPr>
          <p:nvPr/>
        </p:nvPicPr>
        <p:blipFill>
          <a:blip r:embed="rId7"/>
          <a:srcRect l="17275"/>
          <a:stretch>
            <a:fillRect/>
          </a:stretch>
        </p:blipFill>
        <p:spPr>
          <a:xfrm>
            <a:off x="6568968" y="0"/>
            <a:ext cx="7465849" cy="6858000"/>
          </a:xfrm>
          <a:prstGeom prst="parallelogram">
            <a:avLst>
              <a:gd name="adj" fmla="val 24387"/>
            </a:avLst>
          </a:prstGeom>
        </p:spPr>
      </p:pic>
      <p:sp>
        <p:nvSpPr>
          <p:cNvPr id="2" name="Footer Placeholder 4">
            <a:extLst>
              <a:ext uri="{FF2B5EF4-FFF2-40B4-BE49-F238E27FC236}">
                <a16:creationId xmlns:a16="http://schemas.microsoft.com/office/drawing/2014/main" id="{579B460D-F3E2-25FA-CB0A-DE4E2ED15F27}"/>
              </a:ext>
            </a:extLst>
          </p:cNvPr>
          <p:cNvSpPr txBox="1">
            <a:spLocks/>
          </p:cNvSpPr>
          <p:nvPr/>
        </p:nvSpPr>
        <p:spPr>
          <a:xfrm>
            <a:off x="6674833" y="6621183"/>
            <a:ext cx="2080286" cy="20898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it-IT" sz="800">
                <a:solidFill>
                  <a:schemeClr val="bg1">
                    <a:lumMod val="75000"/>
                  </a:schemeClr>
                </a:solidFill>
              </a:rPr>
              <a:t>Image source: Internet</a:t>
            </a:r>
            <a:endParaRPr lang="en-SG" sz="800">
              <a:solidFill>
                <a:schemeClr val="bg1">
                  <a:lumMod val="75000"/>
                </a:schemeClr>
              </a:solidFill>
            </a:endParaRPr>
          </a:p>
        </p:txBody>
      </p:sp>
      <p:cxnSp>
        <p:nvCxnSpPr>
          <p:cNvPr id="8" name="Straight Connector 7">
            <a:extLst>
              <a:ext uri="{FF2B5EF4-FFF2-40B4-BE49-F238E27FC236}">
                <a16:creationId xmlns:a16="http://schemas.microsoft.com/office/drawing/2014/main" id="{9DBC6745-3BCF-A390-253E-F4813638DFA9}"/>
              </a:ext>
            </a:extLst>
          </p:cNvPr>
          <p:cNvCxnSpPr>
            <a:cxnSpLocks/>
          </p:cNvCxnSpPr>
          <p:nvPr/>
        </p:nvCxnSpPr>
        <p:spPr>
          <a:xfrm>
            <a:off x="560738" y="4756049"/>
            <a:ext cx="6372000" cy="0"/>
          </a:xfrm>
          <a:prstGeom prst="line">
            <a:avLst/>
          </a:prstGeom>
          <a:ln w="28575">
            <a:gradFill flip="none" rotWithShape="1">
              <a:gsLst>
                <a:gs pos="0">
                  <a:srgbClr val="C32B61"/>
                </a:gs>
                <a:gs pos="100000">
                  <a:schemeClr val="bg1"/>
                </a:gs>
              </a:gsLst>
              <a:path path="circle">
                <a:fillToRect r="100000" b="100000"/>
              </a:path>
              <a:tileRect l="-100000" t="-100000"/>
            </a:gra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BCB7D19-505B-2F41-2E00-C4AA6C50ECD7}"/>
              </a:ext>
            </a:extLst>
          </p:cNvPr>
          <p:cNvSpPr txBox="1"/>
          <p:nvPr/>
        </p:nvSpPr>
        <p:spPr>
          <a:xfrm>
            <a:off x="453832" y="4037619"/>
            <a:ext cx="2531462" cy="523220"/>
          </a:xfrm>
          <a:prstGeom prst="rect">
            <a:avLst/>
          </a:prstGeom>
          <a:noFill/>
        </p:spPr>
        <p:txBody>
          <a:bodyPr wrap="none" rtlCol="0">
            <a:spAutoFit/>
          </a:bodyPr>
          <a:lstStyle/>
          <a:p>
            <a:r>
              <a:rPr lang="en-US" sz="2800" b="1" dirty="0">
                <a:solidFill>
                  <a:schemeClr val="accent1">
                    <a:lumMod val="75000"/>
                  </a:schemeClr>
                </a:solidFill>
              </a:rPr>
              <a:t>Team Data Pack</a:t>
            </a:r>
          </a:p>
        </p:txBody>
      </p:sp>
    </p:spTree>
    <p:extLst>
      <p:ext uri="{BB962C8B-B14F-4D97-AF65-F5344CB8AC3E}">
        <p14:creationId xmlns:p14="http://schemas.microsoft.com/office/powerpoint/2010/main" val="225541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B7FF8-0510-010A-3968-0A9601694D82}"/>
              </a:ext>
            </a:extLst>
          </p:cNvPr>
          <p:cNvSpPr>
            <a:spLocks noGrp="1"/>
          </p:cNvSpPr>
          <p:nvPr>
            <p:ph type="title"/>
          </p:nvPr>
        </p:nvSpPr>
        <p:spPr/>
        <p:txBody>
          <a:bodyPr/>
          <a:lstStyle/>
          <a:p>
            <a:endParaRPr lang="en-US" dirty="0"/>
          </a:p>
        </p:txBody>
      </p:sp>
      <p:sp>
        <p:nvSpPr>
          <p:cNvPr id="3" name="Footer Placeholder 2">
            <a:extLst>
              <a:ext uri="{FF2B5EF4-FFF2-40B4-BE49-F238E27FC236}">
                <a16:creationId xmlns:a16="http://schemas.microsoft.com/office/drawing/2014/main" id="{185AE85A-E189-A91E-61AE-FC6C1B5DFB6F}"/>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E0949E30-057D-9322-00FE-8763BF018580}"/>
              </a:ext>
            </a:extLst>
          </p:cNvPr>
          <p:cNvSpPr>
            <a:spLocks noGrp="1"/>
          </p:cNvSpPr>
          <p:nvPr>
            <p:ph type="sldNum" sz="quarter" idx="12"/>
          </p:nvPr>
        </p:nvSpPr>
        <p:spPr/>
        <p:txBody>
          <a:bodyPr/>
          <a:lstStyle/>
          <a:p>
            <a:fld id="{BF1758FF-0BF1-4103-A89A-38EC40E85429}" type="slidenum">
              <a:rPr lang="en-SG" smtClean="0"/>
              <a:t>2</a:t>
            </a:fld>
            <a:endParaRPr lang="en-SG"/>
          </a:p>
        </p:txBody>
      </p:sp>
      <p:graphicFrame>
        <p:nvGraphicFramePr>
          <p:cNvPr id="8" name="Table 7">
            <a:extLst>
              <a:ext uri="{FF2B5EF4-FFF2-40B4-BE49-F238E27FC236}">
                <a16:creationId xmlns:a16="http://schemas.microsoft.com/office/drawing/2014/main" id="{F338C86F-D45C-E6F1-8BB4-2422237366E1}"/>
              </a:ext>
            </a:extLst>
          </p:cNvPr>
          <p:cNvGraphicFramePr>
            <a:graphicFrameLocks noGrp="1"/>
          </p:cNvGraphicFramePr>
          <p:nvPr>
            <p:extLst>
              <p:ext uri="{D42A27DB-BD31-4B8C-83A1-F6EECF244321}">
                <p14:modId xmlns:p14="http://schemas.microsoft.com/office/powerpoint/2010/main" val="1693356872"/>
              </p:ext>
            </p:extLst>
          </p:nvPr>
        </p:nvGraphicFramePr>
        <p:xfrm>
          <a:off x="85725" y="-16298"/>
          <a:ext cx="12020550" cy="6997065"/>
        </p:xfrm>
        <a:graphic>
          <a:graphicData uri="http://schemas.openxmlformats.org/drawingml/2006/table">
            <a:tbl>
              <a:tblPr bandRow="1">
                <a:tableStyleId>{5C22544A-7EE6-4342-B048-85BDC9FD1C3A}</a:tableStyleId>
              </a:tblPr>
              <a:tblGrid>
                <a:gridCol w="1323975">
                  <a:extLst>
                    <a:ext uri="{9D8B030D-6E8A-4147-A177-3AD203B41FA5}">
                      <a16:colId xmlns:a16="http://schemas.microsoft.com/office/drawing/2014/main" val="2304975329"/>
                    </a:ext>
                  </a:extLst>
                </a:gridCol>
                <a:gridCol w="1323975">
                  <a:extLst>
                    <a:ext uri="{9D8B030D-6E8A-4147-A177-3AD203B41FA5}">
                      <a16:colId xmlns:a16="http://schemas.microsoft.com/office/drawing/2014/main" val="943214960"/>
                    </a:ext>
                  </a:extLst>
                </a:gridCol>
                <a:gridCol w="1323975">
                  <a:extLst>
                    <a:ext uri="{9D8B030D-6E8A-4147-A177-3AD203B41FA5}">
                      <a16:colId xmlns:a16="http://schemas.microsoft.com/office/drawing/2014/main" val="269889821"/>
                    </a:ext>
                  </a:extLst>
                </a:gridCol>
                <a:gridCol w="1323975">
                  <a:extLst>
                    <a:ext uri="{9D8B030D-6E8A-4147-A177-3AD203B41FA5}">
                      <a16:colId xmlns:a16="http://schemas.microsoft.com/office/drawing/2014/main" val="390409213"/>
                    </a:ext>
                  </a:extLst>
                </a:gridCol>
                <a:gridCol w="1323975">
                  <a:extLst>
                    <a:ext uri="{9D8B030D-6E8A-4147-A177-3AD203B41FA5}">
                      <a16:colId xmlns:a16="http://schemas.microsoft.com/office/drawing/2014/main" val="3641896622"/>
                    </a:ext>
                  </a:extLst>
                </a:gridCol>
                <a:gridCol w="1323975">
                  <a:extLst>
                    <a:ext uri="{9D8B030D-6E8A-4147-A177-3AD203B41FA5}">
                      <a16:colId xmlns:a16="http://schemas.microsoft.com/office/drawing/2014/main" val="2997266879"/>
                    </a:ext>
                  </a:extLst>
                </a:gridCol>
                <a:gridCol w="1323975">
                  <a:extLst>
                    <a:ext uri="{9D8B030D-6E8A-4147-A177-3AD203B41FA5}">
                      <a16:colId xmlns:a16="http://schemas.microsoft.com/office/drawing/2014/main" val="4094661857"/>
                    </a:ext>
                  </a:extLst>
                </a:gridCol>
                <a:gridCol w="2752725">
                  <a:extLst>
                    <a:ext uri="{9D8B030D-6E8A-4147-A177-3AD203B41FA5}">
                      <a16:colId xmlns:a16="http://schemas.microsoft.com/office/drawing/2014/main" val="1438518715"/>
                    </a:ext>
                  </a:extLst>
                </a:gridCol>
              </a:tblGrid>
              <a:tr h="285750">
                <a:tc rowSpan="2" gridSpan="3">
                  <a:txBody>
                    <a:bodyPr/>
                    <a:lstStyle/>
                    <a:p>
                      <a:pPr algn="l" fontAlgn="base">
                        <a:lnSpc>
                          <a:spcPts val="2175"/>
                        </a:lnSpc>
                        <a:buNone/>
                      </a:pPr>
                      <a:r>
                        <a:rPr lang="en-US" sz="1800" b="1" i="0" dirty="0">
                          <a:solidFill>
                            <a:srgbClr val="000000"/>
                          </a:solidFill>
                          <a:effectLst/>
                          <a:latin typeface="Arial"/>
                        </a:rPr>
                        <a:t>Data Science Canvas</a:t>
                      </a:r>
                      <a:endParaRPr lang="en-US" b="0" i="0" dirty="0">
                        <a:solidFill>
                          <a:srgbClr val="000000"/>
                        </a:solidFill>
                        <a:effectLst/>
                        <a:latin typeface="Arial"/>
                      </a:endParaRPr>
                    </a:p>
                  </a:txBody>
                  <a:tcPr anchor="ct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rowSpan="2" hMerge="1">
                  <a:txBody>
                    <a:bodyPr/>
                    <a:lstStyle/>
                    <a:p>
                      <a:endParaRPr lang="en-US"/>
                    </a:p>
                  </a:txBody>
                  <a:tcPr/>
                </a:tc>
                <a:tc rowSpan="2" hMerge="1">
                  <a:txBody>
                    <a:bodyPr/>
                    <a:lstStyle/>
                    <a:p>
                      <a:endParaRPr lang="en-US"/>
                    </a:p>
                  </a:txBody>
                  <a:tcPr/>
                </a:tc>
                <a:tc>
                  <a:txBody>
                    <a:bodyPr/>
                    <a:lstStyle/>
                    <a:p>
                      <a:pPr algn="l" fontAlgn="base">
                        <a:lnSpc>
                          <a:spcPts val="1650"/>
                        </a:lnSpc>
                        <a:buNone/>
                      </a:pPr>
                      <a:r>
                        <a:rPr lang="en-US" sz="1400" b="1" i="0" dirty="0">
                          <a:solidFill>
                            <a:srgbClr val="000000"/>
                          </a:solidFill>
                          <a:effectLst/>
                          <a:latin typeface="Arial"/>
                        </a:rPr>
                        <a:t>Project:</a:t>
                      </a:r>
                      <a:endParaRPr lang="en-US"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gridSpan="4">
                  <a:txBody>
                    <a:bodyPr/>
                    <a:lstStyle/>
                    <a:p>
                      <a:pPr fontAlgn="t">
                        <a:buNone/>
                      </a:pPr>
                      <a:r>
                        <a:rPr lang="en-US" sz="1400" b="1" i="0" dirty="0"/>
                        <a:t>Auto-Insight: Predicting Ownership, Usage, Price and Insights from Indian Car Listings</a:t>
                      </a:r>
                      <a:endParaRPr lang="en-US" sz="1400" b="1" i="0" dirty="0">
                        <a:effectLs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6487680"/>
                  </a:ext>
                </a:extLst>
              </a:tr>
              <a:tr h="285750">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ase">
                        <a:lnSpc>
                          <a:spcPts val="1650"/>
                        </a:lnSpc>
                        <a:buNone/>
                      </a:pPr>
                      <a:r>
                        <a:rPr lang="en-US" sz="1400" b="1" i="0" dirty="0">
                          <a:solidFill>
                            <a:srgbClr val="000000"/>
                          </a:solidFill>
                          <a:effectLst/>
                          <a:latin typeface="Arial"/>
                        </a:rPr>
                        <a:t>Team:</a:t>
                      </a:r>
                      <a:endParaRPr lang="en-US"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gridSpan="4">
                  <a:txBody>
                    <a:bodyPr/>
                    <a:lstStyle/>
                    <a:p>
                      <a:pPr fontAlgn="t">
                        <a:buNone/>
                      </a:pPr>
                      <a:r>
                        <a:rPr lang="en-US" dirty="0">
                          <a:effectLst/>
                        </a:rPr>
                        <a:t>Team Data Pack</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2163534"/>
                  </a:ext>
                </a:extLst>
              </a:tr>
              <a:tr h="352425">
                <a:tc gridSpan="4">
                  <a:txBody>
                    <a:bodyPr/>
                    <a:lstStyle/>
                    <a:p>
                      <a:pPr algn="ctr" fontAlgn="base">
                        <a:lnSpc>
                          <a:spcPts val="1950"/>
                        </a:lnSpc>
                        <a:buNone/>
                      </a:pPr>
                      <a:r>
                        <a:rPr lang="en-US" sz="1600" b="1" i="0" dirty="0">
                          <a:solidFill>
                            <a:srgbClr val="000000"/>
                          </a:solidFill>
                          <a:effectLst/>
                          <a:latin typeface="Arial"/>
                        </a:rPr>
                        <a:t>Problem Statement</a:t>
                      </a:r>
                      <a:endParaRPr lang="en-US"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ase">
                        <a:lnSpc>
                          <a:spcPts val="1950"/>
                        </a:lnSpc>
                        <a:buNone/>
                      </a:pPr>
                      <a:r>
                        <a:rPr lang="en-SG" sz="1600" b="1" i="0" dirty="0">
                          <a:solidFill>
                            <a:srgbClr val="000000"/>
                          </a:solidFill>
                          <a:effectLst/>
                          <a:latin typeface="Arial"/>
                        </a:rPr>
                        <a:t>Execution &amp; Evaluation</a:t>
                      </a:r>
                      <a:endParaRPr lang="en-SG"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gridSpan="2">
                  <a:txBody>
                    <a:bodyPr/>
                    <a:lstStyle/>
                    <a:p>
                      <a:pPr algn="ctr" fontAlgn="base">
                        <a:lnSpc>
                          <a:spcPts val="1650"/>
                        </a:lnSpc>
                        <a:buNone/>
                      </a:pPr>
                      <a:r>
                        <a:rPr lang="en-SG" sz="1400" b="1" i="0" dirty="0">
                          <a:solidFill>
                            <a:srgbClr val="000000"/>
                          </a:solidFill>
                          <a:effectLst/>
                          <a:latin typeface="Arial"/>
                        </a:rPr>
                        <a:t>Data Collection &amp; Preparation</a:t>
                      </a:r>
                      <a:endParaRPr lang="en-SG"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754966913"/>
                  </a:ext>
                </a:extLst>
              </a:tr>
              <a:tr h="2590755">
                <a:tc rowSpan="2">
                  <a:txBody>
                    <a:bodyPr/>
                    <a:lstStyle/>
                    <a:p>
                      <a:pPr algn="l" fontAlgn="base">
                        <a:lnSpc>
                          <a:spcPts val="1200"/>
                        </a:lnSpc>
                        <a:buNone/>
                      </a:pPr>
                      <a:r>
                        <a:rPr lang="en-US" sz="1000" b="1" i="0" dirty="0">
                          <a:solidFill>
                            <a:srgbClr val="000000"/>
                          </a:solidFill>
                          <a:effectLst/>
                          <a:latin typeface="Arial"/>
                        </a:rPr>
                        <a:t>Business Case &amp; Value Added</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Provide data-driven insights into the Indian used-car market.</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Identify what factors most influence resale price</a:t>
                      </a: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Help buyers &amp; sellers make informed decisions and get fair prices.</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Build reusable ML pipelines.</a:t>
                      </a: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4">
                  <a:txBody>
                    <a:bodyPr/>
                    <a:lstStyle/>
                    <a:p>
                      <a:pPr algn="l" fontAlgn="base">
                        <a:lnSpc>
                          <a:spcPts val="1200"/>
                        </a:lnSpc>
                        <a:buNone/>
                      </a:pPr>
                      <a:r>
                        <a:rPr lang="en-US" sz="1000" b="1" i="0" dirty="0">
                          <a:solidFill>
                            <a:srgbClr val="000000"/>
                          </a:solidFill>
                          <a:effectLst/>
                          <a:latin typeface="Arial"/>
                        </a:rPr>
                        <a:t>Model Selection</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Regression models for price prediction (Linear Regression, Random Forest, </a:t>
                      </a:r>
                      <a:r>
                        <a:rPr lang="en-US" sz="1000" b="0" i="0" u="none" strike="noStrike" noProof="0" dirty="0" err="1">
                          <a:solidFill>
                            <a:srgbClr val="000000"/>
                          </a:solidFill>
                          <a:effectLst/>
                        </a:rPr>
                        <a:t>XGBoost</a:t>
                      </a:r>
                      <a:r>
                        <a:rPr lang="en-US" sz="1000" b="0" i="0" u="none" strike="noStrike" noProof="0" dirty="0">
                          <a:solidFill>
                            <a:srgbClr val="000000"/>
                          </a:solidFill>
                          <a:effectLst/>
                        </a:rPr>
                        <a:t>, </a:t>
                      </a:r>
                      <a:r>
                        <a:rPr lang="en-US" sz="1000" b="0" i="0" u="none" strike="noStrike" noProof="0" dirty="0" err="1">
                          <a:solidFill>
                            <a:srgbClr val="000000"/>
                          </a:solidFill>
                          <a:effectLst/>
                        </a:rPr>
                        <a:t>LightGBM</a:t>
                      </a:r>
                      <a:r>
                        <a:rPr lang="en-US" sz="1000" b="0" i="0" u="none" strike="noStrike" noProof="0" dirty="0">
                          <a:solidFill>
                            <a:srgbClr val="000000"/>
                          </a:solidFill>
                          <a:effectLst/>
                        </a:rPr>
                        <a:t> , AdaBoost, Decision tree, Weighted Ensemble)</a:t>
                      </a: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000" b="1" i="0" dirty="0">
                          <a:solidFill>
                            <a:srgbClr val="000000"/>
                          </a:solidFill>
                          <a:effectLst/>
                          <a:latin typeface="Arial"/>
                        </a:rPr>
                        <a:t>Model Requirements</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Numerical and categorical feature handling.</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Minimal missing values or well-defined imputation logic.</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Sufficient distribution of target values (price).</a:t>
                      </a: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4">
                  <a:txBody>
                    <a:bodyPr/>
                    <a:lstStyle/>
                    <a:p>
                      <a:pPr algn="l" fontAlgn="base">
                        <a:lnSpc>
                          <a:spcPts val="1200"/>
                        </a:lnSpc>
                        <a:buNone/>
                      </a:pPr>
                      <a:r>
                        <a:rPr lang="en-US" sz="1000" b="1" i="0" dirty="0">
                          <a:solidFill>
                            <a:srgbClr val="000000"/>
                          </a:solidFill>
                          <a:effectLst/>
                          <a:latin typeface="Arial"/>
                        </a:rPr>
                        <a:t>Skills</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Data wrangling, EDA, and cleaning.</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Understanding of regression and ML modeling.</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Feature engineering Model evaluation using metrics (MAE, RMSE, R²).</a:t>
                      </a:r>
                      <a:endParaRPr lang="en-US" dirty="0"/>
                    </a:p>
                    <a:p>
                      <a:pPr marL="285750" lvl="0" indent="-285750" algn="l">
                        <a:lnSpc>
                          <a:spcPct val="100000"/>
                        </a:lnSpc>
                        <a:spcBef>
                          <a:spcPts val="0"/>
                        </a:spcBef>
                        <a:spcAft>
                          <a:spcPts val="0"/>
                        </a:spcAft>
                        <a:buFont typeface="Arial"/>
                        <a:buChar char="•"/>
                      </a:pPr>
                      <a:r>
                        <a:rPr lang="en-US" sz="1000" b="0" i="0" u="none" strike="noStrike" noProof="0" dirty="0" err="1">
                          <a:solidFill>
                            <a:srgbClr val="000000"/>
                          </a:solidFill>
                          <a:effectLst/>
                        </a:rPr>
                        <a:t>Visualizationskills</a:t>
                      </a:r>
                      <a:r>
                        <a:rPr lang="en-US" sz="1000" b="0" i="0" u="none" strike="noStrike" noProof="0" dirty="0">
                          <a:solidFill>
                            <a:srgbClr val="000000"/>
                          </a:solidFill>
                          <a:effectLst/>
                        </a:rPr>
                        <a:t>.</a:t>
                      </a:r>
                      <a:endParaRPr lang="en-US" dirty="0"/>
                    </a:p>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4">
                  <a:txBody>
                    <a:bodyPr/>
                    <a:lstStyle/>
                    <a:p>
                      <a:pPr algn="l" fontAlgn="base">
                        <a:lnSpc>
                          <a:spcPts val="1200"/>
                        </a:lnSpc>
                        <a:buNone/>
                      </a:pPr>
                      <a:r>
                        <a:rPr lang="en-US" sz="1000" b="1" i="0" dirty="0">
                          <a:solidFill>
                            <a:srgbClr val="000000"/>
                          </a:solidFill>
                          <a:effectLst/>
                          <a:latin typeface="Arial"/>
                        </a:rPr>
                        <a:t>Model Evaluation</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1" i="0" u="none" strike="noStrike" noProof="0" dirty="0">
                          <a:solidFill>
                            <a:srgbClr val="000000"/>
                          </a:solidFill>
                          <a:effectLst/>
                        </a:rPr>
                        <a:t>Regression:</a:t>
                      </a:r>
                      <a:r>
                        <a:rPr lang="en-US" sz="1000" b="0" i="0" u="none" strike="noStrike" noProof="0" dirty="0">
                          <a:solidFill>
                            <a:srgbClr val="000000"/>
                          </a:solidFill>
                          <a:effectLst/>
                        </a:rPr>
                        <a:t> MAE, RMSE, R².</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Compare models against baseline (mean/median predictor).</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Monitor prediction stability across car segments (brand, fuel type, age).</a:t>
                      </a: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4">
                  <a:txBody>
                    <a:bodyPr/>
                    <a:lstStyle/>
                    <a:p>
                      <a:pPr algn="l" fontAlgn="base">
                        <a:lnSpc>
                          <a:spcPts val="1200"/>
                        </a:lnSpc>
                        <a:buNone/>
                      </a:pPr>
                      <a:r>
                        <a:rPr lang="en-US" sz="1000" b="1" i="0" dirty="0">
                          <a:solidFill>
                            <a:srgbClr val="000000"/>
                          </a:solidFill>
                          <a:effectLst/>
                          <a:latin typeface="Arial"/>
                        </a:rPr>
                        <a:t>Data Storytelling</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Present insights using clear and intuitive visualizations:</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Price vs. mileage</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Price vs. year</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Brand-wise median price</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Feature importance graph</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Tailor communication for non-technical audience.</a:t>
                      </a: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3">
                  <a:txBody>
                    <a:bodyPr/>
                    <a:lstStyle/>
                    <a:p>
                      <a:pPr algn="l" fontAlgn="base">
                        <a:lnSpc>
                          <a:spcPts val="1200"/>
                        </a:lnSpc>
                        <a:buNone/>
                      </a:pPr>
                      <a:r>
                        <a:rPr lang="en-US" sz="1000" b="1" i="0" dirty="0">
                          <a:solidFill>
                            <a:srgbClr val="000000"/>
                          </a:solidFill>
                          <a:effectLst/>
                          <a:latin typeface="Arial"/>
                        </a:rPr>
                        <a:t>Data Selection &amp; Cleansing</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Drop duplicates and invalid entries.</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Standardize units </a:t>
                      </a: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Handle missing values using median/mode imputation.</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Remove extreme outliers </a:t>
                      </a: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Convert text columns into numeric features using parsing &amp; encoding.</a:t>
                      </a:r>
                      <a:endParaRPr lang="en-US" dirty="0"/>
                    </a:p>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3">
                  <a:txBody>
                    <a:bodyPr/>
                    <a:lstStyle/>
                    <a:p>
                      <a:pPr algn="l" fontAlgn="base">
                        <a:lnSpc>
                          <a:spcPts val="1200"/>
                        </a:lnSpc>
                        <a:buNone/>
                      </a:pPr>
                      <a:r>
                        <a:rPr lang="en-US" sz="1000" b="1" i="0" dirty="0">
                          <a:solidFill>
                            <a:srgbClr val="000000"/>
                          </a:solidFill>
                          <a:effectLst/>
                          <a:latin typeface="Arial"/>
                        </a:rPr>
                        <a:t>Data Collection</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Primary dataset from Kaggle.</a:t>
                      </a:r>
                      <a:endParaRPr lang="en-US" dirty="0"/>
                    </a:p>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90330776"/>
                  </a:ext>
                </a:extLst>
              </a:tr>
              <a:tr h="324853">
                <a:tc vMerge="1">
                  <a:txBody>
                    <a:bodyPr/>
                    <a:lstStyle/>
                    <a:p>
                      <a:pPr marL="285750" lvl="0" indent="-285750" algn="l">
                        <a:lnSpc>
                          <a:spcPct val="100000"/>
                        </a:lnSpc>
                        <a:spcBef>
                          <a:spcPts val="0"/>
                        </a:spcBef>
                        <a:spcAft>
                          <a:spcPts val="0"/>
                        </a:spcAft>
                        <a:buFont typeface="Arial"/>
                        <a:buChar char="•"/>
                      </a:pP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rowSpan="3">
                  <a:txBody>
                    <a:bodyPr/>
                    <a:lstStyle/>
                    <a:p>
                      <a:pPr algn="l" fontAlgn="base">
                        <a:lnSpc>
                          <a:spcPts val="1200"/>
                        </a:lnSpc>
                        <a:buNone/>
                      </a:pPr>
                      <a:r>
                        <a:rPr lang="en-US" sz="1000" b="1" i="0" dirty="0">
                          <a:solidFill>
                            <a:srgbClr val="000000"/>
                          </a:solidFill>
                          <a:effectLst/>
                          <a:latin typeface="Arial"/>
                        </a:rPr>
                        <a:t>Software &amp; Libraries</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Python (Pandas, NumPy)</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Scikit-learn</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Matplotlib, Seaborn</a:t>
                      </a:r>
                    </a:p>
                    <a:p>
                      <a:pPr marL="285750" lvl="0" indent="-285750" algn="l">
                        <a:lnSpc>
                          <a:spcPct val="100000"/>
                        </a:lnSpc>
                        <a:spcBef>
                          <a:spcPts val="0"/>
                        </a:spcBef>
                        <a:spcAft>
                          <a:spcPts val="0"/>
                        </a:spcAft>
                        <a:buFont typeface="Arial"/>
                        <a:buChar char="•"/>
                      </a:pPr>
                      <a:r>
                        <a:rPr lang="en-US" sz="1000" b="0" i="0" u="none" strike="noStrike" noProof="0" dirty="0" err="1">
                          <a:solidFill>
                            <a:srgbClr val="000000"/>
                          </a:solidFill>
                          <a:effectLst/>
                        </a:rPr>
                        <a:t>Streamlit</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Google </a:t>
                      </a:r>
                      <a:r>
                        <a:rPr lang="en-US" sz="1000" b="0" i="0" u="none" strike="noStrike" noProof="0" dirty="0" err="1">
                          <a:solidFill>
                            <a:srgbClr val="000000"/>
                          </a:solidFill>
                          <a:effectLst/>
                        </a:rPr>
                        <a:t>Colab</a:t>
                      </a:r>
                      <a:r>
                        <a:rPr lang="en-US" sz="1000" b="0" i="0" u="none" strike="noStrike" noProof="0" dirty="0">
                          <a:solidFill>
                            <a:srgbClr val="000000"/>
                          </a:solidFill>
                          <a:effectLst/>
                        </a:rPr>
                        <a:t> / </a:t>
                      </a:r>
                      <a:r>
                        <a:rPr lang="en-US" sz="1000" b="0" i="0" u="none" strike="noStrike" noProof="0" dirty="0" err="1">
                          <a:solidFill>
                            <a:srgbClr val="000000"/>
                          </a:solidFill>
                          <a:effectLst/>
                        </a:rPr>
                        <a:t>Jupyter</a:t>
                      </a:r>
                      <a:r>
                        <a:rPr lang="en-US" sz="1000" b="0" i="0" u="none" strike="noStrike" noProof="0" dirty="0">
                          <a:solidFill>
                            <a:srgbClr val="000000"/>
                          </a:solidFill>
                          <a:effectLst/>
                        </a:rPr>
                        <a:t> Notebook</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GitHub for collaboration</a:t>
                      </a: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6192373"/>
                  </a:ext>
                </a:extLst>
              </a:tr>
              <a:tr h="223832">
                <a:tc rowSpan="2">
                  <a:txBody>
                    <a:bodyPr/>
                    <a:lstStyle/>
                    <a:p>
                      <a:pPr algn="l" fontAlgn="base">
                        <a:lnSpc>
                          <a:spcPts val="1200"/>
                        </a:lnSpc>
                        <a:buNone/>
                      </a:pPr>
                      <a:r>
                        <a:rPr lang="en-US" sz="1000" b="1" i="0" dirty="0">
                          <a:solidFill>
                            <a:srgbClr val="000000"/>
                          </a:solidFill>
                          <a:effectLst/>
                          <a:latin typeface="Arial"/>
                        </a:rPr>
                        <a:t>Data Landscape</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1" i="0" u="none" strike="noStrike" noProof="0" dirty="0">
                          <a:solidFill>
                            <a:srgbClr val="000000"/>
                          </a:solidFill>
                          <a:effectLst/>
                        </a:rPr>
                        <a:t>Available:</a:t>
                      </a:r>
                      <a:r>
                        <a:rPr lang="en-US" sz="1000" b="0" i="0" u="none" strike="noStrike" noProof="0" dirty="0">
                          <a:solidFill>
                            <a:srgbClr val="000000"/>
                          </a:solidFill>
                          <a:effectLst/>
                        </a:rPr>
                        <a:t> Kaggle car dataset — 140K rows, 12 fields.</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Includes: Brand, Model name, year, price, km driven, fuel, transmission, owner.</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Brand category mapping</a:t>
                      </a: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01398653"/>
                  </a:ext>
                </a:extLst>
              </a:tr>
              <a:tr h="2790825">
                <a:tc vMerge="1">
                  <a:txBody>
                    <a:bodyPr/>
                    <a:lstStyle/>
                    <a:p>
                      <a:pPr algn="l" fontAlgn="base">
                        <a:lnSpc>
                          <a:spcPts val="1200"/>
                        </a:lnSpc>
                        <a:buNone/>
                      </a:pPr>
                      <a:r>
                        <a:rPr lang="en-US" sz="1000" b="1" i="0" dirty="0">
                          <a:solidFill>
                            <a:srgbClr val="000000"/>
                          </a:solidFill>
                          <a:effectLst/>
                          <a:latin typeface="Arial"/>
                        </a:rPr>
                        <a:t>Data Landscape</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1" i="0" u="none" strike="noStrike" noProof="0" dirty="0">
                          <a:solidFill>
                            <a:srgbClr val="000000"/>
                          </a:solidFill>
                          <a:effectLst/>
                        </a:rPr>
                        <a:t>Available:</a:t>
                      </a:r>
                      <a:r>
                        <a:rPr lang="en-US" sz="1000" b="0" i="0" u="none" strike="noStrike" noProof="0" dirty="0">
                          <a:solidFill>
                            <a:srgbClr val="000000"/>
                          </a:solidFill>
                          <a:effectLst/>
                        </a:rPr>
                        <a:t> Kaggle car dataset — 140K rows, 12 fields.</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Includes: Brand, Model name, year, price, km driven, fuel, transmission, owner.</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Brand category mapping</a:t>
                      </a:r>
                      <a:endParaRPr lang="en-US" dirty="0"/>
                    </a:p>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pPr algn="l" fontAlgn="base">
                        <a:lnSpc>
                          <a:spcPts val="1200"/>
                        </a:lnSpc>
                        <a:buNone/>
                      </a:pPr>
                      <a:r>
                        <a:rPr lang="en-US" sz="1000" b="1" i="0" dirty="0">
                          <a:solidFill>
                            <a:srgbClr val="000000"/>
                          </a:solidFill>
                          <a:effectLst/>
                          <a:latin typeface="Arial"/>
                        </a:rPr>
                        <a:t>Software &amp; Libraries</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Python (Pandas, NumPy)</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Scikit-learn</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Matplotlib, Seaborn</a:t>
                      </a:r>
                    </a:p>
                    <a:p>
                      <a:pPr marL="285750" lvl="0" indent="-285750" algn="l">
                        <a:lnSpc>
                          <a:spcPct val="100000"/>
                        </a:lnSpc>
                        <a:spcBef>
                          <a:spcPts val="0"/>
                        </a:spcBef>
                        <a:spcAft>
                          <a:spcPts val="0"/>
                        </a:spcAft>
                        <a:buFont typeface="Arial"/>
                        <a:buChar char="•"/>
                      </a:pPr>
                      <a:r>
                        <a:rPr lang="en-US" sz="1000" b="0" i="0" u="none" strike="noStrike" noProof="0" dirty="0" err="1">
                          <a:solidFill>
                            <a:srgbClr val="000000"/>
                          </a:solidFill>
                          <a:effectLst/>
                        </a:rPr>
                        <a:t>Streamlit</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Google Colab / </a:t>
                      </a:r>
                      <a:r>
                        <a:rPr lang="en-US" sz="1000" b="0" i="0" u="none" strike="noStrike" noProof="0" dirty="0" err="1">
                          <a:solidFill>
                            <a:srgbClr val="000000"/>
                          </a:solidFill>
                          <a:effectLst/>
                        </a:rPr>
                        <a:t>Jupyter</a:t>
                      </a:r>
                      <a:r>
                        <a:rPr lang="en-US" sz="1000" b="0" i="0" u="none" strike="noStrike" noProof="0" dirty="0">
                          <a:solidFill>
                            <a:srgbClr val="000000"/>
                          </a:solidFill>
                          <a:effectLst/>
                        </a:rPr>
                        <a:t> Notebook</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GitHub for collaboration</a:t>
                      </a:r>
                      <a:endParaRPr lang="en-US" dirty="0"/>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base">
                        <a:lnSpc>
                          <a:spcPts val="1200"/>
                        </a:lnSpc>
                        <a:buNone/>
                      </a:pPr>
                      <a:r>
                        <a:rPr lang="en-US" sz="1000" b="1" i="0" dirty="0">
                          <a:solidFill>
                            <a:srgbClr val="000000"/>
                          </a:solidFill>
                          <a:effectLst/>
                          <a:latin typeface="Arial"/>
                        </a:rPr>
                        <a:t>Data Integration</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Merge processed features into a </a:t>
                      </a:r>
                      <a:r>
                        <a:rPr lang="en-US" sz="1000" b="0" i="0" u="none" strike="noStrike" noProof="0" dirty="0" err="1">
                          <a:solidFill>
                            <a:srgbClr val="000000"/>
                          </a:solidFill>
                          <a:effectLst/>
                        </a:rPr>
                        <a:t>dataframe</a:t>
                      </a:r>
                      <a:r>
                        <a:rPr lang="en-US" sz="1000" b="0" i="0" u="none" strike="noStrike" noProof="0" dirty="0">
                          <a:solidFill>
                            <a:srgbClr val="000000"/>
                          </a:solidFill>
                          <a:effectLst/>
                        </a:rPr>
                        <a:t>.</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Create derived features (brand, age of car, mileage per year).</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Ensure consistency between numerical conversions and categorical encoding.</a:t>
                      </a:r>
                      <a:endParaRPr lang="en-US" dirty="0"/>
                    </a:p>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000" b="1" i="0" dirty="0">
                          <a:solidFill>
                            <a:srgbClr val="000000"/>
                          </a:solidFill>
                          <a:effectLst/>
                          <a:latin typeface="Arial"/>
                        </a:rPr>
                        <a:t>Explorative Data Analysis</a:t>
                      </a:r>
                      <a:endParaRPr lang="en-US" b="0" i="0" dirty="0">
                        <a:solidFill>
                          <a:srgbClr val="000000"/>
                        </a:solidFill>
                        <a:effectLst/>
                        <a:latin typeface="Arial"/>
                      </a:endParaRPr>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Identify distributions of numerical fields (price, km driven, year).</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Detect patterns, correlations, and feature relationships.</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Visualize: heatmaps, boxplots, scatterplots,.</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Identify outliers and unusual data clusters.</a:t>
                      </a:r>
                      <a:endParaRPr lang="en-US" dirty="0"/>
                    </a:p>
                    <a:p>
                      <a:pPr marL="285750" lvl="0" indent="-285750" algn="l">
                        <a:lnSpc>
                          <a:spcPct val="100000"/>
                        </a:lnSpc>
                        <a:spcBef>
                          <a:spcPts val="0"/>
                        </a:spcBef>
                        <a:spcAft>
                          <a:spcPts val="0"/>
                        </a:spcAft>
                        <a:buFont typeface="Arial"/>
                        <a:buChar char="•"/>
                      </a:pPr>
                      <a:r>
                        <a:rPr lang="en-US" sz="1000" b="0" i="0" u="none" strike="noStrike" noProof="0" dirty="0">
                          <a:solidFill>
                            <a:srgbClr val="000000"/>
                          </a:solidFill>
                          <a:effectLst/>
                        </a:rPr>
                        <a:t>Assess which features are likely strongest predictors.</a:t>
                      </a:r>
                      <a:endParaRPr lang="en-US" u="none" strike="noStrike" noProof="0" dirty="0"/>
                    </a:p>
                    <a:p>
                      <a:pPr lvl="0" algn="l">
                        <a:lnSpc>
                          <a:spcPts val="1200"/>
                        </a:lnSpc>
                        <a:buNone/>
                      </a:pPr>
                      <a:endParaRPr lang="en-US" sz="1000" b="0" i="0" dirty="0">
                        <a:solidFill>
                          <a:srgbClr val="000000"/>
                        </a:solidFill>
                        <a:effectLst/>
                        <a:latin typeface="Arial"/>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79018604"/>
                  </a:ext>
                </a:extLst>
              </a:tr>
            </a:tbl>
          </a:graphicData>
        </a:graphic>
      </p:graphicFrame>
    </p:spTree>
    <p:extLst>
      <p:ext uri="{BB962C8B-B14F-4D97-AF65-F5344CB8AC3E}">
        <p14:creationId xmlns:p14="http://schemas.microsoft.com/office/powerpoint/2010/main" val="3099171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a:xfrm>
            <a:off x="457200" y="410260"/>
            <a:ext cx="3200400" cy="2104007"/>
          </a:xfrm>
        </p:spPr>
        <p:txBody>
          <a:bodyPr>
            <a:normAutofit/>
          </a:bodyPr>
          <a:lstStyle/>
          <a:p>
            <a:r>
              <a:rPr lang="en-US" sz="3200" b="1">
                <a:solidFill>
                  <a:schemeClr val="bg1"/>
                </a:solidFill>
              </a:rPr>
              <a:t>Problem Definition</a:t>
            </a:r>
            <a:endParaRPr lang="en-SG" sz="32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a:xfrm>
            <a:off x="4417306" y="67709"/>
            <a:ext cx="7448365" cy="6237495"/>
          </a:xfrm>
        </p:spPr>
        <p:txBody>
          <a:bodyPr vert="horz" lIns="0" tIns="45720" rIns="0" bIns="45720" rtlCol="0" anchor="t">
            <a:normAutofit/>
          </a:bodyPr>
          <a:lstStyle/>
          <a:p>
            <a:pPr marL="215900" indent="-215900"/>
            <a:r>
              <a:rPr lang="en-US" dirty="0">
                <a:solidFill>
                  <a:schemeClr val="tx1"/>
                </a:solidFill>
                <a:latin typeface="Arial Nova"/>
              </a:rPr>
              <a:t>Background of the problem </a:t>
            </a:r>
          </a:p>
          <a:p>
            <a:pPr marL="669290" lvl="2">
              <a:lnSpc>
                <a:spcPct val="120000"/>
              </a:lnSpc>
              <a:buFont typeface="Courier New" panose="02070309020205020404" pitchFamily="49" charset="0"/>
              <a:buChar char="o"/>
            </a:pPr>
            <a:r>
              <a:rPr lang="en-US" sz="1400" dirty="0"/>
              <a:t>This project combines Exploratory Data Analysis (EDA) and Machine Learning (ML) to uncover patterns in vehicle attributes and build predictive models. Through EDA, we aim to understand key trends in pricing, usage, and ownership. Using ML, we will predict price and data driven insights for cars buyers.</a:t>
            </a:r>
            <a:endParaRPr lang="en-US" sz="1400" dirty="0">
              <a:solidFill>
                <a:schemeClr val="tx1"/>
              </a:solidFill>
            </a:endParaRPr>
          </a:p>
          <a:p>
            <a:pPr marL="215900" indent="-215900"/>
            <a:r>
              <a:rPr lang="en-US" dirty="0">
                <a:solidFill>
                  <a:schemeClr val="tx1"/>
                </a:solidFill>
                <a:latin typeface="Arial Nova"/>
              </a:rPr>
              <a:t>Why is it important? </a:t>
            </a:r>
          </a:p>
          <a:p>
            <a:pPr marL="669290" lvl="2">
              <a:lnSpc>
                <a:spcPct val="120000"/>
              </a:lnSpc>
              <a:buFont typeface="Courier New" panose="05050102010706020507" pitchFamily="18" charset="2"/>
              <a:buChar char="o"/>
            </a:pPr>
            <a:r>
              <a:rPr lang="en-US" sz="1400" dirty="0">
                <a:solidFill>
                  <a:schemeClr val="tx1"/>
                </a:solidFill>
              </a:rPr>
              <a:t>Reveals what truly affects a car’s value and resale potential.</a:t>
            </a:r>
          </a:p>
          <a:p>
            <a:pPr marL="669290" lvl="2">
              <a:lnSpc>
                <a:spcPct val="120000"/>
              </a:lnSpc>
              <a:buFont typeface="Courier New" panose="05050102010706020507" pitchFamily="18" charset="2"/>
              <a:buChar char="o"/>
            </a:pPr>
            <a:r>
              <a:rPr lang="en-US" sz="1400" dirty="0">
                <a:solidFill>
                  <a:schemeClr val="tx1"/>
                </a:solidFill>
              </a:rPr>
              <a:t>Helps standardize pricing using data-driven models.</a:t>
            </a:r>
          </a:p>
          <a:p>
            <a:pPr marL="669290" lvl="2">
              <a:lnSpc>
                <a:spcPct val="120000"/>
              </a:lnSpc>
              <a:buFont typeface="Courier New" panose="05050102010706020507" pitchFamily="18" charset="2"/>
              <a:buChar char="o"/>
            </a:pPr>
            <a:r>
              <a:rPr lang="en-US" sz="1400" dirty="0">
                <a:solidFill>
                  <a:schemeClr val="tx1"/>
                </a:solidFill>
              </a:rPr>
              <a:t>Supports smarter buying and selling decisions.</a:t>
            </a:r>
          </a:p>
          <a:p>
            <a:pPr marL="215900" indent="-215900"/>
            <a:r>
              <a:rPr lang="en-US" dirty="0">
                <a:solidFill>
                  <a:schemeClr val="tx1"/>
                </a:solidFill>
                <a:latin typeface="Arial Nova"/>
              </a:rPr>
              <a:t>Objectives of the project</a:t>
            </a:r>
          </a:p>
          <a:p>
            <a:pPr marL="669290" lvl="2">
              <a:lnSpc>
                <a:spcPct val="120000"/>
              </a:lnSpc>
              <a:buFont typeface="Courier New" panose="05050102010706020507" pitchFamily="18" charset="2"/>
              <a:buChar char="o"/>
            </a:pPr>
            <a:r>
              <a:rPr lang="en-US" sz="1400" dirty="0">
                <a:solidFill>
                  <a:schemeClr val="tx1"/>
                </a:solidFill>
              </a:rPr>
              <a:t>The main objective of this project is to explore different Machine Learning techniques to predict price of cars based on different features. We will explore different model design hypotheses and assess our models’ performance.</a:t>
            </a:r>
          </a:p>
          <a:p>
            <a:pPr marL="215900" indent="-215900"/>
            <a:r>
              <a:rPr lang="en-US" dirty="0">
                <a:solidFill>
                  <a:schemeClr val="tx1"/>
                </a:solidFill>
                <a:latin typeface="Arial Nova"/>
              </a:rPr>
              <a:t>How can Data Science solve the problem?</a:t>
            </a:r>
            <a:endParaRPr lang="en-US" dirty="0">
              <a:solidFill>
                <a:schemeClr val="tx1"/>
              </a:solidFill>
            </a:endParaRPr>
          </a:p>
          <a:p>
            <a:pPr marL="669290" lvl="2">
              <a:lnSpc>
                <a:spcPct val="120000"/>
              </a:lnSpc>
              <a:buFont typeface="Courier New" panose="05050102010706020507" pitchFamily="18" charset="2"/>
              <a:buChar char="o"/>
            </a:pPr>
            <a:r>
              <a:rPr lang="en-US" sz="1400" dirty="0">
                <a:solidFill>
                  <a:schemeClr val="tx1"/>
                </a:solidFill>
              </a:rPr>
              <a:t>Analyze trends in pricing, usage, and ownership.</a:t>
            </a:r>
          </a:p>
          <a:p>
            <a:pPr marL="669290" lvl="2">
              <a:lnSpc>
                <a:spcPct val="120000"/>
              </a:lnSpc>
              <a:buFont typeface="Courier New" panose="05050102010706020507" pitchFamily="18" charset="2"/>
              <a:buChar char="o"/>
            </a:pPr>
            <a:r>
              <a:rPr lang="en-US" sz="1400" dirty="0">
                <a:solidFill>
                  <a:schemeClr val="tx1"/>
                </a:solidFill>
              </a:rPr>
              <a:t>Predict key outcomes like resale price and ownership type using machine learning.</a:t>
            </a:r>
            <a:endParaRPr lang="en-US" sz="1400" dirty="0">
              <a:solidFill>
                <a:schemeClr val="tx1"/>
              </a:solidFill>
              <a:latin typeface="Arial Nova"/>
            </a:endParaRPr>
          </a:p>
          <a:p>
            <a:pPr marL="669290" lvl="2">
              <a:lnSpc>
                <a:spcPct val="120000"/>
              </a:lnSpc>
              <a:buFont typeface="Courier New" panose="05050102010706020507" pitchFamily="18" charset="2"/>
              <a:buChar char="o"/>
            </a:pPr>
            <a:endParaRPr lang="en-US" sz="1400" dirty="0">
              <a:solidFill>
                <a:schemeClr val="tx1"/>
              </a:solidFill>
            </a:endParaRPr>
          </a:p>
        </p:txBody>
      </p:sp>
      <p:sp>
        <p:nvSpPr>
          <p:cNvPr id="2" name="Text Placeholder 1">
            <a:extLst>
              <a:ext uri="{FF2B5EF4-FFF2-40B4-BE49-F238E27FC236}">
                <a16:creationId xmlns:a16="http://schemas.microsoft.com/office/drawing/2014/main" id="{31DE05C5-9146-463B-F6AF-96877169DCAB}"/>
              </a:ext>
            </a:extLst>
          </p:cNvPr>
          <p:cNvSpPr>
            <a:spLocks noGrp="1"/>
          </p:cNvSpPr>
          <p:nvPr>
            <p:ph type="body" sz="half" idx="2"/>
          </p:nvPr>
        </p:nvSpPr>
        <p:spPr/>
        <p:txBody>
          <a:bodyPr vert="horz" lIns="91440" tIns="45720" rIns="91440" bIns="45720" rtlCol="0" anchor="t">
            <a:normAutofit/>
          </a:bodyPr>
          <a:lstStyle/>
          <a:p>
            <a:endParaRPr lang="en-SG" dirty="0"/>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3</a:t>
            </a:fld>
            <a:endParaRPr lang="en-SG"/>
          </a:p>
        </p:txBody>
      </p:sp>
      <p:pic>
        <p:nvPicPr>
          <p:cNvPr id="4" name="Picture 3">
            <a:extLst>
              <a:ext uri="{FF2B5EF4-FFF2-40B4-BE49-F238E27FC236}">
                <a16:creationId xmlns:a16="http://schemas.microsoft.com/office/drawing/2014/main" id="{D859AF39-0068-3F2D-ED3B-58DC29CDCFF3}"/>
              </a:ext>
            </a:extLst>
          </p:cNvPr>
          <p:cNvPicPr>
            <a:picLocks noChangeAspect="1"/>
          </p:cNvPicPr>
          <p:nvPr/>
        </p:nvPicPr>
        <p:blipFill>
          <a:blip r:embed="rId2"/>
          <a:stretch>
            <a:fillRect/>
          </a:stretch>
        </p:blipFill>
        <p:spPr>
          <a:xfrm>
            <a:off x="457200" y="2926080"/>
            <a:ext cx="3200400" cy="3379124"/>
          </a:xfrm>
          <a:prstGeom prst="rect">
            <a:avLst/>
          </a:prstGeom>
        </p:spPr>
      </p:pic>
    </p:spTree>
    <p:extLst>
      <p:ext uri="{BB962C8B-B14F-4D97-AF65-F5344CB8AC3E}">
        <p14:creationId xmlns:p14="http://schemas.microsoft.com/office/powerpoint/2010/main" val="2909335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a:xfrm>
            <a:off x="457200" y="417251"/>
            <a:ext cx="3200400" cy="1009213"/>
          </a:xfrm>
        </p:spPr>
        <p:txBody>
          <a:bodyPr>
            <a:normAutofit fontScale="90000"/>
          </a:bodyPr>
          <a:lstStyle/>
          <a:p>
            <a:r>
              <a:rPr lang="en-US" sz="3200" b="1" dirty="0">
                <a:solidFill>
                  <a:schemeClr val="bg1"/>
                </a:solidFill>
              </a:rPr>
              <a:t>Data Collection and Preparation</a:t>
            </a:r>
            <a:endParaRPr lang="en-SG" sz="3200" dirty="0">
              <a:solidFill>
                <a:schemeClr val="bg1"/>
              </a:solidFill>
            </a:endParaRPr>
          </a:p>
        </p:txBody>
      </p:sp>
      <p:graphicFrame>
        <p:nvGraphicFramePr>
          <p:cNvPr id="16" name="Content Placeholder 8">
            <a:extLst>
              <a:ext uri="{FF2B5EF4-FFF2-40B4-BE49-F238E27FC236}">
                <a16:creationId xmlns:a16="http://schemas.microsoft.com/office/drawing/2014/main" id="{20292A78-DCF3-E1A8-ED6D-0CC03001F8DE}"/>
              </a:ext>
            </a:extLst>
          </p:cNvPr>
          <p:cNvGraphicFramePr>
            <a:graphicFrameLocks noGrp="1"/>
          </p:cNvGraphicFramePr>
          <p:nvPr>
            <p:ph idx="1"/>
            <p:extLst>
              <p:ext uri="{D42A27DB-BD31-4B8C-83A1-F6EECF244321}">
                <p14:modId xmlns:p14="http://schemas.microsoft.com/office/powerpoint/2010/main" val="4064658884"/>
              </p:ext>
            </p:extLst>
          </p:nvPr>
        </p:nvGraphicFramePr>
        <p:xfrm>
          <a:off x="4403324" y="417251"/>
          <a:ext cx="7448365" cy="58879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 Placeholder 1">
            <a:extLst>
              <a:ext uri="{FF2B5EF4-FFF2-40B4-BE49-F238E27FC236}">
                <a16:creationId xmlns:a16="http://schemas.microsoft.com/office/drawing/2014/main" id="{19A48096-C0AE-698A-3CC4-C5B75E4A533C}"/>
              </a:ext>
            </a:extLst>
          </p:cNvPr>
          <p:cNvSpPr>
            <a:spLocks noGrp="1"/>
          </p:cNvSpPr>
          <p:nvPr>
            <p:ph type="body" sz="half" idx="2"/>
          </p:nvPr>
        </p:nvSpPr>
        <p:spPr/>
        <p:txBody>
          <a:bodyPr/>
          <a:lstStyle/>
          <a:p>
            <a:endParaRPr lang="en-SG" dirty="0"/>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4</a:t>
            </a:fld>
            <a:endParaRPr lang="en-SG"/>
          </a:p>
        </p:txBody>
      </p:sp>
      <p:pic>
        <p:nvPicPr>
          <p:cNvPr id="4" name="Picture 3">
            <a:extLst>
              <a:ext uri="{FF2B5EF4-FFF2-40B4-BE49-F238E27FC236}">
                <a16:creationId xmlns:a16="http://schemas.microsoft.com/office/drawing/2014/main" id="{4B1B115C-6F75-3DC4-8057-6E49FEA252CE}"/>
              </a:ext>
            </a:extLst>
          </p:cNvPr>
          <p:cNvPicPr>
            <a:picLocks noChangeAspect="1"/>
          </p:cNvPicPr>
          <p:nvPr/>
        </p:nvPicPr>
        <p:blipFill>
          <a:blip r:embed="rId7"/>
          <a:stretch>
            <a:fillRect/>
          </a:stretch>
        </p:blipFill>
        <p:spPr>
          <a:xfrm>
            <a:off x="457200" y="2926080"/>
            <a:ext cx="3200400" cy="3379124"/>
          </a:xfrm>
          <a:prstGeom prst="rect">
            <a:avLst/>
          </a:prstGeom>
        </p:spPr>
      </p:pic>
    </p:spTree>
    <p:extLst>
      <p:ext uri="{BB962C8B-B14F-4D97-AF65-F5344CB8AC3E}">
        <p14:creationId xmlns:p14="http://schemas.microsoft.com/office/powerpoint/2010/main" val="3687015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4EE98-2555-B650-1BEB-F6C5724EF96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483F4F8-0825-8F36-8BC2-7B92D7C2E599}"/>
              </a:ext>
            </a:extLst>
          </p:cNvPr>
          <p:cNvGraphicFramePr>
            <a:graphicFrameLocks noChangeAspect="1"/>
          </p:cNvGraphicFramePr>
          <p:nvPr>
            <p:custDataLst>
              <p:tags r:id="rId1"/>
            </p:custDataLst>
            <p:extLst>
              <p:ext uri="{D42A27DB-BD31-4B8C-83A1-F6EECF244321}">
                <p14:modId xmlns:p14="http://schemas.microsoft.com/office/powerpoint/2010/main" val="484740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0" imgH="446" progId="TCLayout.ActiveDocument.1">
                  <p:embed/>
                </p:oleObj>
              </mc:Choice>
              <mc:Fallback>
                <p:oleObj name="think-cell Slide" r:id="rId3" imgW="450" imgH="44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E6BF34B7-5EE1-3FD8-DC3A-77943985ABED}"/>
              </a:ext>
            </a:extLst>
          </p:cNvPr>
          <p:cNvSpPr>
            <a:spLocks noGrp="1"/>
          </p:cNvSpPr>
          <p:nvPr>
            <p:ph type="title"/>
          </p:nvPr>
        </p:nvSpPr>
        <p:spPr>
          <a:xfrm>
            <a:off x="340311" y="1840736"/>
            <a:ext cx="3200400" cy="1009213"/>
          </a:xfrm>
        </p:spPr>
        <p:txBody>
          <a:bodyPr vert="horz">
            <a:normAutofit fontScale="90000"/>
          </a:bodyPr>
          <a:lstStyle/>
          <a:p>
            <a:r>
              <a:rPr lang="en-US" sz="3200" b="1" dirty="0">
                <a:solidFill>
                  <a:schemeClr val="bg1"/>
                </a:solidFill>
              </a:rPr>
              <a:t>Data Collection and Preparation</a:t>
            </a:r>
            <a:endParaRPr lang="en-SG" sz="3200" dirty="0">
              <a:solidFill>
                <a:schemeClr val="bg1"/>
              </a:solidFill>
            </a:endParaRPr>
          </a:p>
        </p:txBody>
      </p:sp>
      <p:graphicFrame>
        <p:nvGraphicFramePr>
          <p:cNvPr id="16" name="Content Placeholder 8">
            <a:extLst>
              <a:ext uri="{FF2B5EF4-FFF2-40B4-BE49-F238E27FC236}">
                <a16:creationId xmlns:a16="http://schemas.microsoft.com/office/drawing/2014/main" id="{55038ED7-7318-9572-E678-0DA509A3850C}"/>
              </a:ext>
            </a:extLst>
          </p:cNvPr>
          <p:cNvGraphicFramePr>
            <a:graphicFrameLocks noGrp="1"/>
          </p:cNvGraphicFramePr>
          <p:nvPr>
            <p:ph idx="1"/>
            <p:extLst>
              <p:ext uri="{D42A27DB-BD31-4B8C-83A1-F6EECF244321}">
                <p14:modId xmlns:p14="http://schemas.microsoft.com/office/powerpoint/2010/main" val="2383265326"/>
              </p:ext>
            </p:extLst>
          </p:nvPr>
        </p:nvGraphicFramePr>
        <p:xfrm>
          <a:off x="4403324" y="417251"/>
          <a:ext cx="7448365" cy="588795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Footer Placeholder 5">
            <a:extLst>
              <a:ext uri="{FF2B5EF4-FFF2-40B4-BE49-F238E27FC236}">
                <a16:creationId xmlns:a16="http://schemas.microsoft.com/office/drawing/2014/main" id="{70392757-8CD3-BA50-7FCE-074FA623C055}"/>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B908A905-4AAB-FD51-C33E-E315A6174C40}"/>
              </a:ext>
            </a:extLst>
          </p:cNvPr>
          <p:cNvSpPr>
            <a:spLocks noGrp="1"/>
          </p:cNvSpPr>
          <p:nvPr>
            <p:ph type="sldNum" sz="quarter" idx="12"/>
          </p:nvPr>
        </p:nvSpPr>
        <p:spPr/>
        <p:txBody>
          <a:bodyPr/>
          <a:lstStyle/>
          <a:p>
            <a:fld id="{BF1758FF-0BF1-4103-A89A-38EC40E85429}" type="slidenum">
              <a:rPr lang="en-SG" smtClean="0"/>
              <a:t>5</a:t>
            </a:fld>
            <a:endParaRPr lang="en-SG"/>
          </a:p>
        </p:txBody>
      </p:sp>
      <p:sp>
        <p:nvSpPr>
          <p:cNvPr id="9" name="TextBox 8">
            <a:extLst>
              <a:ext uri="{FF2B5EF4-FFF2-40B4-BE49-F238E27FC236}">
                <a16:creationId xmlns:a16="http://schemas.microsoft.com/office/drawing/2014/main" id="{32CECC3D-1BFF-9FE8-CDF4-DDEB61E36259}"/>
              </a:ext>
            </a:extLst>
          </p:cNvPr>
          <p:cNvSpPr txBox="1"/>
          <p:nvPr/>
        </p:nvSpPr>
        <p:spPr>
          <a:xfrm>
            <a:off x="4637314" y="1267097"/>
            <a:ext cx="7097486" cy="1477328"/>
          </a:xfrm>
          <a:prstGeom prst="rect">
            <a:avLst/>
          </a:prstGeom>
          <a:noFill/>
        </p:spPr>
        <p:txBody>
          <a:bodyPr wrap="square" rtlCol="0">
            <a:spAutoFit/>
          </a:bodyPr>
          <a:lstStyle/>
          <a:p>
            <a:r>
              <a:rPr lang="en-IN" dirty="0"/>
              <a:t>Car Age , </a:t>
            </a:r>
            <a:r>
              <a:rPr lang="en-IN" dirty="0" err="1"/>
              <a:t>Kilometer</a:t>
            </a:r>
            <a:r>
              <a:rPr lang="en-IN" dirty="0"/>
              <a:t> Driven , Manufacturing year , Model Variant , Model Name , State, Brand , Car type, Owner , transmission , fuel type.</a:t>
            </a:r>
          </a:p>
          <a:p>
            <a:endParaRPr lang="en-IN" dirty="0"/>
          </a:p>
          <a:p>
            <a:r>
              <a:rPr lang="en-IN" dirty="0"/>
              <a:t>&gt; We tried creating a new feature out of the above by providing the impact “</a:t>
            </a:r>
            <a:r>
              <a:rPr lang="en-IN" dirty="0" err="1"/>
              <a:t>Car_Points</a:t>
            </a:r>
            <a:r>
              <a:rPr lang="en-IN" dirty="0"/>
              <a:t>” </a:t>
            </a:r>
          </a:p>
        </p:txBody>
      </p:sp>
      <p:pic>
        <p:nvPicPr>
          <p:cNvPr id="11" name="Picture 10">
            <a:extLst>
              <a:ext uri="{FF2B5EF4-FFF2-40B4-BE49-F238E27FC236}">
                <a16:creationId xmlns:a16="http://schemas.microsoft.com/office/drawing/2014/main" id="{333ABA83-81C2-BE3F-81E0-EC27EE03A816}"/>
              </a:ext>
            </a:extLst>
          </p:cNvPr>
          <p:cNvPicPr>
            <a:picLocks noChangeAspect="1"/>
          </p:cNvPicPr>
          <p:nvPr/>
        </p:nvPicPr>
        <p:blipFill>
          <a:blip r:embed="rId10"/>
          <a:stretch>
            <a:fillRect/>
          </a:stretch>
        </p:blipFill>
        <p:spPr>
          <a:xfrm>
            <a:off x="5399781" y="2899003"/>
            <a:ext cx="6569009" cy="3549455"/>
          </a:xfrm>
          <a:prstGeom prst="rect">
            <a:avLst/>
          </a:prstGeom>
        </p:spPr>
      </p:pic>
    </p:spTree>
    <p:extLst>
      <p:ext uri="{BB962C8B-B14F-4D97-AF65-F5344CB8AC3E}">
        <p14:creationId xmlns:p14="http://schemas.microsoft.com/office/powerpoint/2010/main" val="2851030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4EE98-2555-B650-1BEB-F6C5724EF96B}"/>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9886C27-F3FE-2828-A984-A4A97758C817}"/>
              </a:ext>
            </a:extLst>
          </p:cNvPr>
          <p:cNvGraphicFramePr>
            <a:graphicFrameLocks noChangeAspect="1"/>
          </p:cNvGraphicFramePr>
          <p:nvPr>
            <p:custDataLst>
              <p:tags r:id="rId1"/>
            </p:custDataLst>
            <p:extLst>
              <p:ext uri="{D42A27DB-BD31-4B8C-83A1-F6EECF244321}">
                <p14:modId xmlns:p14="http://schemas.microsoft.com/office/powerpoint/2010/main" val="817489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0" imgH="446" progId="TCLayout.ActiveDocument.1">
                  <p:embed/>
                </p:oleObj>
              </mc:Choice>
              <mc:Fallback>
                <p:oleObj name="think-cell Slide" r:id="rId3" imgW="450" imgH="44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E6BF34B7-5EE1-3FD8-DC3A-77943985ABED}"/>
              </a:ext>
            </a:extLst>
          </p:cNvPr>
          <p:cNvSpPr>
            <a:spLocks noGrp="1"/>
          </p:cNvSpPr>
          <p:nvPr>
            <p:ph type="title"/>
          </p:nvPr>
        </p:nvSpPr>
        <p:spPr>
          <a:xfrm>
            <a:off x="457200" y="417251"/>
            <a:ext cx="3200400" cy="1009213"/>
          </a:xfrm>
        </p:spPr>
        <p:txBody>
          <a:bodyPr vert="horz">
            <a:normAutofit/>
          </a:bodyPr>
          <a:lstStyle/>
          <a:p>
            <a:r>
              <a:rPr lang="en-US" sz="3200" b="1" dirty="0">
                <a:solidFill>
                  <a:schemeClr val="bg1"/>
                </a:solidFill>
              </a:rPr>
              <a:t>EDA</a:t>
            </a:r>
            <a:endParaRPr lang="en-SG" sz="3200" dirty="0">
              <a:solidFill>
                <a:schemeClr val="bg1"/>
              </a:solidFill>
            </a:endParaRPr>
          </a:p>
        </p:txBody>
      </p:sp>
      <p:sp>
        <p:nvSpPr>
          <p:cNvPr id="6" name="Footer Placeholder 5">
            <a:extLst>
              <a:ext uri="{FF2B5EF4-FFF2-40B4-BE49-F238E27FC236}">
                <a16:creationId xmlns:a16="http://schemas.microsoft.com/office/drawing/2014/main" id="{70392757-8CD3-BA50-7FCE-074FA623C055}"/>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B908A905-4AAB-FD51-C33E-E315A6174C40}"/>
              </a:ext>
            </a:extLst>
          </p:cNvPr>
          <p:cNvSpPr>
            <a:spLocks noGrp="1"/>
          </p:cNvSpPr>
          <p:nvPr>
            <p:ph type="sldNum" sz="quarter" idx="12"/>
          </p:nvPr>
        </p:nvSpPr>
        <p:spPr/>
        <p:txBody>
          <a:bodyPr/>
          <a:lstStyle/>
          <a:p>
            <a:fld id="{BF1758FF-0BF1-4103-A89A-38EC40E85429}" type="slidenum">
              <a:rPr lang="en-SG" smtClean="0"/>
              <a:t>6</a:t>
            </a:fld>
            <a:endParaRPr lang="en-SG"/>
          </a:p>
        </p:txBody>
      </p:sp>
      <p:pic>
        <p:nvPicPr>
          <p:cNvPr id="5" name="Picture 4">
            <a:extLst>
              <a:ext uri="{FF2B5EF4-FFF2-40B4-BE49-F238E27FC236}">
                <a16:creationId xmlns:a16="http://schemas.microsoft.com/office/drawing/2014/main" id="{A20F1574-0758-89BE-5B3A-EFA868B485C4}"/>
              </a:ext>
            </a:extLst>
          </p:cNvPr>
          <p:cNvPicPr>
            <a:picLocks noChangeAspect="1"/>
          </p:cNvPicPr>
          <p:nvPr/>
        </p:nvPicPr>
        <p:blipFill>
          <a:blip r:embed="rId5"/>
          <a:stretch>
            <a:fillRect/>
          </a:stretch>
        </p:blipFill>
        <p:spPr>
          <a:xfrm>
            <a:off x="4229100" y="187036"/>
            <a:ext cx="7696200" cy="6272747"/>
          </a:xfrm>
          <a:prstGeom prst="rect">
            <a:avLst/>
          </a:prstGeom>
        </p:spPr>
      </p:pic>
      <p:pic>
        <p:nvPicPr>
          <p:cNvPr id="10" name="Picture 9">
            <a:extLst>
              <a:ext uri="{FF2B5EF4-FFF2-40B4-BE49-F238E27FC236}">
                <a16:creationId xmlns:a16="http://schemas.microsoft.com/office/drawing/2014/main" id="{4AF10A65-B328-045C-CE1C-0908EE3A5B18}"/>
              </a:ext>
            </a:extLst>
          </p:cNvPr>
          <p:cNvPicPr>
            <a:picLocks noChangeAspect="1"/>
          </p:cNvPicPr>
          <p:nvPr/>
        </p:nvPicPr>
        <p:blipFill>
          <a:blip r:embed="rId6"/>
          <a:stretch>
            <a:fillRect/>
          </a:stretch>
        </p:blipFill>
        <p:spPr>
          <a:xfrm>
            <a:off x="4271962" y="417251"/>
            <a:ext cx="7729538" cy="5666083"/>
          </a:xfrm>
          <a:prstGeom prst="rect">
            <a:avLst/>
          </a:prstGeom>
        </p:spPr>
      </p:pic>
    </p:spTree>
    <p:extLst>
      <p:ext uri="{BB962C8B-B14F-4D97-AF65-F5344CB8AC3E}">
        <p14:creationId xmlns:p14="http://schemas.microsoft.com/office/powerpoint/2010/main" val="378294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90"/>
                                          </p:val>
                                        </p:tav>
                                        <p:tav tm="100000">
                                          <p:val>
                                            <p:fltVal val="0"/>
                                          </p:val>
                                        </p:tav>
                                      </p:tavLst>
                                    </p:anim>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xit" presetSubtype="1" fill="hold" nodeType="clickEffect">
                                  <p:stCondLst>
                                    <p:cond delay="0"/>
                                  </p:stCondLst>
                                  <p:childTnLst>
                                    <p:animEffect transition="out" filter="wheel(1)">
                                      <p:cBhvr>
                                        <p:cTn id="14" dur="1000"/>
                                        <p:tgtEl>
                                          <p:spTgt spid="5"/>
                                        </p:tgtEl>
                                      </p:cBhvr>
                                    </p:animEffect>
                                    <p:set>
                                      <p:cBhvr>
                                        <p:cTn id="15" dur="1" fill="hold">
                                          <p:stCondLst>
                                            <p:cond delay="9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622DB-DB38-EA92-53A4-6CB468BAC05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4018981-3206-1272-C334-6BFBA97A15DE}"/>
              </a:ext>
            </a:extLst>
          </p:cNvPr>
          <p:cNvSpPr>
            <a:spLocks noGrp="1"/>
          </p:cNvSpPr>
          <p:nvPr>
            <p:ph type="title"/>
          </p:nvPr>
        </p:nvSpPr>
        <p:spPr/>
        <p:txBody>
          <a:bodyPr>
            <a:normAutofit/>
          </a:bodyPr>
          <a:lstStyle/>
          <a:p>
            <a:r>
              <a:rPr lang="en-US" sz="2800" b="1">
                <a:solidFill>
                  <a:schemeClr val="bg1"/>
                </a:solidFill>
              </a:rPr>
              <a:t>Implementation Plan</a:t>
            </a:r>
            <a:endParaRPr lang="en-SG" sz="2800">
              <a:solidFill>
                <a:schemeClr val="bg1"/>
              </a:solidFill>
            </a:endParaRPr>
          </a:p>
        </p:txBody>
      </p:sp>
      <p:sp>
        <p:nvSpPr>
          <p:cNvPr id="9" name="Content Placeholder 8">
            <a:extLst>
              <a:ext uri="{FF2B5EF4-FFF2-40B4-BE49-F238E27FC236}">
                <a16:creationId xmlns:a16="http://schemas.microsoft.com/office/drawing/2014/main" id="{61D46774-0239-BDA9-484D-CB045998EB3A}"/>
              </a:ext>
            </a:extLst>
          </p:cNvPr>
          <p:cNvSpPr>
            <a:spLocks noGrp="1"/>
          </p:cNvSpPr>
          <p:nvPr>
            <p:ph idx="1"/>
          </p:nvPr>
        </p:nvSpPr>
        <p:spPr/>
        <p:txBody>
          <a:bodyPr vert="horz" lIns="0" tIns="45720" rIns="0" bIns="45720" rtlCol="0" anchor="t">
            <a:normAutofit lnSpcReduction="10000"/>
          </a:bodyPr>
          <a:lstStyle/>
          <a:p>
            <a:pPr marL="215900" indent="-215900"/>
            <a:r>
              <a:rPr lang="en-US" dirty="0">
                <a:solidFill>
                  <a:schemeClr val="tx1"/>
                </a:solidFill>
                <a:latin typeface="Arial Nova"/>
              </a:rPr>
              <a:t>Project phases (data collection, model building, testing)</a:t>
            </a:r>
          </a:p>
          <a:p>
            <a:pPr marL="0" indent="0">
              <a:buNone/>
            </a:pPr>
            <a:endParaRPr lang="en-US" dirty="0">
              <a:solidFill>
                <a:schemeClr val="tx1"/>
              </a:solidFill>
              <a:latin typeface="Arial Nova"/>
            </a:endParaRPr>
          </a:p>
          <a:p>
            <a:pPr marL="215900" indent="-215900"/>
            <a:endParaRPr lang="en-US" dirty="0">
              <a:solidFill>
                <a:schemeClr val="tx1"/>
              </a:solidFill>
              <a:latin typeface="Arial Nova"/>
            </a:endParaRPr>
          </a:p>
          <a:p>
            <a:pPr marL="215900" indent="-215900"/>
            <a:r>
              <a:rPr lang="en-US" dirty="0">
                <a:solidFill>
                  <a:schemeClr val="tx1"/>
                </a:solidFill>
                <a:latin typeface="Arial Nova"/>
              </a:rPr>
              <a:t>Timeline and milestones </a:t>
            </a:r>
            <a:endParaRPr lang="en-US" dirty="0">
              <a:solidFill>
                <a:schemeClr val="tx1"/>
              </a:solidFill>
            </a:endParaRPr>
          </a:p>
          <a:p>
            <a:pPr marL="613410" lvl="1" indent="-342900">
              <a:buFont typeface="Arial" panose="02070309020205020404" pitchFamily="49" charset="0"/>
              <a:buChar char="•"/>
            </a:pPr>
            <a:endParaRPr lang="en-US" dirty="0">
              <a:solidFill>
                <a:schemeClr val="tx1"/>
              </a:solidFill>
              <a:latin typeface="Arial Nova"/>
            </a:endParaRPr>
          </a:p>
          <a:p>
            <a:pPr marL="215900" indent="-215900"/>
            <a:endParaRPr lang="en-US" dirty="0">
              <a:solidFill>
                <a:schemeClr val="tx1"/>
              </a:solidFill>
              <a:latin typeface="Arial Nova"/>
            </a:endParaRPr>
          </a:p>
          <a:p>
            <a:pPr marL="215900" indent="-215900"/>
            <a:r>
              <a:rPr lang="en-US" dirty="0">
                <a:solidFill>
                  <a:schemeClr val="tx1"/>
                </a:solidFill>
                <a:latin typeface="Arial Nova"/>
              </a:rPr>
              <a:t>Resources required</a:t>
            </a:r>
            <a:endParaRPr lang="en-US" dirty="0">
              <a:solidFill>
                <a:schemeClr val="tx1"/>
              </a:solidFill>
            </a:endParaRPr>
          </a:p>
          <a:p>
            <a:pPr marL="486410" indent="-215900">
              <a:buFont typeface="Symbol"/>
              <a:buChar char=""/>
            </a:pPr>
            <a:r>
              <a:rPr lang="en-US" sz="1200" dirty="0">
                <a:solidFill>
                  <a:schemeClr val="tx1"/>
                </a:solidFill>
                <a:latin typeface="Arial Nova"/>
              </a:rPr>
              <a:t>Human resources:</a:t>
            </a:r>
            <a:endParaRPr lang="en-US" sz="1200" dirty="0">
              <a:solidFill>
                <a:schemeClr val="tx1"/>
              </a:solidFill>
            </a:endParaRPr>
          </a:p>
          <a:p>
            <a:pPr marL="669290" indent="-215900">
              <a:buFont typeface="Symbol"/>
              <a:buChar char=""/>
            </a:pPr>
            <a:r>
              <a:rPr lang="en-US" sz="1200" dirty="0">
                <a:solidFill>
                  <a:schemeClr val="tx1"/>
                </a:solidFill>
                <a:latin typeface="Arial Nova"/>
              </a:rPr>
              <a:t>2 members for Data Cleaning &amp; EDA</a:t>
            </a:r>
          </a:p>
          <a:p>
            <a:pPr marL="669290" indent="-215900">
              <a:buFont typeface="Symbol"/>
            </a:pPr>
            <a:r>
              <a:rPr lang="en-US" sz="1200" dirty="0">
                <a:solidFill>
                  <a:schemeClr val="tx1"/>
                </a:solidFill>
                <a:latin typeface="Arial Nova"/>
              </a:rPr>
              <a:t>2 members for Model Training &amp; Validation</a:t>
            </a:r>
          </a:p>
          <a:p>
            <a:pPr marL="486410" indent="-215900">
              <a:buFont typeface="Symbol"/>
            </a:pPr>
            <a:r>
              <a:rPr lang="en-US" sz="1200" dirty="0">
                <a:solidFill>
                  <a:schemeClr val="tx1"/>
                </a:solidFill>
                <a:latin typeface="Arial Nova"/>
              </a:rPr>
              <a:t>Technical resources:</a:t>
            </a:r>
            <a:endParaRPr lang="en-US" sz="1200" dirty="0">
              <a:solidFill>
                <a:schemeClr val="tx1"/>
              </a:solidFill>
            </a:endParaRPr>
          </a:p>
          <a:p>
            <a:pPr marL="756920" lvl="1">
              <a:buFont typeface="Arial"/>
              <a:buChar char="•"/>
            </a:pPr>
            <a:r>
              <a:rPr lang="en-US" sz="1200" dirty="0">
                <a:solidFill>
                  <a:schemeClr val="tx1"/>
                </a:solidFill>
                <a:latin typeface="Arial Nova"/>
              </a:rPr>
              <a:t>Google Colab / </a:t>
            </a:r>
            <a:r>
              <a:rPr lang="en-US" sz="1200" dirty="0" err="1">
                <a:solidFill>
                  <a:schemeClr val="tx1"/>
                </a:solidFill>
                <a:latin typeface="Arial Nova"/>
              </a:rPr>
              <a:t>Jupyter</a:t>
            </a:r>
            <a:r>
              <a:rPr lang="en-US" sz="1200" dirty="0">
                <a:solidFill>
                  <a:schemeClr val="tx1"/>
                </a:solidFill>
                <a:latin typeface="Arial Nova"/>
              </a:rPr>
              <a:t> Notebook</a:t>
            </a:r>
          </a:p>
          <a:p>
            <a:pPr marL="756920" lvl="1">
              <a:buFont typeface="Arial"/>
              <a:buChar char="•"/>
            </a:pPr>
            <a:r>
              <a:rPr lang="en-US" sz="1200" dirty="0">
                <a:solidFill>
                  <a:schemeClr val="tx1"/>
                </a:solidFill>
                <a:latin typeface="Arial Nova"/>
              </a:rPr>
              <a:t>Python libraries: Pandas, NumPy, Scikit-learn, Matplotlib</a:t>
            </a:r>
          </a:p>
          <a:p>
            <a:pPr marL="486410" indent="-215900">
              <a:buFont typeface="Symbol"/>
            </a:pPr>
            <a:r>
              <a:rPr lang="en-US" sz="1200" dirty="0">
                <a:solidFill>
                  <a:schemeClr val="tx1"/>
                </a:solidFill>
                <a:latin typeface="Arial Nova"/>
              </a:rPr>
              <a:t>Collaboration tools:</a:t>
            </a:r>
            <a:endParaRPr lang="en-US" sz="1200" dirty="0">
              <a:solidFill>
                <a:schemeClr val="tx1"/>
              </a:solidFill>
            </a:endParaRPr>
          </a:p>
          <a:p>
            <a:pPr marL="756920" lvl="1" indent="-342900">
              <a:buFont typeface="Arial"/>
              <a:buChar char="•"/>
            </a:pPr>
            <a:r>
              <a:rPr lang="en-US" sz="1200" dirty="0">
                <a:solidFill>
                  <a:schemeClr val="tx1"/>
                </a:solidFill>
                <a:latin typeface="Arial Nova"/>
              </a:rPr>
              <a:t>GitHub / Google Drive for version management</a:t>
            </a:r>
          </a:p>
          <a:p>
            <a:pPr marL="215900" indent="-215900"/>
            <a:endParaRPr lang="en-US" dirty="0">
              <a:solidFill>
                <a:schemeClr val="tx1"/>
              </a:solidFill>
            </a:endParaRPr>
          </a:p>
          <a:p>
            <a:pPr marL="852170" lvl="3"/>
            <a:endParaRPr lang="en-US" dirty="0">
              <a:solidFill>
                <a:schemeClr val="tx1"/>
              </a:solidFill>
            </a:endParaRPr>
          </a:p>
          <a:p>
            <a:pPr marL="215900" indent="-215900"/>
            <a:endParaRPr lang="en-US" dirty="0">
              <a:solidFill>
                <a:schemeClr val="tx1"/>
              </a:solidFill>
            </a:endParaRPr>
          </a:p>
          <a:p>
            <a:pPr marL="215900" indent="-215900"/>
            <a:endParaRPr lang="en-US" dirty="0">
              <a:solidFill>
                <a:schemeClr val="tx1"/>
              </a:solidFill>
            </a:endParaRPr>
          </a:p>
        </p:txBody>
      </p:sp>
      <p:sp>
        <p:nvSpPr>
          <p:cNvPr id="6" name="Footer Placeholder 5">
            <a:extLst>
              <a:ext uri="{FF2B5EF4-FFF2-40B4-BE49-F238E27FC236}">
                <a16:creationId xmlns:a16="http://schemas.microsoft.com/office/drawing/2014/main" id="{3FB2B5D1-C988-14FA-B481-18E726C7531D}"/>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1BA200BC-F050-6529-45E6-0E77A124CAF5}"/>
              </a:ext>
            </a:extLst>
          </p:cNvPr>
          <p:cNvSpPr>
            <a:spLocks noGrp="1"/>
          </p:cNvSpPr>
          <p:nvPr>
            <p:ph type="sldNum" sz="quarter" idx="12"/>
          </p:nvPr>
        </p:nvSpPr>
        <p:spPr/>
        <p:txBody>
          <a:bodyPr/>
          <a:lstStyle/>
          <a:p>
            <a:fld id="{BF1758FF-0BF1-4103-A89A-38EC40E85429}" type="slidenum">
              <a:rPr lang="en-SG" smtClean="0"/>
              <a:t>7</a:t>
            </a:fld>
            <a:endParaRPr lang="en-SG"/>
          </a:p>
        </p:txBody>
      </p:sp>
      <p:graphicFrame>
        <p:nvGraphicFramePr>
          <p:cNvPr id="3" name="Diagram 2">
            <a:extLst>
              <a:ext uri="{FF2B5EF4-FFF2-40B4-BE49-F238E27FC236}">
                <a16:creationId xmlns:a16="http://schemas.microsoft.com/office/drawing/2014/main" id="{459CF00D-2281-919D-C9F0-F3CAC57E07A1}"/>
              </a:ext>
            </a:extLst>
          </p:cNvPr>
          <p:cNvGraphicFramePr/>
          <p:nvPr>
            <p:extLst>
              <p:ext uri="{D42A27DB-BD31-4B8C-83A1-F6EECF244321}">
                <p14:modId xmlns:p14="http://schemas.microsoft.com/office/powerpoint/2010/main" val="1010397619"/>
              </p:ext>
            </p:extLst>
          </p:nvPr>
        </p:nvGraphicFramePr>
        <p:xfrm>
          <a:off x="4471675" y="187573"/>
          <a:ext cx="7290786" cy="54738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8" name="Picture 67" descr="A blue rectangular sign with white text&#10;&#10;AI-generated content may be incorrect.">
            <a:extLst>
              <a:ext uri="{FF2B5EF4-FFF2-40B4-BE49-F238E27FC236}">
                <a16:creationId xmlns:a16="http://schemas.microsoft.com/office/drawing/2014/main" id="{5808D53E-70CE-30D7-CB8C-6E73C030F726}"/>
              </a:ext>
            </a:extLst>
          </p:cNvPr>
          <p:cNvPicPr>
            <a:picLocks noChangeAspect="1"/>
          </p:cNvPicPr>
          <p:nvPr/>
        </p:nvPicPr>
        <p:blipFill>
          <a:blip r:embed="rId7"/>
          <a:stretch>
            <a:fillRect/>
          </a:stretch>
        </p:blipFill>
        <p:spPr>
          <a:xfrm>
            <a:off x="5004994" y="1151090"/>
            <a:ext cx="5657983" cy="829330"/>
          </a:xfrm>
          <a:prstGeom prst="rect">
            <a:avLst/>
          </a:prstGeom>
        </p:spPr>
      </p:pic>
    </p:spTree>
    <p:extLst>
      <p:ext uri="{BB962C8B-B14F-4D97-AF65-F5344CB8AC3E}">
        <p14:creationId xmlns:p14="http://schemas.microsoft.com/office/powerpoint/2010/main" val="1724351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3200" b="1">
                <a:solidFill>
                  <a:schemeClr val="bg1"/>
                </a:solidFill>
              </a:rPr>
              <a:t>Proposed Methodology</a:t>
            </a:r>
            <a:endParaRPr lang="en-SG" sz="32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a:xfrm>
            <a:off x="4570338" y="417250"/>
            <a:ext cx="6978638" cy="5887954"/>
          </a:xfrm>
        </p:spPr>
        <p:txBody>
          <a:bodyPr vert="horz" lIns="0" tIns="45720" rIns="0" bIns="45720" rtlCol="0" anchor="t">
            <a:normAutofit/>
          </a:bodyPr>
          <a:lstStyle/>
          <a:p>
            <a:pPr marL="215900" indent="-215900"/>
            <a:r>
              <a:rPr lang="en-US" sz="1800" b="1" dirty="0">
                <a:solidFill>
                  <a:schemeClr val="tx1"/>
                </a:solidFill>
                <a:latin typeface="Arial Nova"/>
              </a:rPr>
              <a:t>ML methods used &amp; it’s justification</a:t>
            </a:r>
            <a:endParaRPr lang="en-US" sz="1800" b="1" dirty="0">
              <a:solidFill>
                <a:schemeClr val="tx1"/>
              </a:solidFill>
            </a:endParaRPr>
          </a:p>
          <a:p>
            <a:pPr marL="486410" lvl="1">
              <a:buFont typeface="Arial" panose="05050102010706020507" pitchFamily="18" charset="2"/>
              <a:buChar char="•"/>
            </a:pPr>
            <a:r>
              <a:rPr lang="en-US" sz="1600" dirty="0">
                <a:solidFill>
                  <a:schemeClr val="tx1"/>
                </a:solidFill>
                <a:latin typeface="Arial Nova"/>
              </a:rPr>
              <a:t>Linear Regression :Baseline model for interpretability</a:t>
            </a:r>
          </a:p>
          <a:p>
            <a:pPr marL="486410" lvl="1">
              <a:buFont typeface="Arial" panose="05050102010706020507" pitchFamily="18" charset="2"/>
              <a:buChar char="•"/>
            </a:pPr>
            <a:r>
              <a:rPr lang="en-US" sz="1600" dirty="0">
                <a:solidFill>
                  <a:schemeClr val="tx1"/>
                </a:solidFill>
                <a:latin typeface="Arial Nova"/>
              </a:rPr>
              <a:t>Random Forest Regressor: Handles non-linear relationships and provides feature importance</a:t>
            </a:r>
          </a:p>
          <a:p>
            <a:pPr marL="486410" lvl="1">
              <a:buFont typeface="Arial" panose="05050102010706020507" pitchFamily="18" charset="2"/>
              <a:buChar char="•"/>
            </a:pPr>
            <a:r>
              <a:rPr lang="en-US" sz="1600" dirty="0" err="1">
                <a:solidFill>
                  <a:schemeClr val="tx1"/>
                </a:solidFill>
                <a:latin typeface="Arial Nova"/>
              </a:rPr>
              <a:t>XGBoost</a:t>
            </a:r>
            <a:r>
              <a:rPr lang="en-US" sz="1600" dirty="0">
                <a:solidFill>
                  <a:schemeClr val="tx1"/>
                </a:solidFill>
                <a:latin typeface="Arial Nova"/>
              </a:rPr>
              <a:t>: Gradient boosting for high accuracy and efficiency.</a:t>
            </a:r>
          </a:p>
          <a:p>
            <a:pPr marL="486410" lvl="1">
              <a:buFont typeface="Arial" panose="05050102010706020507" pitchFamily="18" charset="2"/>
              <a:buChar char="•"/>
            </a:pPr>
            <a:r>
              <a:rPr lang="en-US" sz="1600" dirty="0" err="1">
                <a:solidFill>
                  <a:schemeClr val="tx1"/>
                </a:solidFill>
                <a:latin typeface="Arial Nova"/>
              </a:rPr>
              <a:t>LightGBM</a:t>
            </a:r>
            <a:r>
              <a:rPr lang="en-US" sz="1600" dirty="0">
                <a:solidFill>
                  <a:schemeClr val="tx1"/>
                </a:solidFill>
                <a:latin typeface="Arial Nova"/>
              </a:rPr>
              <a:t>: Optimized for large datasets and faster training.</a:t>
            </a:r>
          </a:p>
          <a:p>
            <a:pPr marL="486410" lvl="1">
              <a:buFont typeface="Arial" panose="05050102010706020507" pitchFamily="18" charset="2"/>
              <a:buChar char="•"/>
            </a:pPr>
            <a:r>
              <a:rPr lang="en-US" sz="1600" dirty="0">
                <a:solidFill>
                  <a:schemeClr val="tx1"/>
                </a:solidFill>
                <a:latin typeface="Arial Nova"/>
              </a:rPr>
              <a:t>AdaBoost: Improves weak learners through boosting.</a:t>
            </a:r>
          </a:p>
          <a:p>
            <a:pPr marL="486410" lvl="1">
              <a:buFont typeface="Arial" panose="05050102010706020507" pitchFamily="18" charset="2"/>
              <a:buChar char="•"/>
            </a:pPr>
            <a:r>
              <a:rPr lang="en-US" sz="1600" dirty="0">
                <a:solidFill>
                  <a:schemeClr val="tx1"/>
                </a:solidFill>
                <a:latin typeface="Arial Nova"/>
              </a:rPr>
              <a:t>Decision Tree: Simple and interpretable model for quick insights.</a:t>
            </a:r>
          </a:p>
          <a:p>
            <a:pPr marL="486410" lvl="1">
              <a:buFont typeface="Arial" panose="05050102010706020507" pitchFamily="18" charset="2"/>
              <a:buChar char="•"/>
            </a:pPr>
            <a:r>
              <a:rPr lang="en-US" sz="1600" dirty="0">
                <a:solidFill>
                  <a:schemeClr val="tx1"/>
                </a:solidFill>
                <a:latin typeface="Arial Nova"/>
              </a:rPr>
              <a:t>Weighted Ensemble: Combines strengths of multiple models for better performance.</a:t>
            </a:r>
            <a:endParaRPr lang="en-US" sz="1600" dirty="0">
              <a:solidFill>
                <a:schemeClr val="tx1"/>
              </a:solidFill>
            </a:endParaRPr>
          </a:p>
          <a:p>
            <a:pPr marL="215900" indent="-215900"/>
            <a:r>
              <a:rPr lang="en-US" sz="1800" b="1" dirty="0">
                <a:solidFill>
                  <a:schemeClr val="tx1"/>
                </a:solidFill>
                <a:latin typeface="Arial Nova"/>
              </a:rPr>
              <a:t>Tools / technologies used</a:t>
            </a:r>
          </a:p>
          <a:p>
            <a:pPr marL="669290" lvl="2"/>
            <a:r>
              <a:rPr lang="en-US" dirty="0">
                <a:solidFill>
                  <a:schemeClr val="tx1"/>
                </a:solidFill>
                <a:latin typeface="Arial Nova"/>
              </a:rPr>
              <a:t>Pandas – Data loading, cleaning, preprocessing</a:t>
            </a:r>
          </a:p>
          <a:p>
            <a:pPr marL="669290" lvl="2"/>
            <a:r>
              <a:rPr lang="en-US" dirty="0">
                <a:solidFill>
                  <a:schemeClr val="tx1"/>
                </a:solidFill>
                <a:latin typeface="Arial Nova"/>
              </a:rPr>
              <a:t>NumPy – Numerical computation</a:t>
            </a:r>
          </a:p>
          <a:p>
            <a:pPr marL="669290" lvl="2"/>
            <a:r>
              <a:rPr lang="en-US" dirty="0">
                <a:solidFill>
                  <a:schemeClr val="tx1"/>
                </a:solidFill>
                <a:latin typeface="Arial Nova"/>
              </a:rPr>
              <a:t>Matplotlib &amp; Seaborn – Exploratory data analysis &amp; visualization</a:t>
            </a:r>
          </a:p>
          <a:p>
            <a:pPr marL="669290" lvl="2"/>
            <a:r>
              <a:rPr lang="en-US" dirty="0">
                <a:solidFill>
                  <a:schemeClr val="tx1"/>
                </a:solidFill>
                <a:latin typeface="Arial Nova"/>
              </a:rPr>
              <a:t>Scikit-learn – ML model building, tuning, cross-validation</a:t>
            </a:r>
          </a:p>
          <a:p>
            <a:pPr marL="669290" lvl="2"/>
            <a:r>
              <a:rPr lang="en-US" dirty="0">
                <a:solidFill>
                  <a:schemeClr val="tx1"/>
                </a:solidFill>
                <a:latin typeface="Arial Nova"/>
              </a:rPr>
              <a:t>Google Colab – Development, training environment</a:t>
            </a:r>
          </a:p>
          <a:p>
            <a:pPr marL="669290" lvl="2"/>
            <a:r>
              <a:rPr lang="en-US" dirty="0">
                <a:solidFill>
                  <a:schemeClr val="tx1"/>
                </a:solidFill>
                <a:latin typeface="Arial Nova"/>
              </a:rPr>
              <a:t>Python</a:t>
            </a:r>
          </a:p>
          <a:p>
            <a:pPr marL="669290" lvl="2"/>
            <a:r>
              <a:rPr lang="en-US" dirty="0" err="1">
                <a:solidFill>
                  <a:schemeClr val="tx1"/>
                </a:solidFill>
                <a:latin typeface="Arial Nova"/>
              </a:rPr>
              <a:t>Streamlit</a:t>
            </a:r>
            <a:endParaRPr lang="en-US" dirty="0">
              <a:solidFill>
                <a:schemeClr val="tx1"/>
              </a:solidFill>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8</a:t>
            </a:fld>
            <a:endParaRPr lang="en-SG"/>
          </a:p>
        </p:txBody>
      </p:sp>
    </p:spTree>
    <p:extLst>
      <p:ext uri="{BB962C8B-B14F-4D97-AF65-F5344CB8AC3E}">
        <p14:creationId xmlns:p14="http://schemas.microsoft.com/office/powerpoint/2010/main" val="4218784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3200" b="1">
                <a:solidFill>
                  <a:schemeClr val="bg1"/>
                </a:solidFill>
              </a:rPr>
              <a:t>Challenges and Risks</a:t>
            </a:r>
            <a:endParaRPr lang="en-SG" sz="32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lnSpc>
                <a:spcPct val="110000"/>
              </a:lnSpc>
            </a:pPr>
            <a:r>
              <a:rPr lang="en-US" dirty="0">
                <a:solidFill>
                  <a:schemeClr val="tx1"/>
                </a:solidFill>
                <a:latin typeface="Arial Nova"/>
              </a:rPr>
              <a:t>Potential risks or challenges </a:t>
            </a:r>
          </a:p>
          <a:p>
            <a:pPr marL="613818" lvl="1" indent="-342900">
              <a:lnSpc>
                <a:spcPct val="110000"/>
              </a:lnSpc>
              <a:buFont typeface="Courier New" panose="02070309020205020404" pitchFamily="49" charset="0"/>
              <a:buChar char="o"/>
            </a:pPr>
            <a:r>
              <a:rPr lang="en-US" sz="1600" dirty="0"/>
              <a:t>Data Quality Issues</a:t>
            </a:r>
          </a:p>
          <a:p>
            <a:pPr marL="613818" lvl="1" indent="-342900">
              <a:lnSpc>
                <a:spcPct val="110000"/>
              </a:lnSpc>
              <a:buFont typeface="Courier New" panose="02070309020205020404" pitchFamily="49" charset="0"/>
              <a:buChar char="o"/>
            </a:pPr>
            <a:r>
              <a:rPr lang="en-US" sz="1600" dirty="0"/>
              <a:t>Bias in Data</a:t>
            </a:r>
          </a:p>
          <a:p>
            <a:pPr marL="613818" lvl="1" indent="-342900">
              <a:lnSpc>
                <a:spcPct val="110000"/>
              </a:lnSpc>
              <a:buFont typeface="Courier New" panose="02070309020205020404" pitchFamily="49" charset="0"/>
              <a:buChar char="o"/>
            </a:pPr>
            <a:r>
              <a:rPr lang="en-US" sz="1600" dirty="0"/>
              <a:t>Overfitting / Underfitting</a:t>
            </a:r>
          </a:p>
          <a:p>
            <a:pPr marL="613818" lvl="1" indent="-342900">
              <a:lnSpc>
                <a:spcPct val="110000"/>
              </a:lnSpc>
              <a:buFont typeface="Courier New" panose="02070309020205020404" pitchFamily="49" charset="0"/>
              <a:buChar char="o"/>
            </a:pPr>
            <a:r>
              <a:rPr lang="en-US" sz="1600" dirty="0"/>
              <a:t>Model accuracy / performance</a:t>
            </a:r>
          </a:p>
          <a:p>
            <a:pPr marL="613818" lvl="1" indent="-342900">
              <a:lnSpc>
                <a:spcPct val="110000"/>
              </a:lnSpc>
              <a:buFont typeface="Courier New" panose="02070309020205020404" pitchFamily="49" charset="0"/>
              <a:buChar char="o"/>
            </a:pPr>
            <a:endParaRPr lang="en-US" sz="1600" dirty="0">
              <a:solidFill>
                <a:schemeClr val="tx1"/>
              </a:solidFill>
              <a:latin typeface="Arial Nova"/>
            </a:endParaRPr>
          </a:p>
          <a:p>
            <a:pPr marL="215900" indent="-215900">
              <a:lnSpc>
                <a:spcPct val="110000"/>
              </a:lnSpc>
            </a:pPr>
            <a:r>
              <a:rPr lang="en-US" dirty="0">
                <a:solidFill>
                  <a:schemeClr val="tx1"/>
                </a:solidFill>
                <a:latin typeface="Arial Nova"/>
              </a:rPr>
              <a:t>How you plan to mitigate them</a:t>
            </a:r>
          </a:p>
          <a:p>
            <a:pPr marL="556668" lvl="1">
              <a:lnSpc>
                <a:spcPct val="110000"/>
              </a:lnSpc>
              <a:buFont typeface="Courier New" panose="02070309020205020404" pitchFamily="49" charset="0"/>
              <a:buChar char="o"/>
            </a:pPr>
            <a:r>
              <a:rPr lang="en-US" sz="1600" b="1" dirty="0">
                <a:solidFill>
                  <a:schemeClr val="tx1"/>
                </a:solidFill>
                <a:latin typeface="Arial Nova"/>
              </a:rPr>
              <a:t>Clean and Validate Data</a:t>
            </a:r>
            <a:r>
              <a:rPr lang="en-US" sz="1600" dirty="0">
                <a:solidFill>
                  <a:schemeClr val="tx1"/>
                </a:solidFill>
                <a:latin typeface="Arial Nova"/>
              </a:rPr>
              <a:t>: Use techniques like missing value imputation, outlier detection (e.g., boxplots), and consistency checks during EDA.</a:t>
            </a:r>
          </a:p>
          <a:p>
            <a:pPr marL="556668" lvl="1">
              <a:lnSpc>
                <a:spcPct val="110000"/>
              </a:lnSpc>
              <a:buFont typeface="Courier New" panose="02070309020205020404" pitchFamily="49" charset="0"/>
              <a:buChar char="o"/>
            </a:pPr>
            <a:r>
              <a:rPr lang="en-US" sz="1600" b="1" dirty="0">
                <a:solidFill>
                  <a:schemeClr val="tx1"/>
                </a:solidFill>
                <a:latin typeface="Arial Nova"/>
              </a:rPr>
              <a:t>Address Bias</a:t>
            </a:r>
            <a:r>
              <a:rPr lang="en-US" sz="1600" dirty="0">
                <a:solidFill>
                  <a:schemeClr val="tx1"/>
                </a:solidFill>
                <a:latin typeface="Arial Nova"/>
              </a:rPr>
              <a:t>: Perform exploratory data analysis (e.g., distribution plots, group-wise statistics) to detect imbalance.</a:t>
            </a:r>
          </a:p>
          <a:p>
            <a:pPr marL="556668" lvl="1">
              <a:lnSpc>
                <a:spcPct val="110000"/>
              </a:lnSpc>
              <a:buFont typeface="Courier New" panose="02070309020205020404" pitchFamily="49" charset="0"/>
              <a:buChar char="o"/>
            </a:pPr>
            <a:r>
              <a:rPr lang="en-US" sz="1600" b="1" dirty="0">
                <a:solidFill>
                  <a:schemeClr val="tx1"/>
                </a:solidFill>
                <a:latin typeface="Arial Nova"/>
              </a:rPr>
              <a:t>Monitor Model Performance</a:t>
            </a:r>
            <a:r>
              <a:rPr lang="en-US" sz="1600" dirty="0">
                <a:solidFill>
                  <a:schemeClr val="tx1"/>
                </a:solidFill>
                <a:latin typeface="Arial Nova"/>
              </a:rPr>
              <a:t>: Evaluate models with metrics like RMSE, MAE, R2 score for regression.</a:t>
            </a: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9</a:t>
            </a:fld>
            <a:endParaRPr lang="en-SG"/>
          </a:p>
        </p:txBody>
      </p:sp>
    </p:spTree>
    <p:extLst>
      <p:ext uri="{BB962C8B-B14F-4D97-AF65-F5344CB8AC3E}">
        <p14:creationId xmlns:p14="http://schemas.microsoft.com/office/powerpoint/2010/main" val="3097419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C9094-2D3E-553E-A5EA-D83AD79285A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B363332-FE53-0892-7A0C-39396ED63628}"/>
              </a:ext>
            </a:extLst>
          </p:cNvPr>
          <p:cNvSpPr>
            <a:spLocks noGrp="1"/>
          </p:cNvSpPr>
          <p:nvPr>
            <p:ph type="title"/>
          </p:nvPr>
        </p:nvSpPr>
        <p:spPr/>
        <p:txBody>
          <a:bodyPr>
            <a:normAutofit/>
          </a:bodyPr>
          <a:lstStyle/>
          <a:p>
            <a:r>
              <a:rPr lang="en-US" sz="2800" b="1" dirty="0">
                <a:solidFill>
                  <a:schemeClr val="bg1"/>
                </a:solidFill>
              </a:rPr>
              <a:t>Final Learnings I</a:t>
            </a:r>
            <a:endParaRPr lang="en-SG" sz="2800" dirty="0">
              <a:solidFill>
                <a:schemeClr val="bg1"/>
              </a:solidFill>
            </a:endParaRPr>
          </a:p>
        </p:txBody>
      </p:sp>
      <p:sp>
        <p:nvSpPr>
          <p:cNvPr id="9" name="Content Placeholder 8">
            <a:extLst>
              <a:ext uri="{FF2B5EF4-FFF2-40B4-BE49-F238E27FC236}">
                <a16:creationId xmlns:a16="http://schemas.microsoft.com/office/drawing/2014/main" id="{49070D60-780D-3E59-AC01-50E4E56FA930}"/>
              </a:ext>
            </a:extLst>
          </p:cNvPr>
          <p:cNvSpPr>
            <a:spLocks noGrp="1"/>
          </p:cNvSpPr>
          <p:nvPr>
            <p:ph idx="1"/>
          </p:nvPr>
        </p:nvSpPr>
        <p:spPr>
          <a:xfrm>
            <a:off x="4064002" y="33091"/>
            <a:ext cx="7787688" cy="6272114"/>
          </a:xfrm>
        </p:spPr>
        <p:txBody>
          <a:bodyPr vert="horz" lIns="0" tIns="45720" rIns="0" bIns="45720" rtlCol="0" anchor="t">
            <a:normAutofit/>
          </a:bodyPr>
          <a:lstStyle/>
          <a:p>
            <a:pPr marL="486410" lvl="1"/>
            <a:endParaRPr lang="en-US" dirty="0">
              <a:solidFill>
                <a:schemeClr val="tx1"/>
              </a:solidFill>
            </a:endParaRPr>
          </a:p>
          <a:p>
            <a:pPr marL="215900" indent="-215900"/>
            <a:endParaRPr lang="en-US" dirty="0">
              <a:solidFill>
                <a:schemeClr val="tx1"/>
              </a:solidFill>
            </a:endParaRPr>
          </a:p>
        </p:txBody>
      </p:sp>
      <p:sp>
        <p:nvSpPr>
          <p:cNvPr id="2" name="Text Placeholder 1">
            <a:extLst>
              <a:ext uri="{FF2B5EF4-FFF2-40B4-BE49-F238E27FC236}">
                <a16:creationId xmlns:a16="http://schemas.microsoft.com/office/drawing/2014/main" id="{75DBB574-85CC-8E9E-6EED-BF98DCD9D0BE}"/>
              </a:ext>
            </a:extLst>
          </p:cNvPr>
          <p:cNvSpPr>
            <a:spLocks noGrp="1"/>
          </p:cNvSpPr>
          <p:nvPr>
            <p:ph type="body" sz="half" idx="2"/>
          </p:nvPr>
        </p:nvSpPr>
        <p:spPr/>
        <p:txBody>
          <a:bodyPr/>
          <a:lstStyle/>
          <a:p>
            <a:endParaRPr lang="en-SG" dirty="0"/>
          </a:p>
        </p:txBody>
      </p:sp>
      <p:sp>
        <p:nvSpPr>
          <p:cNvPr id="6" name="Footer Placeholder 5">
            <a:extLst>
              <a:ext uri="{FF2B5EF4-FFF2-40B4-BE49-F238E27FC236}">
                <a16:creationId xmlns:a16="http://schemas.microsoft.com/office/drawing/2014/main" id="{D3F5DAFD-B6A2-9E28-58EA-D36917EF9BAD}"/>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D20632F9-EC04-A72A-89F1-A360657906F7}"/>
              </a:ext>
            </a:extLst>
          </p:cNvPr>
          <p:cNvSpPr>
            <a:spLocks noGrp="1"/>
          </p:cNvSpPr>
          <p:nvPr>
            <p:ph type="sldNum" sz="quarter" idx="12"/>
          </p:nvPr>
        </p:nvSpPr>
        <p:spPr/>
        <p:txBody>
          <a:bodyPr/>
          <a:lstStyle/>
          <a:p>
            <a:fld id="{BF1758FF-0BF1-4103-A89A-38EC40E85429}" type="slidenum">
              <a:rPr lang="en-SG" smtClean="0"/>
              <a:t>10</a:t>
            </a:fld>
            <a:endParaRPr lang="en-SG"/>
          </a:p>
        </p:txBody>
      </p:sp>
      <p:pic>
        <p:nvPicPr>
          <p:cNvPr id="4" name="Picture 3">
            <a:extLst>
              <a:ext uri="{FF2B5EF4-FFF2-40B4-BE49-F238E27FC236}">
                <a16:creationId xmlns:a16="http://schemas.microsoft.com/office/drawing/2014/main" id="{42C8FCDE-DA26-79C4-F097-AC901B447320}"/>
              </a:ext>
            </a:extLst>
          </p:cNvPr>
          <p:cNvPicPr>
            <a:picLocks noChangeAspect="1"/>
          </p:cNvPicPr>
          <p:nvPr/>
        </p:nvPicPr>
        <p:blipFill>
          <a:blip r:embed="rId2"/>
          <a:stretch>
            <a:fillRect/>
          </a:stretch>
        </p:blipFill>
        <p:spPr>
          <a:xfrm>
            <a:off x="457200" y="2926080"/>
            <a:ext cx="3200400" cy="3379124"/>
          </a:xfrm>
          <a:prstGeom prst="rect">
            <a:avLst/>
          </a:prstGeom>
        </p:spPr>
      </p:pic>
      <p:graphicFrame>
        <p:nvGraphicFramePr>
          <p:cNvPr id="3" name="Table 2">
            <a:extLst>
              <a:ext uri="{FF2B5EF4-FFF2-40B4-BE49-F238E27FC236}">
                <a16:creationId xmlns:a16="http://schemas.microsoft.com/office/drawing/2014/main" id="{C96E1D33-1883-D547-6AE2-FAE84018911E}"/>
              </a:ext>
            </a:extLst>
          </p:cNvPr>
          <p:cNvGraphicFramePr>
            <a:graphicFrameLocks noGrp="1"/>
          </p:cNvGraphicFramePr>
          <p:nvPr>
            <p:extLst>
              <p:ext uri="{D42A27DB-BD31-4B8C-83A1-F6EECF244321}">
                <p14:modId xmlns:p14="http://schemas.microsoft.com/office/powerpoint/2010/main" val="2925634172"/>
              </p:ext>
            </p:extLst>
          </p:nvPr>
        </p:nvGraphicFramePr>
        <p:xfrm>
          <a:off x="4130092" y="625363"/>
          <a:ext cx="7931920" cy="1107440"/>
        </p:xfrm>
        <a:graphic>
          <a:graphicData uri="http://schemas.openxmlformats.org/drawingml/2006/table">
            <a:tbl>
              <a:tblPr firstRow="1" bandRow="1">
                <a:tableStyleId>{5C22544A-7EE6-4342-B048-85BDC9FD1C3A}</a:tableStyleId>
              </a:tblPr>
              <a:tblGrid>
                <a:gridCol w="1982980">
                  <a:extLst>
                    <a:ext uri="{9D8B030D-6E8A-4147-A177-3AD203B41FA5}">
                      <a16:colId xmlns:a16="http://schemas.microsoft.com/office/drawing/2014/main" val="3907789441"/>
                    </a:ext>
                  </a:extLst>
                </a:gridCol>
                <a:gridCol w="1982980">
                  <a:extLst>
                    <a:ext uri="{9D8B030D-6E8A-4147-A177-3AD203B41FA5}">
                      <a16:colId xmlns:a16="http://schemas.microsoft.com/office/drawing/2014/main" val="3271594661"/>
                    </a:ext>
                  </a:extLst>
                </a:gridCol>
                <a:gridCol w="1982980">
                  <a:extLst>
                    <a:ext uri="{9D8B030D-6E8A-4147-A177-3AD203B41FA5}">
                      <a16:colId xmlns:a16="http://schemas.microsoft.com/office/drawing/2014/main" val="468427076"/>
                    </a:ext>
                  </a:extLst>
                </a:gridCol>
                <a:gridCol w="1982980">
                  <a:extLst>
                    <a:ext uri="{9D8B030D-6E8A-4147-A177-3AD203B41FA5}">
                      <a16:colId xmlns:a16="http://schemas.microsoft.com/office/drawing/2014/main" val="2687712310"/>
                    </a:ext>
                  </a:extLst>
                </a:gridCol>
              </a:tblGrid>
              <a:tr h="270235">
                <a:tc>
                  <a:txBody>
                    <a:bodyPr/>
                    <a:lstStyle/>
                    <a:p>
                      <a:r>
                        <a:rPr lang="en-IN" dirty="0"/>
                        <a:t>Model Name</a:t>
                      </a:r>
                    </a:p>
                  </a:txBody>
                  <a:tcPr/>
                </a:tc>
                <a:tc>
                  <a:txBody>
                    <a:bodyPr/>
                    <a:lstStyle/>
                    <a:p>
                      <a:r>
                        <a:rPr lang="en-IN" dirty="0"/>
                        <a:t>R2</a:t>
                      </a:r>
                    </a:p>
                  </a:txBody>
                  <a:tcPr/>
                </a:tc>
                <a:tc>
                  <a:txBody>
                    <a:bodyPr/>
                    <a:lstStyle/>
                    <a:p>
                      <a:r>
                        <a:rPr lang="en-IN" dirty="0"/>
                        <a:t>MAE</a:t>
                      </a:r>
                    </a:p>
                  </a:txBody>
                  <a:tcPr/>
                </a:tc>
                <a:tc>
                  <a:txBody>
                    <a:bodyPr/>
                    <a:lstStyle/>
                    <a:p>
                      <a:r>
                        <a:rPr lang="en-IN" dirty="0"/>
                        <a:t>RMSE</a:t>
                      </a:r>
                    </a:p>
                  </a:txBody>
                  <a:tcPr/>
                </a:tc>
                <a:extLst>
                  <a:ext uri="{0D108BD9-81ED-4DB2-BD59-A6C34878D82A}">
                    <a16:rowId xmlns:a16="http://schemas.microsoft.com/office/drawing/2014/main" val="4175672522"/>
                  </a:ext>
                </a:extLst>
              </a:tr>
              <a:tr h="370840">
                <a:tc>
                  <a:txBody>
                    <a:bodyPr/>
                    <a:lstStyle/>
                    <a:p>
                      <a:r>
                        <a:rPr lang="en-IN" sz="1800" b="1" i="0" kern="1200" dirty="0" err="1">
                          <a:solidFill>
                            <a:schemeClr val="dk1"/>
                          </a:solidFill>
                          <a:effectLst/>
                          <a:latin typeface="+mn-lt"/>
                          <a:ea typeface="+mn-ea"/>
                          <a:cs typeface="+mn-cs"/>
                        </a:rPr>
                        <a:t>XGBRegressor</a:t>
                      </a:r>
                      <a:endParaRPr lang="en-IN" dirty="0"/>
                    </a:p>
                  </a:txBody>
                  <a:tcPr/>
                </a:tc>
                <a:tc>
                  <a:txBody>
                    <a:bodyPr/>
                    <a:lstStyle/>
                    <a:p>
                      <a:r>
                        <a:rPr lang="en-IN" sz="1800" b="0" i="0" kern="1200" dirty="0">
                          <a:solidFill>
                            <a:schemeClr val="dk1"/>
                          </a:solidFill>
                          <a:effectLst/>
                          <a:latin typeface="+mn-lt"/>
                          <a:ea typeface="+mn-ea"/>
                          <a:cs typeface="+mn-cs"/>
                        </a:rPr>
                        <a:t>0.998584138</a:t>
                      </a:r>
                      <a:endParaRPr lang="en-IN" dirty="0"/>
                    </a:p>
                  </a:txBody>
                  <a:tcPr/>
                </a:tc>
                <a:tc>
                  <a:txBody>
                    <a:bodyPr/>
                    <a:lstStyle/>
                    <a:p>
                      <a:r>
                        <a:rPr lang="en-IN" sz="1800" b="0" i="0" kern="1200" dirty="0">
                          <a:solidFill>
                            <a:schemeClr val="dk1"/>
                          </a:solidFill>
                          <a:effectLst/>
                          <a:latin typeface="+mn-lt"/>
                          <a:ea typeface="+mn-ea"/>
                          <a:cs typeface="+mn-cs"/>
                        </a:rPr>
                        <a:t>8442.74</a:t>
                      </a:r>
                      <a:endParaRPr lang="en-IN" dirty="0"/>
                    </a:p>
                  </a:txBody>
                  <a:tcPr/>
                </a:tc>
                <a:tc>
                  <a:txBody>
                    <a:bodyPr/>
                    <a:lstStyle/>
                    <a:p>
                      <a:r>
                        <a:rPr lang="en-IN" sz="1800" b="0" i="0" kern="1200" dirty="0">
                          <a:solidFill>
                            <a:schemeClr val="dk1"/>
                          </a:solidFill>
                          <a:effectLst/>
                          <a:latin typeface="+mn-lt"/>
                          <a:ea typeface="+mn-ea"/>
                          <a:cs typeface="+mn-cs"/>
                        </a:rPr>
                        <a:t>15607.16</a:t>
                      </a:r>
                      <a:endParaRPr lang="en-IN" dirty="0"/>
                    </a:p>
                  </a:txBody>
                  <a:tcPr/>
                </a:tc>
                <a:extLst>
                  <a:ext uri="{0D108BD9-81ED-4DB2-BD59-A6C34878D82A}">
                    <a16:rowId xmlns:a16="http://schemas.microsoft.com/office/drawing/2014/main" val="2867336984"/>
                  </a:ext>
                </a:extLst>
              </a:tr>
              <a:tr h="370840">
                <a:tc>
                  <a:txBody>
                    <a:bodyPr/>
                    <a:lstStyle/>
                    <a:p>
                      <a:r>
                        <a:rPr lang="en-IN" sz="1800" b="1" i="0" kern="1200" dirty="0">
                          <a:solidFill>
                            <a:schemeClr val="dk1"/>
                          </a:solidFill>
                          <a:effectLst/>
                          <a:latin typeface="+mn-lt"/>
                          <a:ea typeface="+mn-ea"/>
                          <a:cs typeface="+mn-cs"/>
                        </a:rPr>
                        <a:t>Random Forrest</a:t>
                      </a:r>
                      <a:endParaRPr lang="en-IN" dirty="0"/>
                    </a:p>
                  </a:txBody>
                  <a:tcPr/>
                </a:tc>
                <a:tc>
                  <a:txBody>
                    <a:bodyPr/>
                    <a:lstStyle/>
                    <a:p>
                      <a:r>
                        <a:rPr lang="en-IN" dirty="0"/>
                        <a:t>0.903</a:t>
                      </a:r>
                    </a:p>
                  </a:txBody>
                  <a:tcPr/>
                </a:tc>
                <a:tc>
                  <a:txBody>
                    <a:bodyPr/>
                    <a:lstStyle/>
                    <a:p>
                      <a:r>
                        <a:rPr lang="en-IN" sz="1800" b="0" i="0" kern="1200" dirty="0">
                          <a:solidFill>
                            <a:schemeClr val="dk1"/>
                          </a:solidFill>
                          <a:effectLst/>
                          <a:latin typeface="+mn-lt"/>
                          <a:ea typeface="+mn-ea"/>
                          <a:cs typeface="+mn-cs"/>
                        </a:rPr>
                        <a:t>84830.91</a:t>
                      </a:r>
                      <a:endParaRPr lang="en-IN" dirty="0"/>
                    </a:p>
                  </a:txBody>
                  <a:tcPr/>
                </a:tc>
                <a:tc>
                  <a:txBody>
                    <a:bodyPr/>
                    <a:lstStyle/>
                    <a:p>
                      <a:r>
                        <a:rPr lang="en-IN" sz="1800" b="0" i="0" kern="1200" dirty="0">
                          <a:solidFill>
                            <a:schemeClr val="dk1"/>
                          </a:solidFill>
                          <a:effectLst/>
                          <a:latin typeface="+mn-lt"/>
                          <a:ea typeface="+mn-ea"/>
                          <a:cs typeface="+mn-cs"/>
                        </a:rPr>
                        <a:t>129170.99</a:t>
                      </a:r>
                      <a:endParaRPr lang="en-IN" dirty="0"/>
                    </a:p>
                  </a:txBody>
                  <a:tcPr/>
                </a:tc>
                <a:extLst>
                  <a:ext uri="{0D108BD9-81ED-4DB2-BD59-A6C34878D82A}">
                    <a16:rowId xmlns:a16="http://schemas.microsoft.com/office/drawing/2014/main" val="3570551587"/>
                  </a:ext>
                </a:extLst>
              </a:tr>
            </a:tbl>
          </a:graphicData>
        </a:graphic>
      </p:graphicFrame>
      <p:sp>
        <p:nvSpPr>
          <p:cNvPr id="5" name="TextBox 4">
            <a:extLst>
              <a:ext uri="{FF2B5EF4-FFF2-40B4-BE49-F238E27FC236}">
                <a16:creationId xmlns:a16="http://schemas.microsoft.com/office/drawing/2014/main" id="{6E665867-8A0A-1257-1231-5FFEC4AF2321}"/>
              </a:ext>
            </a:extLst>
          </p:cNvPr>
          <p:cNvSpPr txBox="1"/>
          <p:nvPr/>
        </p:nvSpPr>
        <p:spPr>
          <a:xfrm>
            <a:off x="4319399" y="188259"/>
            <a:ext cx="6801319" cy="369332"/>
          </a:xfrm>
          <a:prstGeom prst="rect">
            <a:avLst/>
          </a:prstGeom>
          <a:noFill/>
        </p:spPr>
        <p:txBody>
          <a:bodyPr wrap="square" rtlCol="0">
            <a:spAutoFit/>
          </a:bodyPr>
          <a:lstStyle/>
          <a:p>
            <a:r>
              <a:rPr lang="en-IN" dirty="0"/>
              <a:t>Using Car Points as the Feature containing price per kms</a:t>
            </a:r>
          </a:p>
        </p:txBody>
      </p:sp>
      <p:sp>
        <p:nvSpPr>
          <p:cNvPr id="10" name="TextBox 9">
            <a:extLst>
              <a:ext uri="{FF2B5EF4-FFF2-40B4-BE49-F238E27FC236}">
                <a16:creationId xmlns:a16="http://schemas.microsoft.com/office/drawing/2014/main" id="{5B26995E-B450-088B-38A7-1C60B4A74F2E}"/>
              </a:ext>
            </a:extLst>
          </p:cNvPr>
          <p:cNvSpPr txBox="1"/>
          <p:nvPr/>
        </p:nvSpPr>
        <p:spPr>
          <a:xfrm>
            <a:off x="4308845" y="2001909"/>
            <a:ext cx="7216588" cy="923330"/>
          </a:xfrm>
          <a:prstGeom prst="rect">
            <a:avLst/>
          </a:prstGeom>
          <a:noFill/>
        </p:spPr>
        <p:txBody>
          <a:bodyPr wrap="square" rtlCol="0">
            <a:spAutoFit/>
          </a:bodyPr>
          <a:lstStyle/>
          <a:p>
            <a:endParaRPr lang="en-IN" dirty="0"/>
          </a:p>
          <a:p>
            <a:r>
              <a:rPr lang="en-IN" dirty="0"/>
              <a:t>However when we tried to generate a car price like below , it generated values which are way behind actuals ( courtesy </a:t>
            </a:r>
            <a:r>
              <a:rPr lang="en-IN" dirty="0">
                <a:hlinkClick r:id="rId3"/>
              </a:rPr>
              <a:t>Spiny</a:t>
            </a:r>
            <a:r>
              <a:rPr lang="en-IN" dirty="0"/>
              <a:t>)</a:t>
            </a:r>
          </a:p>
        </p:txBody>
      </p:sp>
      <p:graphicFrame>
        <p:nvGraphicFramePr>
          <p:cNvPr id="11" name="Table 10">
            <a:extLst>
              <a:ext uri="{FF2B5EF4-FFF2-40B4-BE49-F238E27FC236}">
                <a16:creationId xmlns:a16="http://schemas.microsoft.com/office/drawing/2014/main" id="{0F44802D-5B01-F485-F1DC-5A2B1F167AAC}"/>
              </a:ext>
            </a:extLst>
          </p:cNvPr>
          <p:cNvGraphicFramePr>
            <a:graphicFrameLocks noGrp="1"/>
          </p:cNvGraphicFramePr>
          <p:nvPr>
            <p:extLst>
              <p:ext uri="{D42A27DB-BD31-4B8C-83A1-F6EECF244321}">
                <p14:modId xmlns:p14="http://schemas.microsoft.com/office/powerpoint/2010/main" val="245922990"/>
              </p:ext>
            </p:extLst>
          </p:nvPr>
        </p:nvGraphicFramePr>
        <p:xfrm>
          <a:off x="4064000" y="3434379"/>
          <a:ext cx="8127999" cy="265176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876137787"/>
                    </a:ext>
                  </a:extLst>
                </a:gridCol>
                <a:gridCol w="903111">
                  <a:extLst>
                    <a:ext uri="{9D8B030D-6E8A-4147-A177-3AD203B41FA5}">
                      <a16:colId xmlns:a16="http://schemas.microsoft.com/office/drawing/2014/main" val="3564886923"/>
                    </a:ext>
                  </a:extLst>
                </a:gridCol>
                <a:gridCol w="903111">
                  <a:extLst>
                    <a:ext uri="{9D8B030D-6E8A-4147-A177-3AD203B41FA5}">
                      <a16:colId xmlns:a16="http://schemas.microsoft.com/office/drawing/2014/main" val="4293297842"/>
                    </a:ext>
                  </a:extLst>
                </a:gridCol>
                <a:gridCol w="903111">
                  <a:extLst>
                    <a:ext uri="{9D8B030D-6E8A-4147-A177-3AD203B41FA5}">
                      <a16:colId xmlns:a16="http://schemas.microsoft.com/office/drawing/2014/main" val="495584182"/>
                    </a:ext>
                  </a:extLst>
                </a:gridCol>
                <a:gridCol w="903111">
                  <a:extLst>
                    <a:ext uri="{9D8B030D-6E8A-4147-A177-3AD203B41FA5}">
                      <a16:colId xmlns:a16="http://schemas.microsoft.com/office/drawing/2014/main" val="865028433"/>
                    </a:ext>
                  </a:extLst>
                </a:gridCol>
                <a:gridCol w="903111">
                  <a:extLst>
                    <a:ext uri="{9D8B030D-6E8A-4147-A177-3AD203B41FA5}">
                      <a16:colId xmlns:a16="http://schemas.microsoft.com/office/drawing/2014/main" val="2647783746"/>
                    </a:ext>
                  </a:extLst>
                </a:gridCol>
                <a:gridCol w="903111">
                  <a:extLst>
                    <a:ext uri="{9D8B030D-6E8A-4147-A177-3AD203B41FA5}">
                      <a16:colId xmlns:a16="http://schemas.microsoft.com/office/drawing/2014/main" val="3801339934"/>
                    </a:ext>
                  </a:extLst>
                </a:gridCol>
                <a:gridCol w="903111">
                  <a:extLst>
                    <a:ext uri="{9D8B030D-6E8A-4147-A177-3AD203B41FA5}">
                      <a16:colId xmlns:a16="http://schemas.microsoft.com/office/drawing/2014/main" val="2715420102"/>
                    </a:ext>
                  </a:extLst>
                </a:gridCol>
                <a:gridCol w="903111">
                  <a:extLst>
                    <a:ext uri="{9D8B030D-6E8A-4147-A177-3AD203B41FA5}">
                      <a16:colId xmlns:a16="http://schemas.microsoft.com/office/drawing/2014/main" val="2792618002"/>
                    </a:ext>
                  </a:extLst>
                </a:gridCol>
              </a:tblGrid>
              <a:tr h="465541">
                <a:tc>
                  <a:txBody>
                    <a:bodyPr/>
                    <a:lstStyle/>
                    <a:p>
                      <a:r>
                        <a:rPr lang="en-IN" sz="1400" dirty="0"/>
                        <a:t>Brand</a:t>
                      </a:r>
                    </a:p>
                  </a:txBody>
                  <a:tcPr/>
                </a:tc>
                <a:tc>
                  <a:txBody>
                    <a:bodyPr/>
                    <a:lstStyle/>
                    <a:p>
                      <a:r>
                        <a:rPr lang="en-IN" sz="1400" dirty="0"/>
                        <a:t>Model Name</a:t>
                      </a:r>
                    </a:p>
                  </a:txBody>
                  <a:tcPr/>
                </a:tc>
                <a:tc>
                  <a:txBody>
                    <a:bodyPr/>
                    <a:lstStyle/>
                    <a:p>
                      <a:r>
                        <a:rPr lang="en-IN" sz="1400" dirty="0"/>
                        <a:t>Model Variant</a:t>
                      </a:r>
                    </a:p>
                  </a:txBody>
                  <a:tcPr/>
                </a:tc>
                <a:tc>
                  <a:txBody>
                    <a:bodyPr/>
                    <a:lstStyle/>
                    <a:p>
                      <a:r>
                        <a:rPr lang="en-IN" sz="1400" dirty="0"/>
                        <a:t>Car Type</a:t>
                      </a:r>
                    </a:p>
                  </a:txBody>
                  <a:tcPr/>
                </a:tc>
                <a:tc>
                  <a:txBody>
                    <a:bodyPr/>
                    <a:lstStyle/>
                    <a:p>
                      <a:r>
                        <a:rPr lang="en-IN" sz="1400" dirty="0"/>
                        <a:t>Transmission</a:t>
                      </a:r>
                    </a:p>
                  </a:txBody>
                  <a:tcPr/>
                </a:tc>
                <a:tc>
                  <a:txBody>
                    <a:bodyPr/>
                    <a:lstStyle/>
                    <a:p>
                      <a:r>
                        <a:rPr lang="en-IN" sz="1400" dirty="0"/>
                        <a:t>Fuel Type</a:t>
                      </a:r>
                    </a:p>
                  </a:txBody>
                  <a:tcPr/>
                </a:tc>
                <a:tc>
                  <a:txBody>
                    <a:bodyPr/>
                    <a:lstStyle/>
                    <a:p>
                      <a:r>
                        <a:rPr lang="en-IN" sz="1400" dirty="0"/>
                        <a:t>Year</a:t>
                      </a:r>
                    </a:p>
                  </a:txBody>
                  <a:tcPr/>
                </a:tc>
                <a:tc>
                  <a:txBody>
                    <a:bodyPr/>
                    <a:lstStyle/>
                    <a:p>
                      <a:r>
                        <a:rPr lang="en-IN" sz="1400" dirty="0"/>
                        <a:t>KMs</a:t>
                      </a:r>
                    </a:p>
                  </a:txBody>
                  <a:tcPr/>
                </a:tc>
                <a:tc>
                  <a:txBody>
                    <a:bodyPr/>
                    <a:lstStyle/>
                    <a:p>
                      <a:r>
                        <a:rPr lang="en-IN" sz="1400" dirty="0"/>
                        <a:t>Price generated (Rs)</a:t>
                      </a:r>
                    </a:p>
                  </a:txBody>
                  <a:tcPr/>
                </a:tc>
                <a:extLst>
                  <a:ext uri="{0D108BD9-81ED-4DB2-BD59-A6C34878D82A}">
                    <a16:rowId xmlns:a16="http://schemas.microsoft.com/office/drawing/2014/main" val="3278356748"/>
                  </a:ext>
                </a:extLst>
              </a:tr>
              <a:tr h="236003">
                <a:tc>
                  <a:txBody>
                    <a:bodyPr/>
                    <a:lstStyle/>
                    <a:p>
                      <a:r>
                        <a:rPr lang="en-IN" dirty="0"/>
                        <a:t>Tata</a:t>
                      </a:r>
                    </a:p>
                  </a:txBody>
                  <a:tcPr/>
                </a:tc>
                <a:tc>
                  <a:txBody>
                    <a:bodyPr/>
                    <a:lstStyle/>
                    <a:p>
                      <a:r>
                        <a:rPr lang="en-IN" dirty="0"/>
                        <a:t>Nexon</a:t>
                      </a:r>
                    </a:p>
                  </a:txBody>
                  <a:tcPr/>
                </a:tc>
                <a:tc>
                  <a:txBody>
                    <a:bodyPr/>
                    <a:lstStyle/>
                    <a:p>
                      <a:r>
                        <a:rPr lang="en-IN" dirty="0"/>
                        <a:t>Nexon</a:t>
                      </a:r>
                    </a:p>
                  </a:txBody>
                  <a:tcPr/>
                </a:tc>
                <a:tc>
                  <a:txBody>
                    <a:bodyPr/>
                    <a:lstStyle/>
                    <a:p>
                      <a:r>
                        <a:rPr lang="en-IN" dirty="0"/>
                        <a:t>SUV</a:t>
                      </a:r>
                    </a:p>
                  </a:txBody>
                  <a:tcPr/>
                </a:tc>
                <a:tc>
                  <a:txBody>
                    <a:bodyPr/>
                    <a:lstStyle/>
                    <a:p>
                      <a:r>
                        <a:rPr lang="en-IN" dirty="0"/>
                        <a:t>Manual</a:t>
                      </a:r>
                    </a:p>
                  </a:txBody>
                  <a:tcPr/>
                </a:tc>
                <a:tc>
                  <a:txBody>
                    <a:bodyPr/>
                    <a:lstStyle/>
                    <a:p>
                      <a:r>
                        <a:rPr lang="en-IN" dirty="0"/>
                        <a:t>Petrol</a:t>
                      </a:r>
                    </a:p>
                  </a:txBody>
                  <a:tcPr/>
                </a:tc>
                <a:tc>
                  <a:txBody>
                    <a:bodyPr/>
                    <a:lstStyle/>
                    <a:p>
                      <a:r>
                        <a:rPr lang="en-IN" dirty="0"/>
                        <a:t>2017</a:t>
                      </a:r>
                    </a:p>
                  </a:txBody>
                  <a:tcPr/>
                </a:tc>
                <a:tc>
                  <a:txBody>
                    <a:bodyPr/>
                    <a:lstStyle/>
                    <a:p>
                      <a:r>
                        <a:rPr lang="en-IN" dirty="0"/>
                        <a:t>115000</a:t>
                      </a:r>
                    </a:p>
                  </a:txBody>
                  <a:tcPr/>
                </a:tc>
                <a:tc>
                  <a:txBody>
                    <a:bodyPr/>
                    <a:lstStyle/>
                    <a:p>
                      <a:r>
                        <a:rPr lang="en-IN" dirty="0"/>
                        <a:t>44000</a:t>
                      </a:r>
                    </a:p>
                  </a:txBody>
                  <a:tcPr/>
                </a:tc>
                <a:extLst>
                  <a:ext uri="{0D108BD9-81ED-4DB2-BD59-A6C34878D82A}">
                    <a16:rowId xmlns:a16="http://schemas.microsoft.com/office/drawing/2014/main" val="3407704649"/>
                  </a:ext>
                </a:extLst>
              </a:tr>
              <a:tr h="5819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Maruti Suzuki</a:t>
                      </a:r>
                    </a:p>
                    <a:p>
                      <a:endParaRPr lang="en-IN" dirty="0"/>
                    </a:p>
                  </a:txBody>
                  <a:tcPr/>
                </a:tc>
                <a:tc>
                  <a:txBody>
                    <a:bodyPr/>
                    <a:lstStyle/>
                    <a:p>
                      <a:r>
                        <a:rPr lang="en-IN" dirty="0"/>
                        <a:t>Alto</a:t>
                      </a:r>
                    </a:p>
                  </a:txBody>
                  <a:tcPr/>
                </a:tc>
                <a:tc>
                  <a:txBody>
                    <a:bodyPr/>
                    <a:lstStyle/>
                    <a:p>
                      <a:r>
                        <a:rPr lang="en-IN" dirty="0"/>
                        <a:t>Z</a:t>
                      </a:r>
                    </a:p>
                  </a:txBody>
                  <a:tcPr/>
                </a:tc>
                <a:tc>
                  <a:txBody>
                    <a:bodyPr/>
                    <a:lstStyle/>
                    <a:p>
                      <a:r>
                        <a:rPr lang="en-IN" dirty="0"/>
                        <a:t>Hatchback</a:t>
                      </a:r>
                    </a:p>
                  </a:txBody>
                  <a:tcPr/>
                </a:tc>
                <a:tc>
                  <a:txBody>
                    <a:bodyPr/>
                    <a:lstStyle/>
                    <a:p>
                      <a:r>
                        <a:rPr lang="en-IN" dirty="0"/>
                        <a:t>Manual</a:t>
                      </a:r>
                    </a:p>
                  </a:txBody>
                  <a:tcPr/>
                </a:tc>
                <a:tc>
                  <a:txBody>
                    <a:bodyPr/>
                    <a:lstStyle/>
                    <a:p>
                      <a:r>
                        <a:rPr lang="en-IN" dirty="0"/>
                        <a:t>Petrol</a:t>
                      </a:r>
                    </a:p>
                  </a:txBody>
                  <a:tcPr/>
                </a:tc>
                <a:tc>
                  <a:txBody>
                    <a:bodyPr/>
                    <a:lstStyle/>
                    <a:p>
                      <a:r>
                        <a:rPr lang="en-IN" dirty="0"/>
                        <a:t>2007</a:t>
                      </a:r>
                    </a:p>
                  </a:txBody>
                  <a:tcPr/>
                </a:tc>
                <a:tc>
                  <a:txBody>
                    <a:bodyPr/>
                    <a:lstStyle/>
                    <a:p>
                      <a:r>
                        <a:rPr lang="en-IN" dirty="0"/>
                        <a:t>150000</a:t>
                      </a:r>
                    </a:p>
                  </a:txBody>
                  <a:tcPr/>
                </a:tc>
                <a:tc>
                  <a:txBody>
                    <a:bodyPr/>
                    <a:lstStyle/>
                    <a:p>
                      <a:r>
                        <a:rPr lang="en-IN" dirty="0"/>
                        <a:t>56000</a:t>
                      </a:r>
                    </a:p>
                  </a:txBody>
                  <a:tcPr/>
                </a:tc>
                <a:extLst>
                  <a:ext uri="{0D108BD9-81ED-4DB2-BD59-A6C34878D82A}">
                    <a16:rowId xmlns:a16="http://schemas.microsoft.com/office/drawing/2014/main" val="3631226817"/>
                  </a:ext>
                </a:extLst>
              </a:tr>
              <a:tr h="407348">
                <a:tc>
                  <a:txBody>
                    <a:bodyPr/>
                    <a:lstStyle/>
                    <a:p>
                      <a:r>
                        <a:rPr lang="en-IN" dirty="0" err="1"/>
                        <a:t>Hundai</a:t>
                      </a:r>
                      <a:endParaRPr lang="en-IN" dirty="0"/>
                    </a:p>
                  </a:txBody>
                  <a:tcPr/>
                </a:tc>
                <a:tc>
                  <a:txBody>
                    <a:bodyPr/>
                    <a:lstStyle/>
                    <a:p>
                      <a:r>
                        <a:rPr lang="en-IN" dirty="0"/>
                        <a:t>I10</a:t>
                      </a:r>
                    </a:p>
                  </a:txBody>
                  <a:tcPr/>
                </a:tc>
                <a:tc>
                  <a:txBody>
                    <a:bodyPr/>
                    <a:lstStyle/>
                    <a:p>
                      <a:r>
                        <a:rPr lang="en-IN" dirty="0" err="1"/>
                        <a:t>Sportzs</a:t>
                      </a:r>
                      <a:endParaRPr lang="en-IN" dirty="0"/>
                    </a:p>
                  </a:txBody>
                  <a:tcPr/>
                </a:tc>
                <a:tc>
                  <a:txBody>
                    <a:bodyPr/>
                    <a:lstStyle/>
                    <a:p>
                      <a:r>
                        <a:rPr lang="en-IN" dirty="0"/>
                        <a:t>Hatchback</a:t>
                      </a:r>
                    </a:p>
                  </a:txBody>
                  <a:tcPr/>
                </a:tc>
                <a:tc>
                  <a:txBody>
                    <a:bodyPr/>
                    <a:lstStyle/>
                    <a:p>
                      <a:r>
                        <a:rPr lang="en-IN" dirty="0"/>
                        <a:t>Manual</a:t>
                      </a:r>
                    </a:p>
                  </a:txBody>
                  <a:tcPr/>
                </a:tc>
                <a:tc>
                  <a:txBody>
                    <a:bodyPr/>
                    <a:lstStyle/>
                    <a:p>
                      <a:r>
                        <a:rPr lang="en-IN" dirty="0"/>
                        <a:t>Petrol</a:t>
                      </a:r>
                    </a:p>
                  </a:txBody>
                  <a:tcPr/>
                </a:tc>
                <a:tc>
                  <a:txBody>
                    <a:bodyPr/>
                    <a:lstStyle/>
                    <a:p>
                      <a:r>
                        <a:rPr lang="en-IN" dirty="0"/>
                        <a:t>2011</a:t>
                      </a:r>
                    </a:p>
                  </a:txBody>
                  <a:tcPr/>
                </a:tc>
                <a:tc>
                  <a:txBody>
                    <a:bodyPr/>
                    <a:lstStyle/>
                    <a:p>
                      <a:r>
                        <a:rPr lang="en-IN" dirty="0"/>
                        <a:t>90000</a:t>
                      </a:r>
                    </a:p>
                  </a:txBody>
                  <a:tcPr/>
                </a:tc>
                <a:tc>
                  <a:txBody>
                    <a:bodyPr/>
                    <a:lstStyle/>
                    <a:p>
                      <a:r>
                        <a:rPr lang="en-IN" dirty="0"/>
                        <a:t>60000</a:t>
                      </a:r>
                    </a:p>
                  </a:txBody>
                  <a:tcPr/>
                </a:tc>
                <a:extLst>
                  <a:ext uri="{0D108BD9-81ED-4DB2-BD59-A6C34878D82A}">
                    <a16:rowId xmlns:a16="http://schemas.microsoft.com/office/drawing/2014/main" val="1193262171"/>
                  </a:ext>
                </a:extLst>
              </a:tr>
            </a:tbl>
          </a:graphicData>
        </a:graphic>
      </p:graphicFrame>
    </p:spTree>
    <p:extLst>
      <p:ext uri="{BB962C8B-B14F-4D97-AF65-F5344CB8AC3E}">
        <p14:creationId xmlns:p14="http://schemas.microsoft.com/office/powerpoint/2010/main" val="1083578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1CED6-F0DE-630F-235F-96BC2430473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CC79955-9AC1-C47C-CF0F-6E8453DCEBC5}"/>
              </a:ext>
            </a:extLst>
          </p:cNvPr>
          <p:cNvSpPr>
            <a:spLocks noGrp="1"/>
          </p:cNvSpPr>
          <p:nvPr>
            <p:ph type="title"/>
          </p:nvPr>
        </p:nvSpPr>
        <p:spPr/>
        <p:txBody>
          <a:bodyPr>
            <a:normAutofit/>
          </a:bodyPr>
          <a:lstStyle/>
          <a:p>
            <a:r>
              <a:rPr lang="en-US" sz="2800" b="1" dirty="0">
                <a:solidFill>
                  <a:schemeClr val="bg1"/>
                </a:solidFill>
              </a:rPr>
              <a:t>Final Learnings - II</a:t>
            </a:r>
            <a:endParaRPr lang="en-SG" sz="2800" dirty="0">
              <a:solidFill>
                <a:schemeClr val="bg1"/>
              </a:solidFill>
            </a:endParaRPr>
          </a:p>
        </p:txBody>
      </p:sp>
      <p:sp>
        <p:nvSpPr>
          <p:cNvPr id="9" name="Content Placeholder 8">
            <a:extLst>
              <a:ext uri="{FF2B5EF4-FFF2-40B4-BE49-F238E27FC236}">
                <a16:creationId xmlns:a16="http://schemas.microsoft.com/office/drawing/2014/main" id="{24053100-32E0-DBF6-8FD7-75DA661E066B}"/>
              </a:ext>
            </a:extLst>
          </p:cNvPr>
          <p:cNvSpPr>
            <a:spLocks noGrp="1"/>
          </p:cNvSpPr>
          <p:nvPr>
            <p:ph idx="1"/>
          </p:nvPr>
        </p:nvSpPr>
        <p:spPr>
          <a:xfrm>
            <a:off x="4064002" y="33091"/>
            <a:ext cx="7787688" cy="6272114"/>
          </a:xfrm>
        </p:spPr>
        <p:txBody>
          <a:bodyPr vert="horz" lIns="0" tIns="45720" rIns="0" bIns="45720" rtlCol="0" anchor="t">
            <a:normAutofit/>
          </a:bodyPr>
          <a:lstStyle/>
          <a:p>
            <a:pPr marL="486410" lvl="1"/>
            <a:endParaRPr lang="en-US" dirty="0">
              <a:solidFill>
                <a:schemeClr val="tx1"/>
              </a:solidFill>
            </a:endParaRPr>
          </a:p>
          <a:p>
            <a:pPr marL="215900" indent="-215900"/>
            <a:endParaRPr lang="en-US" dirty="0">
              <a:solidFill>
                <a:schemeClr val="tx1"/>
              </a:solidFill>
            </a:endParaRPr>
          </a:p>
        </p:txBody>
      </p:sp>
      <p:sp>
        <p:nvSpPr>
          <p:cNvPr id="2" name="Text Placeholder 1">
            <a:extLst>
              <a:ext uri="{FF2B5EF4-FFF2-40B4-BE49-F238E27FC236}">
                <a16:creationId xmlns:a16="http://schemas.microsoft.com/office/drawing/2014/main" id="{93741252-4936-06CF-8B6D-48E241D5FE73}"/>
              </a:ext>
            </a:extLst>
          </p:cNvPr>
          <p:cNvSpPr>
            <a:spLocks noGrp="1"/>
          </p:cNvSpPr>
          <p:nvPr>
            <p:ph type="body" sz="half" idx="2"/>
          </p:nvPr>
        </p:nvSpPr>
        <p:spPr/>
        <p:txBody>
          <a:bodyPr/>
          <a:lstStyle/>
          <a:p>
            <a:endParaRPr lang="en-SG" dirty="0"/>
          </a:p>
        </p:txBody>
      </p:sp>
      <p:sp>
        <p:nvSpPr>
          <p:cNvPr id="6" name="Footer Placeholder 5">
            <a:extLst>
              <a:ext uri="{FF2B5EF4-FFF2-40B4-BE49-F238E27FC236}">
                <a16:creationId xmlns:a16="http://schemas.microsoft.com/office/drawing/2014/main" id="{27A2623D-1CBB-E31B-6CE4-E140AC6CB00F}"/>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B57D4766-D5BC-C248-96FB-21600715E480}"/>
              </a:ext>
            </a:extLst>
          </p:cNvPr>
          <p:cNvSpPr>
            <a:spLocks noGrp="1"/>
          </p:cNvSpPr>
          <p:nvPr>
            <p:ph type="sldNum" sz="quarter" idx="12"/>
          </p:nvPr>
        </p:nvSpPr>
        <p:spPr/>
        <p:txBody>
          <a:bodyPr/>
          <a:lstStyle/>
          <a:p>
            <a:fld id="{BF1758FF-0BF1-4103-A89A-38EC40E85429}" type="slidenum">
              <a:rPr lang="en-SG" smtClean="0"/>
              <a:t>11</a:t>
            </a:fld>
            <a:endParaRPr lang="en-SG"/>
          </a:p>
        </p:txBody>
      </p:sp>
      <p:pic>
        <p:nvPicPr>
          <p:cNvPr id="4" name="Picture 3">
            <a:extLst>
              <a:ext uri="{FF2B5EF4-FFF2-40B4-BE49-F238E27FC236}">
                <a16:creationId xmlns:a16="http://schemas.microsoft.com/office/drawing/2014/main" id="{4D027F5C-283C-5B8E-602C-2B622223187B}"/>
              </a:ext>
            </a:extLst>
          </p:cNvPr>
          <p:cNvPicPr>
            <a:picLocks noChangeAspect="1"/>
          </p:cNvPicPr>
          <p:nvPr/>
        </p:nvPicPr>
        <p:blipFill>
          <a:blip r:embed="rId2"/>
          <a:stretch>
            <a:fillRect/>
          </a:stretch>
        </p:blipFill>
        <p:spPr>
          <a:xfrm>
            <a:off x="457200" y="2926080"/>
            <a:ext cx="3200400" cy="3379124"/>
          </a:xfrm>
          <a:prstGeom prst="rect">
            <a:avLst/>
          </a:prstGeom>
        </p:spPr>
      </p:pic>
      <p:graphicFrame>
        <p:nvGraphicFramePr>
          <p:cNvPr id="3" name="Table 2">
            <a:extLst>
              <a:ext uri="{FF2B5EF4-FFF2-40B4-BE49-F238E27FC236}">
                <a16:creationId xmlns:a16="http://schemas.microsoft.com/office/drawing/2014/main" id="{7C970F17-FAF4-7E74-95DE-A77249855391}"/>
              </a:ext>
            </a:extLst>
          </p:cNvPr>
          <p:cNvGraphicFramePr>
            <a:graphicFrameLocks noGrp="1"/>
          </p:cNvGraphicFramePr>
          <p:nvPr>
            <p:extLst>
              <p:ext uri="{D42A27DB-BD31-4B8C-83A1-F6EECF244321}">
                <p14:modId xmlns:p14="http://schemas.microsoft.com/office/powerpoint/2010/main" val="2903184390"/>
              </p:ext>
            </p:extLst>
          </p:nvPr>
        </p:nvGraphicFramePr>
        <p:xfrm>
          <a:off x="4064000" y="350227"/>
          <a:ext cx="8128000" cy="2932515"/>
        </p:xfrm>
        <a:graphic>
          <a:graphicData uri="http://schemas.openxmlformats.org/drawingml/2006/table">
            <a:tbl>
              <a:tblPr firstRow="1" bandRow="1">
                <a:tableStyleId>{5C22544A-7EE6-4342-B048-85BDC9FD1C3A}</a:tableStyleId>
              </a:tblPr>
              <a:tblGrid>
                <a:gridCol w="2814782">
                  <a:extLst>
                    <a:ext uri="{9D8B030D-6E8A-4147-A177-3AD203B41FA5}">
                      <a16:colId xmlns:a16="http://schemas.microsoft.com/office/drawing/2014/main" val="3907789441"/>
                    </a:ext>
                  </a:extLst>
                </a:gridCol>
                <a:gridCol w="1249218">
                  <a:extLst>
                    <a:ext uri="{9D8B030D-6E8A-4147-A177-3AD203B41FA5}">
                      <a16:colId xmlns:a16="http://schemas.microsoft.com/office/drawing/2014/main" val="3271594661"/>
                    </a:ext>
                  </a:extLst>
                </a:gridCol>
                <a:gridCol w="2032000">
                  <a:extLst>
                    <a:ext uri="{9D8B030D-6E8A-4147-A177-3AD203B41FA5}">
                      <a16:colId xmlns:a16="http://schemas.microsoft.com/office/drawing/2014/main" val="468427076"/>
                    </a:ext>
                  </a:extLst>
                </a:gridCol>
                <a:gridCol w="2032000">
                  <a:extLst>
                    <a:ext uri="{9D8B030D-6E8A-4147-A177-3AD203B41FA5}">
                      <a16:colId xmlns:a16="http://schemas.microsoft.com/office/drawing/2014/main" val="2687712310"/>
                    </a:ext>
                  </a:extLst>
                </a:gridCol>
              </a:tblGrid>
              <a:tr h="318092">
                <a:tc>
                  <a:txBody>
                    <a:bodyPr/>
                    <a:lstStyle/>
                    <a:p>
                      <a:r>
                        <a:rPr lang="en-IN" sz="1600" dirty="0"/>
                        <a:t>Model Name</a:t>
                      </a:r>
                    </a:p>
                  </a:txBody>
                  <a:tcPr/>
                </a:tc>
                <a:tc>
                  <a:txBody>
                    <a:bodyPr/>
                    <a:lstStyle/>
                    <a:p>
                      <a:r>
                        <a:rPr lang="en-IN" sz="1600" dirty="0"/>
                        <a:t>R2</a:t>
                      </a:r>
                    </a:p>
                  </a:txBody>
                  <a:tcPr/>
                </a:tc>
                <a:tc>
                  <a:txBody>
                    <a:bodyPr/>
                    <a:lstStyle/>
                    <a:p>
                      <a:r>
                        <a:rPr lang="en-IN" sz="1600" dirty="0"/>
                        <a:t>MAE</a:t>
                      </a:r>
                    </a:p>
                  </a:txBody>
                  <a:tcPr/>
                </a:tc>
                <a:tc>
                  <a:txBody>
                    <a:bodyPr/>
                    <a:lstStyle/>
                    <a:p>
                      <a:r>
                        <a:rPr lang="en-IN" sz="1600" dirty="0"/>
                        <a:t>RMSE</a:t>
                      </a:r>
                    </a:p>
                  </a:txBody>
                  <a:tcPr/>
                </a:tc>
                <a:extLst>
                  <a:ext uri="{0D108BD9-81ED-4DB2-BD59-A6C34878D82A}">
                    <a16:rowId xmlns:a16="http://schemas.microsoft.com/office/drawing/2014/main" val="4175672522"/>
                  </a:ext>
                </a:extLst>
              </a:tr>
              <a:tr h="318092">
                <a:tc>
                  <a:txBody>
                    <a:bodyPr/>
                    <a:lstStyle/>
                    <a:p>
                      <a:pPr algn="r" fontAlgn="ctr"/>
                      <a:r>
                        <a:rPr lang="en-US" sz="1600" b="1" dirty="0" err="1">
                          <a:effectLst/>
                        </a:rPr>
                        <a:t>RandomForest</a:t>
                      </a:r>
                      <a:endParaRPr lang="en-US" sz="1600" b="1" dirty="0">
                        <a:effectLst/>
                      </a:endParaRPr>
                    </a:p>
                  </a:txBody>
                  <a:tcPr anchor="ctr"/>
                </a:tc>
                <a:tc>
                  <a:txBody>
                    <a:bodyPr/>
                    <a:lstStyle/>
                    <a:p>
                      <a:pPr algn="r" fontAlgn="ctr"/>
                      <a:r>
                        <a:rPr lang="en-US" sz="1600">
                          <a:effectLst/>
                        </a:rPr>
                        <a:t>0.286</a:t>
                      </a:r>
                    </a:p>
                  </a:txBody>
                  <a:tcPr anchor="ctr"/>
                </a:tc>
                <a:tc>
                  <a:txBody>
                    <a:bodyPr/>
                    <a:lstStyle/>
                    <a:p>
                      <a:pPr algn="r" fontAlgn="ctr"/>
                      <a:r>
                        <a:rPr lang="en-US" sz="1600">
                          <a:effectLst/>
                        </a:rPr>
                        <a:t>289497.575</a:t>
                      </a:r>
                    </a:p>
                  </a:txBody>
                  <a:tcPr anchor="ctr"/>
                </a:tc>
                <a:tc>
                  <a:txBody>
                    <a:bodyPr/>
                    <a:lstStyle/>
                    <a:p>
                      <a:pPr algn="r" fontAlgn="ctr"/>
                      <a:r>
                        <a:rPr lang="en-US" sz="1600" dirty="0">
                          <a:effectLst/>
                        </a:rPr>
                        <a:t>350470.397</a:t>
                      </a:r>
                    </a:p>
                  </a:txBody>
                  <a:tcPr anchor="ctr"/>
                </a:tc>
                <a:extLst>
                  <a:ext uri="{0D108BD9-81ED-4DB2-BD59-A6C34878D82A}">
                    <a16:rowId xmlns:a16="http://schemas.microsoft.com/office/drawing/2014/main" val="2867336984"/>
                  </a:ext>
                </a:extLst>
              </a:tr>
              <a:tr h="318092">
                <a:tc>
                  <a:txBody>
                    <a:bodyPr/>
                    <a:lstStyle/>
                    <a:p>
                      <a:pPr algn="r" fontAlgn="ctr"/>
                      <a:r>
                        <a:rPr lang="en-US" sz="1600" b="1" dirty="0" err="1">
                          <a:effectLst/>
                        </a:rPr>
                        <a:t>XGBoost</a:t>
                      </a:r>
                      <a:endParaRPr lang="en-US" sz="1600" b="1" dirty="0">
                        <a:effectLst/>
                      </a:endParaRPr>
                    </a:p>
                  </a:txBody>
                  <a:tcPr anchor="ctr"/>
                </a:tc>
                <a:tc>
                  <a:txBody>
                    <a:bodyPr/>
                    <a:lstStyle/>
                    <a:p>
                      <a:pPr algn="r" fontAlgn="ctr"/>
                      <a:r>
                        <a:rPr lang="en-US" sz="1600" dirty="0">
                          <a:effectLst/>
                        </a:rPr>
                        <a:t>0.293</a:t>
                      </a:r>
                    </a:p>
                  </a:txBody>
                  <a:tcPr anchor="ctr"/>
                </a:tc>
                <a:tc>
                  <a:txBody>
                    <a:bodyPr/>
                    <a:lstStyle/>
                    <a:p>
                      <a:pPr algn="r" fontAlgn="ctr"/>
                      <a:r>
                        <a:rPr lang="en-US" sz="1600">
                          <a:effectLst/>
                        </a:rPr>
                        <a:t>288154.934</a:t>
                      </a:r>
                    </a:p>
                  </a:txBody>
                  <a:tcPr anchor="ctr"/>
                </a:tc>
                <a:tc>
                  <a:txBody>
                    <a:bodyPr/>
                    <a:lstStyle/>
                    <a:p>
                      <a:pPr algn="r" fontAlgn="ctr"/>
                      <a:r>
                        <a:rPr lang="en-US" sz="1600">
                          <a:effectLst/>
                        </a:rPr>
                        <a:t>348752.493</a:t>
                      </a:r>
                    </a:p>
                  </a:txBody>
                  <a:tcPr anchor="ctr"/>
                </a:tc>
                <a:extLst>
                  <a:ext uri="{0D108BD9-81ED-4DB2-BD59-A6C34878D82A}">
                    <a16:rowId xmlns:a16="http://schemas.microsoft.com/office/drawing/2014/main" val="3570551587"/>
                  </a:ext>
                </a:extLst>
              </a:tr>
              <a:tr h="318092">
                <a:tc>
                  <a:txBody>
                    <a:bodyPr/>
                    <a:lstStyle/>
                    <a:p>
                      <a:pPr algn="r" fontAlgn="ctr"/>
                      <a:r>
                        <a:rPr lang="en-US" sz="1600" b="1" dirty="0" err="1">
                          <a:effectLst/>
                        </a:rPr>
                        <a:t>LightGBM</a:t>
                      </a:r>
                      <a:endParaRPr lang="en-US" sz="1600" b="1" dirty="0">
                        <a:effectLst/>
                      </a:endParaRPr>
                    </a:p>
                  </a:txBody>
                  <a:tcPr anchor="ctr"/>
                </a:tc>
                <a:tc>
                  <a:txBody>
                    <a:bodyPr/>
                    <a:lstStyle/>
                    <a:p>
                      <a:pPr algn="r" fontAlgn="ctr"/>
                      <a:r>
                        <a:rPr lang="en-US" sz="1600">
                          <a:effectLst/>
                        </a:rPr>
                        <a:t>0.292</a:t>
                      </a:r>
                    </a:p>
                  </a:txBody>
                  <a:tcPr anchor="ctr"/>
                </a:tc>
                <a:tc>
                  <a:txBody>
                    <a:bodyPr/>
                    <a:lstStyle/>
                    <a:p>
                      <a:pPr algn="r" fontAlgn="ctr"/>
                      <a:r>
                        <a:rPr lang="en-US" sz="1600">
                          <a:effectLst/>
                        </a:rPr>
                        <a:t>288464.150</a:t>
                      </a:r>
                    </a:p>
                  </a:txBody>
                  <a:tcPr anchor="ctr"/>
                </a:tc>
                <a:tc>
                  <a:txBody>
                    <a:bodyPr/>
                    <a:lstStyle/>
                    <a:p>
                      <a:pPr algn="r" fontAlgn="ctr"/>
                      <a:r>
                        <a:rPr lang="en-US" sz="1600">
                          <a:effectLst/>
                        </a:rPr>
                        <a:t>349108.866</a:t>
                      </a:r>
                    </a:p>
                  </a:txBody>
                  <a:tcPr anchor="ctr"/>
                </a:tc>
                <a:extLst>
                  <a:ext uri="{0D108BD9-81ED-4DB2-BD59-A6C34878D82A}">
                    <a16:rowId xmlns:a16="http://schemas.microsoft.com/office/drawing/2014/main" val="1789126604"/>
                  </a:ext>
                </a:extLst>
              </a:tr>
              <a:tr h="318092">
                <a:tc>
                  <a:txBody>
                    <a:bodyPr/>
                    <a:lstStyle/>
                    <a:p>
                      <a:pPr algn="r" fontAlgn="ctr"/>
                      <a:r>
                        <a:rPr lang="en-US" sz="1600" b="1" dirty="0">
                          <a:effectLst/>
                        </a:rPr>
                        <a:t>AdaBoost</a:t>
                      </a:r>
                    </a:p>
                  </a:txBody>
                  <a:tcPr anchor="ctr"/>
                </a:tc>
                <a:tc>
                  <a:txBody>
                    <a:bodyPr/>
                    <a:lstStyle/>
                    <a:p>
                      <a:pPr algn="r" fontAlgn="ctr"/>
                      <a:r>
                        <a:rPr lang="en-US" sz="1600" dirty="0">
                          <a:effectLst/>
                        </a:rPr>
                        <a:t>0.290</a:t>
                      </a:r>
                    </a:p>
                  </a:txBody>
                  <a:tcPr anchor="ctr"/>
                </a:tc>
                <a:tc>
                  <a:txBody>
                    <a:bodyPr/>
                    <a:lstStyle/>
                    <a:p>
                      <a:pPr algn="r" fontAlgn="ctr"/>
                      <a:r>
                        <a:rPr lang="en-US" sz="1600">
                          <a:effectLst/>
                        </a:rPr>
                        <a:t>288897.920</a:t>
                      </a:r>
                    </a:p>
                  </a:txBody>
                  <a:tcPr anchor="ctr"/>
                </a:tc>
                <a:tc>
                  <a:txBody>
                    <a:bodyPr/>
                    <a:lstStyle/>
                    <a:p>
                      <a:pPr algn="r" fontAlgn="ctr"/>
                      <a:r>
                        <a:rPr lang="en-US" sz="1600">
                          <a:effectLst/>
                        </a:rPr>
                        <a:t>349401.420</a:t>
                      </a:r>
                    </a:p>
                  </a:txBody>
                  <a:tcPr anchor="ctr"/>
                </a:tc>
                <a:extLst>
                  <a:ext uri="{0D108BD9-81ED-4DB2-BD59-A6C34878D82A}">
                    <a16:rowId xmlns:a16="http://schemas.microsoft.com/office/drawing/2014/main" val="3018800331"/>
                  </a:ext>
                </a:extLst>
              </a:tr>
              <a:tr h="349727">
                <a:tc>
                  <a:txBody>
                    <a:bodyPr/>
                    <a:lstStyle/>
                    <a:p>
                      <a:pPr algn="r" fontAlgn="ctr"/>
                      <a:r>
                        <a:rPr lang="en-US" sz="1600" b="1" dirty="0">
                          <a:effectLst/>
                        </a:rPr>
                        <a:t>Linear Regression</a:t>
                      </a:r>
                    </a:p>
                  </a:txBody>
                  <a:tcPr anchor="ctr"/>
                </a:tc>
                <a:tc>
                  <a:txBody>
                    <a:bodyPr/>
                    <a:lstStyle/>
                    <a:p>
                      <a:pPr algn="r" fontAlgn="ctr"/>
                      <a:r>
                        <a:rPr lang="en-US" sz="1600" dirty="0">
                          <a:effectLst/>
                        </a:rPr>
                        <a:t>0.267</a:t>
                      </a:r>
                    </a:p>
                  </a:txBody>
                  <a:tcPr anchor="ctr"/>
                </a:tc>
                <a:tc>
                  <a:txBody>
                    <a:bodyPr/>
                    <a:lstStyle/>
                    <a:p>
                      <a:pPr algn="r" fontAlgn="ctr"/>
                      <a:r>
                        <a:rPr lang="en-US" sz="1600" dirty="0">
                          <a:effectLst/>
                        </a:rPr>
                        <a:t>292440.433</a:t>
                      </a:r>
                    </a:p>
                  </a:txBody>
                  <a:tcPr anchor="ctr"/>
                </a:tc>
                <a:tc>
                  <a:txBody>
                    <a:bodyPr/>
                    <a:lstStyle/>
                    <a:p>
                      <a:pPr algn="r" fontAlgn="ctr"/>
                      <a:r>
                        <a:rPr lang="en-US" sz="1600" dirty="0">
                          <a:effectLst/>
                        </a:rPr>
                        <a:t>355010.491</a:t>
                      </a:r>
                    </a:p>
                  </a:txBody>
                  <a:tcPr anchor="ctr"/>
                </a:tc>
                <a:extLst>
                  <a:ext uri="{0D108BD9-81ED-4DB2-BD59-A6C34878D82A}">
                    <a16:rowId xmlns:a16="http://schemas.microsoft.com/office/drawing/2014/main" val="3703474040"/>
                  </a:ext>
                </a:extLst>
              </a:tr>
              <a:tr h="349727">
                <a:tc>
                  <a:txBody>
                    <a:bodyPr/>
                    <a:lstStyle/>
                    <a:p>
                      <a:pPr algn="r" fontAlgn="ctr"/>
                      <a:r>
                        <a:rPr lang="en-US" sz="1600" b="1" kern="1200" dirty="0" err="1">
                          <a:solidFill>
                            <a:schemeClr val="dk1"/>
                          </a:solidFill>
                          <a:effectLst/>
                          <a:latin typeface="+mn-lt"/>
                          <a:ea typeface="+mn-ea"/>
                          <a:cs typeface="+mn-cs"/>
                        </a:rPr>
                        <a:t>DecisionTree</a:t>
                      </a:r>
                      <a:endParaRPr lang="en-US" sz="1600" b="1" kern="1200" dirty="0">
                        <a:solidFill>
                          <a:schemeClr val="dk1"/>
                        </a:solidFill>
                        <a:effectLst/>
                        <a:latin typeface="+mn-lt"/>
                        <a:ea typeface="+mn-ea"/>
                        <a:cs typeface="+mn-cs"/>
                      </a:endParaRPr>
                    </a:p>
                  </a:txBody>
                  <a:tcPr anchor="ctr"/>
                </a:tc>
                <a:tc>
                  <a:txBody>
                    <a:bodyPr/>
                    <a:lstStyle/>
                    <a:p>
                      <a:pPr algn="r" fontAlgn="ctr"/>
                      <a:r>
                        <a:rPr lang="en-US" sz="1600" kern="1200" dirty="0">
                          <a:solidFill>
                            <a:schemeClr val="dk1"/>
                          </a:solidFill>
                          <a:effectLst/>
                          <a:latin typeface="+mn-lt"/>
                          <a:ea typeface="+mn-ea"/>
                          <a:cs typeface="+mn-cs"/>
                        </a:rPr>
                        <a:t>-0.435</a:t>
                      </a:r>
                    </a:p>
                  </a:txBody>
                  <a:tcPr anchor="ctr"/>
                </a:tc>
                <a:tc>
                  <a:txBody>
                    <a:bodyPr/>
                    <a:lstStyle/>
                    <a:p>
                      <a:pPr algn="r" fontAlgn="ctr"/>
                      <a:r>
                        <a:rPr lang="en-US" sz="1600" kern="1200" dirty="0">
                          <a:solidFill>
                            <a:schemeClr val="dk1"/>
                          </a:solidFill>
                          <a:effectLst/>
                          <a:latin typeface="+mn-lt"/>
                          <a:ea typeface="+mn-ea"/>
                          <a:cs typeface="+mn-cs"/>
                        </a:rPr>
                        <a:t>389166.599</a:t>
                      </a:r>
                    </a:p>
                  </a:txBody>
                  <a:tcPr anchor="ctr"/>
                </a:tc>
                <a:tc>
                  <a:txBody>
                    <a:bodyPr/>
                    <a:lstStyle/>
                    <a:p>
                      <a:pPr algn="r" fontAlgn="ctr"/>
                      <a:r>
                        <a:rPr lang="en-US" sz="1600" kern="1200" dirty="0">
                          <a:solidFill>
                            <a:schemeClr val="dk1"/>
                          </a:solidFill>
                          <a:effectLst/>
                          <a:latin typeface="+mn-lt"/>
                          <a:ea typeface="+mn-ea"/>
                          <a:cs typeface="+mn-cs"/>
                        </a:rPr>
                        <a:t>496791.116</a:t>
                      </a:r>
                    </a:p>
                  </a:txBody>
                  <a:tcPr anchor="ctr"/>
                </a:tc>
                <a:extLst>
                  <a:ext uri="{0D108BD9-81ED-4DB2-BD59-A6C34878D82A}">
                    <a16:rowId xmlns:a16="http://schemas.microsoft.com/office/drawing/2014/main" val="1168063368"/>
                  </a:ext>
                </a:extLst>
              </a:tr>
              <a:tr h="556661">
                <a:tc>
                  <a:txBody>
                    <a:bodyPr/>
                    <a:lstStyle/>
                    <a:p>
                      <a:pPr algn="r" fontAlgn="ctr"/>
                      <a:r>
                        <a:rPr lang="en-US" sz="1600" b="1" kern="1200" dirty="0">
                          <a:solidFill>
                            <a:schemeClr val="dk1"/>
                          </a:solidFill>
                          <a:effectLst/>
                          <a:latin typeface="+mn-lt"/>
                          <a:ea typeface="+mn-ea"/>
                          <a:cs typeface="+mn-cs"/>
                        </a:rPr>
                        <a:t>Weighted Ensemble</a:t>
                      </a:r>
                    </a:p>
                  </a:txBody>
                  <a:tcPr anchor="ctr"/>
                </a:tc>
                <a:tc>
                  <a:txBody>
                    <a:bodyPr/>
                    <a:lstStyle/>
                    <a:p>
                      <a:pPr algn="r" fontAlgn="ctr"/>
                      <a:r>
                        <a:rPr lang="en-US" sz="1600" kern="1200" dirty="0">
                          <a:solidFill>
                            <a:schemeClr val="dk1"/>
                          </a:solidFill>
                          <a:effectLst/>
                          <a:latin typeface="+mn-lt"/>
                          <a:ea typeface="+mn-ea"/>
                          <a:cs typeface="+mn-cs"/>
                        </a:rPr>
                        <a:t>0.153</a:t>
                      </a:r>
                    </a:p>
                  </a:txBody>
                  <a:tcPr anchor="ctr"/>
                </a:tc>
                <a:tc>
                  <a:txBody>
                    <a:bodyPr/>
                    <a:lstStyle/>
                    <a:p>
                      <a:pPr algn="r" fontAlgn="ctr"/>
                      <a:r>
                        <a:rPr lang="en-US" sz="1600" kern="1200" dirty="0">
                          <a:solidFill>
                            <a:schemeClr val="dk1"/>
                          </a:solidFill>
                          <a:effectLst/>
                          <a:latin typeface="+mn-lt"/>
                          <a:ea typeface="+mn-ea"/>
                          <a:cs typeface="+mn-cs"/>
                        </a:rPr>
                        <a:t>308612.964</a:t>
                      </a:r>
                    </a:p>
                  </a:txBody>
                  <a:tcPr anchor="ctr"/>
                </a:tc>
                <a:tc>
                  <a:txBody>
                    <a:bodyPr/>
                    <a:lstStyle/>
                    <a:p>
                      <a:pPr algn="r" fontAlgn="ctr"/>
                      <a:r>
                        <a:rPr lang="en-US" sz="1600" kern="1200" dirty="0">
                          <a:solidFill>
                            <a:schemeClr val="dk1"/>
                          </a:solidFill>
                          <a:effectLst/>
                          <a:latin typeface="+mn-lt"/>
                          <a:ea typeface="+mn-ea"/>
                          <a:cs typeface="+mn-cs"/>
                        </a:rPr>
                        <a:t>381806.962</a:t>
                      </a:r>
                    </a:p>
                  </a:txBody>
                  <a:tcPr anchor="ctr"/>
                </a:tc>
                <a:extLst>
                  <a:ext uri="{0D108BD9-81ED-4DB2-BD59-A6C34878D82A}">
                    <a16:rowId xmlns:a16="http://schemas.microsoft.com/office/drawing/2014/main" val="3724139510"/>
                  </a:ext>
                </a:extLst>
              </a:tr>
            </a:tbl>
          </a:graphicData>
        </a:graphic>
      </p:graphicFrame>
      <p:sp>
        <p:nvSpPr>
          <p:cNvPr id="5" name="TextBox 4">
            <a:extLst>
              <a:ext uri="{FF2B5EF4-FFF2-40B4-BE49-F238E27FC236}">
                <a16:creationId xmlns:a16="http://schemas.microsoft.com/office/drawing/2014/main" id="{C8EAB31F-A024-C1B8-8162-A94ACEB5036E}"/>
              </a:ext>
            </a:extLst>
          </p:cNvPr>
          <p:cNvSpPr txBox="1"/>
          <p:nvPr/>
        </p:nvSpPr>
        <p:spPr>
          <a:xfrm>
            <a:off x="4308845" y="-43366"/>
            <a:ext cx="6801319" cy="369332"/>
          </a:xfrm>
          <a:prstGeom prst="rect">
            <a:avLst/>
          </a:prstGeom>
          <a:noFill/>
        </p:spPr>
        <p:txBody>
          <a:bodyPr wrap="square" rtlCol="0">
            <a:spAutoFit/>
          </a:bodyPr>
          <a:lstStyle/>
          <a:p>
            <a:r>
              <a:rPr lang="en-IN" dirty="0"/>
              <a:t>So we revaluated the features  and hyper tuned</a:t>
            </a:r>
          </a:p>
        </p:txBody>
      </p:sp>
      <p:sp>
        <p:nvSpPr>
          <p:cNvPr id="10" name="TextBox 9">
            <a:extLst>
              <a:ext uri="{FF2B5EF4-FFF2-40B4-BE49-F238E27FC236}">
                <a16:creationId xmlns:a16="http://schemas.microsoft.com/office/drawing/2014/main" id="{2336B900-2D57-8AD1-5ACD-A3AAC2C3C3E7}"/>
              </a:ext>
            </a:extLst>
          </p:cNvPr>
          <p:cNvSpPr txBox="1"/>
          <p:nvPr/>
        </p:nvSpPr>
        <p:spPr>
          <a:xfrm>
            <a:off x="4239811" y="3319543"/>
            <a:ext cx="7107708" cy="369332"/>
          </a:xfrm>
          <a:prstGeom prst="rect">
            <a:avLst/>
          </a:prstGeom>
          <a:noFill/>
        </p:spPr>
        <p:txBody>
          <a:bodyPr wrap="square" rtlCol="0">
            <a:spAutoFit/>
          </a:bodyPr>
          <a:lstStyle/>
          <a:p>
            <a:r>
              <a:rPr lang="en-IN" dirty="0"/>
              <a:t>Now it generated values which are close to the actuals ( courtesy </a:t>
            </a:r>
            <a:r>
              <a:rPr lang="en-IN" dirty="0">
                <a:hlinkClick r:id="rId3"/>
              </a:rPr>
              <a:t>Spiny</a:t>
            </a:r>
            <a:r>
              <a:rPr lang="en-IN" dirty="0"/>
              <a:t>)</a:t>
            </a:r>
          </a:p>
        </p:txBody>
      </p:sp>
      <p:graphicFrame>
        <p:nvGraphicFramePr>
          <p:cNvPr id="11" name="Table 10">
            <a:extLst>
              <a:ext uri="{FF2B5EF4-FFF2-40B4-BE49-F238E27FC236}">
                <a16:creationId xmlns:a16="http://schemas.microsoft.com/office/drawing/2014/main" id="{90A8292E-C006-2AD5-D0EA-F8DE273822E8}"/>
              </a:ext>
            </a:extLst>
          </p:cNvPr>
          <p:cNvGraphicFramePr>
            <a:graphicFrameLocks noGrp="1"/>
          </p:cNvGraphicFramePr>
          <p:nvPr>
            <p:extLst>
              <p:ext uri="{D42A27DB-BD31-4B8C-83A1-F6EECF244321}">
                <p14:modId xmlns:p14="http://schemas.microsoft.com/office/powerpoint/2010/main" val="292093493"/>
              </p:ext>
            </p:extLst>
          </p:nvPr>
        </p:nvGraphicFramePr>
        <p:xfrm>
          <a:off x="4064000" y="3856013"/>
          <a:ext cx="8127999" cy="256032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876137787"/>
                    </a:ext>
                  </a:extLst>
                </a:gridCol>
                <a:gridCol w="903111">
                  <a:extLst>
                    <a:ext uri="{9D8B030D-6E8A-4147-A177-3AD203B41FA5}">
                      <a16:colId xmlns:a16="http://schemas.microsoft.com/office/drawing/2014/main" val="3564886923"/>
                    </a:ext>
                  </a:extLst>
                </a:gridCol>
                <a:gridCol w="903111">
                  <a:extLst>
                    <a:ext uri="{9D8B030D-6E8A-4147-A177-3AD203B41FA5}">
                      <a16:colId xmlns:a16="http://schemas.microsoft.com/office/drawing/2014/main" val="4293297842"/>
                    </a:ext>
                  </a:extLst>
                </a:gridCol>
                <a:gridCol w="903111">
                  <a:extLst>
                    <a:ext uri="{9D8B030D-6E8A-4147-A177-3AD203B41FA5}">
                      <a16:colId xmlns:a16="http://schemas.microsoft.com/office/drawing/2014/main" val="495584182"/>
                    </a:ext>
                  </a:extLst>
                </a:gridCol>
                <a:gridCol w="903111">
                  <a:extLst>
                    <a:ext uri="{9D8B030D-6E8A-4147-A177-3AD203B41FA5}">
                      <a16:colId xmlns:a16="http://schemas.microsoft.com/office/drawing/2014/main" val="865028433"/>
                    </a:ext>
                  </a:extLst>
                </a:gridCol>
                <a:gridCol w="903111">
                  <a:extLst>
                    <a:ext uri="{9D8B030D-6E8A-4147-A177-3AD203B41FA5}">
                      <a16:colId xmlns:a16="http://schemas.microsoft.com/office/drawing/2014/main" val="2647783746"/>
                    </a:ext>
                  </a:extLst>
                </a:gridCol>
                <a:gridCol w="903111">
                  <a:extLst>
                    <a:ext uri="{9D8B030D-6E8A-4147-A177-3AD203B41FA5}">
                      <a16:colId xmlns:a16="http://schemas.microsoft.com/office/drawing/2014/main" val="3801339934"/>
                    </a:ext>
                  </a:extLst>
                </a:gridCol>
                <a:gridCol w="903111">
                  <a:extLst>
                    <a:ext uri="{9D8B030D-6E8A-4147-A177-3AD203B41FA5}">
                      <a16:colId xmlns:a16="http://schemas.microsoft.com/office/drawing/2014/main" val="2715420102"/>
                    </a:ext>
                  </a:extLst>
                </a:gridCol>
                <a:gridCol w="903111">
                  <a:extLst>
                    <a:ext uri="{9D8B030D-6E8A-4147-A177-3AD203B41FA5}">
                      <a16:colId xmlns:a16="http://schemas.microsoft.com/office/drawing/2014/main" val="2792618002"/>
                    </a:ext>
                  </a:extLst>
                </a:gridCol>
              </a:tblGrid>
              <a:tr h="465541">
                <a:tc>
                  <a:txBody>
                    <a:bodyPr/>
                    <a:lstStyle/>
                    <a:p>
                      <a:r>
                        <a:rPr lang="en-IN" sz="1600" dirty="0"/>
                        <a:t>Brand</a:t>
                      </a:r>
                    </a:p>
                  </a:txBody>
                  <a:tcPr/>
                </a:tc>
                <a:tc>
                  <a:txBody>
                    <a:bodyPr/>
                    <a:lstStyle/>
                    <a:p>
                      <a:r>
                        <a:rPr lang="en-IN" sz="1600" dirty="0"/>
                        <a:t>Model Name</a:t>
                      </a:r>
                    </a:p>
                  </a:txBody>
                  <a:tcPr/>
                </a:tc>
                <a:tc>
                  <a:txBody>
                    <a:bodyPr/>
                    <a:lstStyle/>
                    <a:p>
                      <a:r>
                        <a:rPr lang="en-IN" sz="1600" dirty="0"/>
                        <a:t>Model Variant</a:t>
                      </a:r>
                    </a:p>
                  </a:txBody>
                  <a:tcPr/>
                </a:tc>
                <a:tc>
                  <a:txBody>
                    <a:bodyPr/>
                    <a:lstStyle/>
                    <a:p>
                      <a:r>
                        <a:rPr lang="en-IN" sz="1600" dirty="0"/>
                        <a:t>Car Type</a:t>
                      </a:r>
                    </a:p>
                  </a:txBody>
                  <a:tcPr/>
                </a:tc>
                <a:tc>
                  <a:txBody>
                    <a:bodyPr/>
                    <a:lstStyle/>
                    <a:p>
                      <a:r>
                        <a:rPr lang="en-IN" sz="1600" dirty="0"/>
                        <a:t>Transmission</a:t>
                      </a:r>
                    </a:p>
                  </a:txBody>
                  <a:tcPr/>
                </a:tc>
                <a:tc>
                  <a:txBody>
                    <a:bodyPr/>
                    <a:lstStyle/>
                    <a:p>
                      <a:r>
                        <a:rPr lang="en-IN" sz="1600" dirty="0"/>
                        <a:t>Fuel Type</a:t>
                      </a:r>
                    </a:p>
                  </a:txBody>
                  <a:tcPr/>
                </a:tc>
                <a:tc>
                  <a:txBody>
                    <a:bodyPr/>
                    <a:lstStyle/>
                    <a:p>
                      <a:r>
                        <a:rPr lang="en-IN" sz="1600" dirty="0"/>
                        <a:t>Year</a:t>
                      </a:r>
                    </a:p>
                  </a:txBody>
                  <a:tcPr/>
                </a:tc>
                <a:tc>
                  <a:txBody>
                    <a:bodyPr/>
                    <a:lstStyle/>
                    <a:p>
                      <a:r>
                        <a:rPr lang="en-IN" sz="1600" dirty="0"/>
                        <a:t>KMs</a:t>
                      </a:r>
                    </a:p>
                  </a:txBody>
                  <a:tcPr/>
                </a:tc>
                <a:tc>
                  <a:txBody>
                    <a:bodyPr/>
                    <a:lstStyle/>
                    <a:p>
                      <a:r>
                        <a:rPr lang="en-IN" sz="1600" dirty="0"/>
                        <a:t>Price generated (Rs)</a:t>
                      </a:r>
                    </a:p>
                  </a:txBody>
                  <a:tcPr/>
                </a:tc>
                <a:extLst>
                  <a:ext uri="{0D108BD9-81ED-4DB2-BD59-A6C34878D82A}">
                    <a16:rowId xmlns:a16="http://schemas.microsoft.com/office/drawing/2014/main" val="3278356748"/>
                  </a:ext>
                </a:extLst>
              </a:tr>
              <a:tr h="236003">
                <a:tc>
                  <a:txBody>
                    <a:bodyPr/>
                    <a:lstStyle/>
                    <a:p>
                      <a:r>
                        <a:rPr lang="en-IN" sz="1600" dirty="0"/>
                        <a:t>Tata</a:t>
                      </a:r>
                    </a:p>
                  </a:txBody>
                  <a:tcPr/>
                </a:tc>
                <a:tc>
                  <a:txBody>
                    <a:bodyPr/>
                    <a:lstStyle/>
                    <a:p>
                      <a:r>
                        <a:rPr lang="en-IN" sz="1600" dirty="0"/>
                        <a:t>Nexon</a:t>
                      </a:r>
                    </a:p>
                  </a:txBody>
                  <a:tcPr/>
                </a:tc>
                <a:tc>
                  <a:txBody>
                    <a:bodyPr/>
                    <a:lstStyle/>
                    <a:p>
                      <a:r>
                        <a:rPr lang="en-IN" sz="1600" dirty="0"/>
                        <a:t>Nexon</a:t>
                      </a:r>
                    </a:p>
                  </a:txBody>
                  <a:tcPr/>
                </a:tc>
                <a:tc>
                  <a:txBody>
                    <a:bodyPr/>
                    <a:lstStyle/>
                    <a:p>
                      <a:r>
                        <a:rPr lang="en-IN" sz="1600" dirty="0"/>
                        <a:t>SUV</a:t>
                      </a:r>
                    </a:p>
                  </a:txBody>
                  <a:tcPr/>
                </a:tc>
                <a:tc>
                  <a:txBody>
                    <a:bodyPr/>
                    <a:lstStyle/>
                    <a:p>
                      <a:r>
                        <a:rPr lang="en-IN" sz="1600" dirty="0"/>
                        <a:t>Manual</a:t>
                      </a:r>
                    </a:p>
                  </a:txBody>
                  <a:tcPr/>
                </a:tc>
                <a:tc>
                  <a:txBody>
                    <a:bodyPr/>
                    <a:lstStyle/>
                    <a:p>
                      <a:r>
                        <a:rPr lang="en-IN" sz="1600" dirty="0"/>
                        <a:t>Petrol</a:t>
                      </a:r>
                    </a:p>
                  </a:txBody>
                  <a:tcPr/>
                </a:tc>
                <a:tc>
                  <a:txBody>
                    <a:bodyPr/>
                    <a:lstStyle/>
                    <a:p>
                      <a:r>
                        <a:rPr lang="en-IN" sz="1600" dirty="0"/>
                        <a:t>2017</a:t>
                      </a:r>
                    </a:p>
                  </a:txBody>
                  <a:tcPr/>
                </a:tc>
                <a:tc>
                  <a:txBody>
                    <a:bodyPr/>
                    <a:lstStyle/>
                    <a:p>
                      <a:r>
                        <a:rPr lang="en-IN" sz="1600" dirty="0"/>
                        <a:t>115000</a:t>
                      </a:r>
                    </a:p>
                  </a:txBody>
                  <a:tcPr/>
                </a:tc>
                <a:tc>
                  <a:txBody>
                    <a:bodyPr/>
                    <a:lstStyle/>
                    <a:p>
                      <a:r>
                        <a:rPr lang="en-IN" sz="1600" dirty="0"/>
                        <a:t>677590</a:t>
                      </a:r>
                    </a:p>
                  </a:txBody>
                  <a:tcPr/>
                </a:tc>
                <a:extLst>
                  <a:ext uri="{0D108BD9-81ED-4DB2-BD59-A6C34878D82A}">
                    <a16:rowId xmlns:a16="http://schemas.microsoft.com/office/drawing/2014/main" val="3407704649"/>
                  </a:ext>
                </a:extLst>
              </a:tr>
              <a:tr h="5819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effectLst/>
                          <a:latin typeface="+mn-lt"/>
                          <a:ea typeface="+mn-ea"/>
                          <a:cs typeface="+mn-cs"/>
                        </a:rPr>
                        <a:t>Maruti Suzuki</a:t>
                      </a:r>
                    </a:p>
                    <a:p>
                      <a:endParaRPr lang="en-IN" sz="1600" dirty="0"/>
                    </a:p>
                  </a:txBody>
                  <a:tcPr/>
                </a:tc>
                <a:tc>
                  <a:txBody>
                    <a:bodyPr/>
                    <a:lstStyle/>
                    <a:p>
                      <a:r>
                        <a:rPr lang="en-IN" sz="1600" dirty="0"/>
                        <a:t>Alto</a:t>
                      </a:r>
                    </a:p>
                  </a:txBody>
                  <a:tcPr/>
                </a:tc>
                <a:tc>
                  <a:txBody>
                    <a:bodyPr/>
                    <a:lstStyle/>
                    <a:p>
                      <a:r>
                        <a:rPr lang="en-IN" sz="1600" dirty="0"/>
                        <a:t>Z</a:t>
                      </a:r>
                    </a:p>
                  </a:txBody>
                  <a:tcPr/>
                </a:tc>
                <a:tc>
                  <a:txBody>
                    <a:bodyPr/>
                    <a:lstStyle/>
                    <a:p>
                      <a:r>
                        <a:rPr lang="en-IN" sz="1600" dirty="0"/>
                        <a:t>Hatchback</a:t>
                      </a:r>
                    </a:p>
                  </a:txBody>
                  <a:tcPr/>
                </a:tc>
                <a:tc>
                  <a:txBody>
                    <a:bodyPr/>
                    <a:lstStyle/>
                    <a:p>
                      <a:r>
                        <a:rPr lang="en-IN" sz="1600" dirty="0"/>
                        <a:t>Manual</a:t>
                      </a:r>
                    </a:p>
                  </a:txBody>
                  <a:tcPr/>
                </a:tc>
                <a:tc>
                  <a:txBody>
                    <a:bodyPr/>
                    <a:lstStyle/>
                    <a:p>
                      <a:r>
                        <a:rPr lang="en-IN" sz="1600" dirty="0"/>
                        <a:t>Petrol</a:t>
                      </a:r>
                    </a:p>
                  </a:txBody>
                  <a:tcPr/>
                </a:tc>
                <a:tc>
                  <a:txBody>
                    <a:bodyPr/>
                    <a:lstStyle/>
                    <a:p>
                      <a:r>
                        <a:rPr lang="en-IN" sz="1600" dirty="0"/>
                        <a:t>2007</a:t>
                      </a:r>
                    </a:p>
                  </a:txBody>
                  <a:tcPr/>
                </a:tc>
                <a:tc>
                  <a:txBody>
                    <a:bodyPr/>
                    <a:lstStyle/>
                    <a:p>
                      <a:r>
                        <a:rPr lang="en-IN" sz="1600" dirty="0"/>
                        <a:t>150000</a:t>
                      </a:r>
                    </a:p>
                  </a:txBody>
                  <a:tcPr/>
                </a:tc>
                <a:tc>
                  <a:txBody>
                    <a:bodyPr/>
                    <a:lstStyle/>
                    <a:p>
                      <a:r>
                        <a:rPr lang="en-IN" sz="1600" dirty="0"/>
                        <a:t>511980</a:t>
                      </a:r>
                    </a:p>
                  </a:txBody>
                  <a:tcPr/>
                </a:tc>
                <a:extLst>
                  <a:ext uri="{0D108BD9-81ED-4DB2-BD59-A6C34878D82A}">
                    <a16:rowId xmlns:a16="http://schemas.microsoft.com/office/drawing/2014/main" val="3631226817"/>
                  </a:ext>
                </a:extLst>
              </a:tr>
              <a:tr h="407348">
                <a:tc>
                  <a:txBody>
                    <a:bodyPr/>
                    <a:lstStyle/>
                    <a:p>
                      <a:r>
                        <a:rPr lang="en-IN" sz="1600" dirty="0" err="1"/>
                        <a:t>Hundai</a:t>
                      </a:r>
                      <a:endParaRPr lang="en-IN" sz="1600" dirty="0"/>
                    </a:p>
                  </a:txBody>
                  <a:tcPr/>
                </a:tc>
                <a:tc>
                  <a:txBody>
                    <a:bodyPr/>
                    <a:lstStyle/>
                    <a:p>
                      <a:r>
                        <a:rPr lang="en-IN" sz="1600" dirty="0"/>
                        <a:t>I10</a:t>
                      </a:r>
                    </a:p>
                  </a:txBody>
                  <a:tcPr/>
                </a:tc>
                <a:tc>
                  <a:txBody>
                    <a:bodyPr/>
                    <a:lstStyle/>
                    <a:p>
                      <a:r>
                        <a:rPr lang="en-IN" sz="1600" dirty="0" err="1"/>
                        <a:t>Sportzs</a:t>
                      </a:r>
                      <a:endParaRPr lang="en-IN" sz="1600" dirty="0"/>
                    </a:p>
                  </a:txBody>
                  <a:tcPr/>
                </a:tc>
                <a:tc>
                  <a:txBody>
                    <a:bodyPr/>
                    <a:lstStyle/>
                    <a:p>
                      <a:r>
                        <a:rPr lang="en-IN" sz="1600" dirty="0"/>
                        <a:t>Hatchback</a:t>
                      </a:r>
                    </a:p>
                  </a:txBody>
                  <a:tcPr/>
                </a:tc>
                <a:tc>
                  <a:txBody>
                    <a:bodyPr/>
                    <a:lstStyle/>
                    <a:p>
                      <a:r>
                        <a:rPr lang="en-IN" sz="1600" dirty="0"/>
                        <a:t>Manual</a:t>
                      </a:r>
                    </a:p>
                  </a:txBody>
                  <a:tcPr/>
                </a:tc>
                <a:tc>
                  <a:txBody>
                    <a:bodyPr/>
                    <a:lstStyle/>
                    <a:p>
                      <a:r>
                        <a:rPr lang="en-IN" sz="1600" dirty="0"/>
                        <a:t>Petrol</a:t>
                      </a:r>
                    </a:p>
                  </a:txBody>
                  <a:tcPr/>
                </a:tc>
                <a:tc>
                  <a:txBody>
                    <a:bodyPr/>
                    <a:lstStyle/>
                    <a:p>
                      <a:r>
                        <a:rPr lang="en-IN" sz="1600" dirty="0"/>
                        <a:t>2011</a:t>
                      </a:r>
                    </a:p>
                  </a:txBody>
                  <a:tcPr/>
                </a:tc>
                <a:tc>
                  <a:txBody>
                    <a:bodyPr/>
                    <a:lstStyle/>
                    <a:p>
                      <a:r>
                        <a:rPr lang="en-IN" sz="1600" dirty="0"/>
                        <a:t>90000</a:t>
                      </a:r>
                    </a:p>
                  </a:txBody>
                  <a:tcPr/>
                </a:tc>
                <a:tc>
                  <a:txBody>
                    <a:bodyPr/>
                    <a:lstStyle/>
                    <a:p>
                      <a:r>
                        <a:rPr lang="en-IN" sz="1600" dirty="0"/>
                        <a:t>521226</a:t>
                      </a:r>
                    </a:p>
                  </a:txBody>
                  <a:tcPr/>
                </a:tc>
                <a:extLst>
                  <a:ext uri="{0D108BD9-81ED-4DB2-BD59-A6C34878D82A}">
                    <a16:rowId xmlns:a16="http://schemas.microsoft.com/office/drawing/2014/main" val="1193262171"/>
                  </a:ext>
                </a:extLst>
              </a:tr>
            </a:tbl>
          </a:graphicData>
        </a:graphic>
      </p:graphicFrame>
    </p:spTree>
    <p:extLst>
      <p:ext uri="{BB962C8B-B14F-4D97-AF65-F5344CB8AC3E}">
        <p14:creationId xmlns:p14="http://schemas.microsoft.com/office/powerpoint/2010/main" val="3451118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2800" b="1">
                <a:solidFill>
                  <a:schemeClr val="bg1"/>
                </a:solidFill>
              </a:rPr>
              <a:t>Role and Responsibilities</a:t>
            </a:r>
            <a:endParaRPr lang="en-SG" sz="28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r>
              <a:rPr lang="en-US" spc="10" dirty="0">
                <a:latin typeface="Arial Nova"/>
              </a:rPr>
              <a:t>Binayak Chakraborty</a:t>
            </a:r>
            <a:r>
              <a:rPr lang="en-US" dirty="0">
                <a:solidFill>
                  <a:schemeClr val="tx1"/>
                </a:solidFill>
                <a:latin typeface="Arial Nova"/>
              </a:rPr>
              <a:t>:</a:t>
            </a:r>
          </a:p>
          <a:p>
            <a:pPr marL="486410" lvl="1"/>
            <a:r>
              <a:rPr lang="en-US" dirty="0">
                <a:solidFill>
                  <a:schemeClr val="tx1"/>
                </a:solidFill>
                <a:latin typeface="Arial Nova"/>
              </a:rPr>
              <a:t>Data Model Training &amp; Validation</a:t>
            </a:r>
          </a:p>
          <a:p>
            <a:pPr marL="215900" indent="-215900"/>
            <a:r>
              <a:rPr lang="en-US" spc="10" dirty="0">
                <a:latin typeface="Arial Nova"/>
              </a:rPr>
              <a:t>Supratim Dey</a:t>
            </a:r>
            <a:r>
              <a:rPr lang="en-US" dirty="0">
                <a:solidFill>
                  <a:schemeClr val="tx1"/>
                </a:solidFill>
                <a:latin typeface="Arial Nova"/>
              </a:rPr>
              <a:t>:</a:t>
            </a:r>
          </a:p>
          <a:p>
            <a:pPr marL="486410" lvl="1"/>
            <a:r>
              <a:rPr lang="en-US" dirty="0">
                <a:solidFill>
                  <a:schemeClr val="tx1"/>
                </a:solidFill>
                <a:latin typeface="Arial Nova"/>
              </a:rPr>
              <a:t>Data Model Training &amp; Validation, </a:t>
            </a:r>
            <a:r>
              <a:rPr lang="en-US" dirty="0" err="1">
                <a:solidFill>
                  <a:schemeClr val="tx1"/>
                </a:solidFill>
                <a:latin typeface="Arial Nova"/>
              </a:rPr>
              <a:t>Streamlit</a:t>
            </a:r>
            <a:r>
              <a:rPr lang="en-US" dirty="0">
                <a:solidFill>
                  <a:schemeClr val="tx1"/>
                </a:solidFill>
                <a:latin typeface="Arial Nova"/>
              </a:rPr>
              <a:t> Dashboard</a:t>
            </a:r>
          </a:p>
          <a:p>
            <a:pPr marL="215900" indent="-215900"/>
            <a:r>
              <a:rPr lang="en-US" spc="10" dirty="0">
                <a:latin typeface="Arial Nova"/>
              </a:rPr>
              <a:t>Rohit Agarwal</a:t>
            </a:r>
            <a:r>
              <a:rPr lang="en-US" dirty="0">
                <a:solidFill>
                  <a:schemeClr val="tx1"/>
                </a:solidFill>
                <a:latin typeface="Arial Nova"/>
              </a:rPr>
              <a:t>:</a:t>
            </a:r>
          </a:p>
          <a:p>
            <a:pPr marL="486410" lvl="1"/>
            <a:r>
              <a:rPr lang="en-US" dirty="0">
                <a:solidFill>
                  <a:schemeClr val="tx1"/>
                </a:solidFill>
                <a:latin typeface="Arial Nova"/>
              </a:rPr>
              <a:t>Data Cleaning / EDA</a:t>
            </a:r>
          </a:p>
          <a:p>
            <a:pPr marL="215900" indent="-215900"/>
            <a:r>
              <a:rPr lang="en-US" spc="10" dirty="0">
                <a:latin typeface="Arial Nova"/>
              </a:rPr>
              <a:t>Rituparno Chatterjee</a:t>
            </a:r>
            <a:r>
              <a:rPr lang="en-US" dirty="0">
                <a:solidFill>
                  <a:schemeClr val="tx1"/>
                </a:solidFill>
                <a:latin typeface="Arial Nova"/>
              </a:rPr>
              <a:t>:</a:t>
            </a:r>
          </a:p>
          <a:p>
            <a:pPr marL="486410" lvl="1"/>
            <a:r>
              <a:rPr lang="en-US" dirty="0">
                <a:solidFill>
                  <a:schemeClr val="tx1"/>
                </a:solidFill>
                <a:latin typeface="Arial Nova"/>
              </a:rPr>
              <a:t>Data Cleaning / EDA</a:t>
            </a:r>
            <a:endParaRPr lang="en-US" sz="2000" dirty="0">
              <a:solidFill>
                <a:schemeClr val="tx1"/>
              </a:solidFill>
              <a:latin typeface="Arial Nova"/>
            </a:endParaRPr>
          </a:p>
          <a:p>
            <a:pPr marL="486410" lvl="1"/>
            <a:endParaRPr lang="en-US" dirty="0">
              <a:solidFill>
                <a:schemeClr val="tx1"/>
              </a:solidFill>
            </a:endParaRPr>
          </a:p>
          <a:p>
            <a:pPr marL="215900" indent="-215900"/>
            <a:r>
              <a:rPr lang="en-US" dirty="0">
                <a:solidFill>
                  <a:schemeClr val="tx1"/>
                </a:solidFill>
                <a:latin typeface="Arial Nova"/>
              </a:rPr>
              <a:t>Note: More than one student may be responsible to handle an activity, e.g., Model development.</a:t>
            </a:r>
          </a:p>
          <a:p>
            <a:pPr marL="486410" lvl="1"/>
            <a:endParaRPr lang="en-US" dirty="0">
              <a:solidFill>
                <a:schemeClr val="tx1"/>
              </a:solidFill>
            </a:endParaRPr>
          </a:p>
          <a:p>
            <a:pPr marL="215900" indent="-215900"/>
            <a:endParaRPr lang="en-US" dirty="0">
              <a:solidFill>
                <a:schemeClr val="tx1"/>
              </a:solidFill>
            </a:endParaRPr>
          </a:p>
        </p:txBody>
      </p:sp>
      <p:sp>
        <p:nvSpPr>
          <p:cNvPr id="2" name="Text Placeholder 1">
            <a:extLst>
              <a:ext uri="{FF2B5EF4-FFF2-40B4-BE49-F238E27FC236}">
                <a16:creationId xmlns:a16="http://schemas.microsoft.com/office/drawing/2014/main" id="{47C5FBBE-9B4C-D4EA-B095-C2BEC945142D}"/>
              </a:ext>
            </a:extLst>
          </p:cNvPr>
          <p:cNvSpPr>
            <a:spLocks noGrp="1"/>
          </p:cNvSpPr>
          <p:nvPr>
            <p:ph type="body" sz="half" idx="2"/>
          </p:nvPr>
        </p:nvSpPr>
        <p:spPr/>
        <p:txBody>
          <a:bodyPr/>
          <a:lstStyle/>
          <a:p>
            <a:endParaRPr lang="en-SG" dirty="0"/>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12</a:t>
            </a:fld>
            <a:endParaRPr lang="en-SG"/>
          </a:p>
        </p:txBody>
      </p:sp>
      <p:pic>
        <p:nvPicPr>
          <p:cNvPr id="4" name="Picture 3">
            <a:extLst>
              <a:ext uri="{FF2B5EF4-FFF2-40B4-BE49-F238E27FC236}">
                <a16:creationId xmlns:a16="http://schemas.microsoft.com/office/drawing/2014/main" id="{7D47FE60-3F91-66F6-3BEE-95BB7FF07602}"/>
              </a:ext>
            </a:extLst>
          </p:cNvPr>
          <p:cNvPicPr>
            <a:picLocks noChangeAspect="1"/>
          </p:cNvPicPr>
          <p:nvPr/>
        </p:nvPicPr>
        <p:blipFill>
          <a:blip r:embed="rId2"/>
          <a:stretch>
            <a:fillRect/>
          </a:stretch>
        </p:blipFill>
        <p:spPr>
          <a:xfrm>
            <a:off x="457200" y="2926080"/>
            <a:ext cx="3200400" cy="3379124"/>
          </a:xfrm>
          <a:prstGeom prst="rect">
            <a:avLst/>
          </a:prstGeom>
        </p:spPr>
      </p:pic>
    </p:spTree>
    <p:extLst>
      <p:ext uri="{BB962C8B-B14F-4D97-AF65-F5344CB8AC3E}">
        <p14:creationId xmlns:p14="http://schemas.microsoft.com/office/powerpoint/2010/main" val="826460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4B0834F-EC61-573C-D71A-489425162C25}"/>
              </a:ext>
            </a:extLst>
          </p:cNvPr>
          <p:cNvGraphicFramePr>
            <a:graphicFrameLocks noChangeAspect="1"/>
          </p:cNvGraphicFramePr>
          <p:nvPr>
            <p:custDataLst>
              <p:tags r:id="rId1"/>
            </p:custDataLst>
            <p:extLst>
              <p:ext uri="{D42A27DB-BD31-4B8C-83A1-F6EECF244321}">
                <p14:modId xmlns:p14="http://schemas.microsoft.com/office/powerpoint/2010/main" val="2254516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0" imgH="446" progId="TCLayout.ActiveDocument.1">
                  <p:embed/>
                </p:oleObj>
              </mc:Choice>
              <mc:Fallback>
                <p:oleObj name="think-cell Slide" r:id="rId3" imgW="450" imgH="44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vert="horz">
            <a:normAutofit/>
          </a:bodyPr>
          <a:lstStyle/>
          <a:p>
            <a:r>
              <a:rPr lang="en-US" sz="2800" b="1" dirty="0">
                <a:solidFill>
                  <a:schemeClr val="bg1"/>
                </a:solidFill>
              </a:rPr>
              <a:t>Future Enhancements</a:t>
            </a:r>
            <a:endParaRPr lang="en-SG" sz="2800" dirty="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r>
              <a:rPr lang="en-US" dirty="0">
                <a:latin typeface="Arial Nova"/>
              </a:rPr>
              <a:t>Enable user-uploaded datasets</a:t>
            </a:r>
          </a:p>
          <a:p>
            <a:pPr marL="215900" indent="-215900"/>
            <a:r>
              <a:rPr lang="en-US" dirty="0"/>
              <a:t>Integration with real-time APIs (e.g., Cars24).</a:t>
            </a:r>
            <a:endParaRPr lang="en-US" dirty="0">
              <a:latin typeface="Arial Nova"/>
            </a:endParaRPr>
          </a:p>
          <a:p>
            <a:pPr marL="215900" indent="-215900"/>
            <a:r>
              <a:rPr lang="en-US" dirty="0">
                <a:latin typeface="Arial Nova"/>
              </a:rPr>
              <a:t>Integrate Neural Networks</a:t>
            </a: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13</a:t>
            </a:fld>
            <a:endParaRPr lang="en-SG"/>
          </a:p>
        </p:txBody>
      </p:sp>
    </p:spTree>
    <p:extLst>
      <p:ext uri="{BB962C8B-B14F-4D97-AF65-F5344CB8AC3E}">
        <p14:creationId xmlns:p14="http://schemas.microsoft.com/office/powerpoint/2010/main" val="286300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342A6A-6DA8-B4D5-CCAB-4B30F1C9E359}"/>
              </a:ext>
            </a:extLst>
          </p:cNvPr>
          <p:cNvGraphicFramePr>
            <a:graphicFrameLocks noChangeAspect="1"/>
          </p:cNvGraphicFramePr>
          <p:nvPr>
            <p:custDataLst>
              <p:tags r:id="rId1"/>
            </p:custDataLst>
            <p:extLst>
              <p:ext uri="{D42A27DB-BD31-4B8C-83A1-F6EECF244321}">
                <p14:modId xmlns:p14="http://schemas.microsoft.com/office/powerpoint/2010/main" val="1557731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0" imgH="446" progId="TCLayout.ActiveDocument.1">
                  <p:embed/>
                </p:oleObj>
              </mc:Choice>
              <mc:Fallback>
                <p:oleObj name="think-cell Slide" r:id="rId3" imgW="450" imgH="44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768054CA-3077-9143-41E4-F7C2689F6A93}"/>
              </a:ext>
            </a:extLst>
          </p:cNvPr>
          <p:cNvSpPr>
            <a:spLocks noGrp="1"/>
          </p:cNvSpPr>
          <p:nvPr>
            <p:ph type="title"/>
          </p:nvPr>
        </p:nvSpPr>
        <p:spPr>
          <a:xfrm>
            <a:off x="659907" y="2558786"/>
            <a:ext cx="11532093" cy="630315"/>
          </a:xfrm>
        </p:spPr>
        <p:txBody>
          <a:bodyPr vert="horz">
            <a:noAutofit/>
          </a:bodyPr>
          <a:lstStyle/>
          <a:p>
            <a:r>
              <a:rPr lang="en-US" sz="8000" dirty="0"/>
              <a:t>Demo &amp; </a:t>
            </a:r>
            <a:r>
              <a:rPr lang="en-US" sz="8000" dirty="0" err="1"/>
              <a:t>QnA</a:t>
            </a:r>
            <a:endParaRPr lang="en-US" sz="8000" dirty="0"/>
          </a:p>
        </p:txBody>
      </p:sp>
      <p:sp>
        <p:nvSpPr>
          <p:cNvPr id="5" name="Footer Placeholder 4">
            <a:extLst>
              <a:ext uri="{FF2B5EF4-FFF2-40B4-BE49-F238E27FC236}">
                <a16:creationId xmlns:a16="http://schemas.microsoft.com/office/drawing/2014/main" id="{2BDCC097-FB74-6B4A-B78B-12951A64B935}"/>
              </a:ext>
            </a:extLst>
          </p:cNvPr>
          <p:cNvSpPr>
            <a:spLocks noGrp="1"/>
          </p:cNvSpPr>
          <p:nvPr>
            <p:ph type="ftr" sz="quarter" idx="11"/>
          </p:nvPr>
        </p:nvSpPr>
        <p:spPr/>
        <p:txBody>
          <a:bodyPr/>
          <a:lstStyle/>
          <a:p>
            <a:r>
              <a:rPr lang="it-IT"/>
              <a:t>DA 204o: Data Science in Practice</a:t>
            </a:r>
            <a:endParaRPr lang="en-SG"/>
          </a:p>
        </p:txBody>
      </p:sp>
      <p:sp>
        <p:nvSpPr>
          <p:cNvPr id="6" name="Slide Number Placeholder 5">
            <a:extLst>
              <a:ext uri="{FF2B5EF4-FFF2-40B4-BE49-F238E27FC236}">
                <a16:creationId xmlns:a16="http://schemas.microsoft.com/office/drawing/2014/main" id="{E3135EAE-2913-7C6A-AA38-03C6EB35542A}"/>
              </a:ext>
            </a:extLst>
          </p:cNvPr>
          <p:cNvSpPr>
            <a:spLocks noGrp="1"/>
          </p:cNvSpPr>
          <p:nvPr>
            <p:ph type="sldNum" sz="quarter" idx="12"/>
          </p:nvPr>
        </p:nvSpPr>
        <p:spPr/>
        <p:txBody>
          <a:bodyPr/>
          <a:lstStyle/>
          <a:p>
            <a:fld id="{BF1758FF-0BF1-4103-A89A-38EC40E85429}" type="slidenum">
              <a:rPr lang="en-SG" smtClean="0"/>
              <a:t>14</a:t>
            </a:fld>
            <a:endParaRPr lang="en-SG"/>
          </a:p>
        </p:txBody>
      </p:sp>
    </p:spTree>
    <p:extLst>
      <p:ext uri="{BB962C8B-B14F-4D97-AF65-F5344CB8AC3E}">
        <p14:creationId xmlns:p14="http://schemas.microsoft.com/office/powerpoint/2010/main" val="42237109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1a53e6c-53f2-4709-838c-32a07fa7348c" xsi:nil="true"/>
    <lcf76f155ced4ddcb4097134ff3c332f xmlns="9942508b-7edd-4522-9099-5c8ba2e58c2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CF4A66993F69444994DEDC68916C527" ma:contentTypeVersion="11" ma:contentTypeDescription="Create a new document." ma:contentTypeScope="" ma:versionID="6d8c83a6efd5471423dade757e33b483">
  <xsd:schema xmlns:xsd="http://www.w3.org/2001/XMLSchema" xmlns:xs="http://www.w3.org/2001/XMLSchema" xmlns:p="http://schemas.microsoft.com/office/2006/metadata/properties" xmlns:ns2="9942508b-7edd-4522-9099-5c8ba2e58c2d" xmlns:ns3="61a53e6c-53f2-4709-838c-32a07fa7348c" targetNamespace="http://schemas.microsoft.com/office/2006/metadata/properties" ma:root="true" ma:fieldsID="d068a04341d57602b07eae7b1ca693d1" ns2:_="" ns3:_="">
    <xsd:import namespace="9942508b-7edd-4522-9099-5c8ba2e58c2d"/>
    <xsd:import namespace="61a53e6c-53f2-4709-838c-32a07fa7348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42508b-7edd-4522-9099-5c8ba2e58c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eae8b99-2390-486d-8259-3a0fa512046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a53e6c-53f2-4709-838c-32a07fa7348c"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216e331-96ca-4cab-bbd1-11c69f7e2d61}" ma:internalName="TaxCatchAll" ma:showField="CatchAllData" ma:web="61a53e6c-53f2-4709-838c-32a07fa734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1A3A37-9007-4EC4-8746-B27BB5C6B1BE}">
  <ds:schemaRefs>
    <ds:schemaRef ds:uri="9942508b-7edd-4522-9099-5c8ba2e58c2d"/>
    <ds:schemaRef ds:uri="http://purl.org/dc/elements/1.1/"/>
    <ds:schemaRef ds:uri="http://schemas.microsoft.com/office/infopath/2007/PartnerControls"/>
    <ds:schemaRef ds:uri="http://purl.org/dc/terms/"/>
    <ds:schemaRef ds:uri="http://schemas.microsoft.com/office/2006/metadata/properties"/>
    <ds:schemaRef ds:uri="http://purl.org/dc/dcmitype/"/>
    <ds:schemaRef ds:uri="http://schemas.microsoft.com/office/2006/documentManagement/types"/>
    <ds:schemaRef ds:uri="http://www.w3.org/XML/1998/namespace"/>
    <ds:schemaRef ds:uri="http://schemas.openxmlformats.org/package/2006/metadata/core-properties"/>
    <ds:schemaRef ds:uri="61a53e6c-53f2-4709-838c-32a07fa7348c"/>
  </ds:schemaRefs>
</ds:datastoreItem>
</file>

<file path=customXml/itemProps2.xml><?xml version="1.0" encoding="utf-8"?>
<ds:datastoreItem xmlns:ds="http://schemas.openxmlformats.org/officeDocument/2006/customXml" ds:itemID="{92CA2CD0-1824-491F-9AFA-03C38DCE2951}">
  <ds:schemaRefs>
    <ds:schemaRef ds:uri="http://schemas.microsoft.com/sharepoint/v3/contenttype/forms"/>
  </ds:schemaRefs>
</ds:datastoreItem>
</file>

<file path=customXml/itemProps3.xml><?xml version="1.0" encoding="utf-8"?>
<ds:datastoreItem xmlns:ds="http://schemas.openxmlformats.org/officeDocument/2006/customXml" ds:itemID="{2374323E-7AF1-410A-ADFC-B6F59135825E}">
  <ds:schemaRefs>
    <ds:schemaRef ds:uri="61a53e6c-53f2-4709-838c-32a07fa7348c"/>
    <ds:schemaRef ds:uri="9942508b-7edd-4522-9099-5c8ba2e58c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4ced55a7-e3ff-412d-8b16-16c16d29a51e}" enabled="1" method="Privileged" siteId="{9744600e-3e04-492e-baa1-25ec245c6f10}" contentBits="0" removed="0"/>
</clbl:labelList>
</file>

<file path=docProps/app.xml><?xml version="1.0" encoding="utf-8"?>
<Properties xmlns="http://schemas.openxmlformats.org/officeDocument/2006/extended-properties" xmlns:vt="http://schemas.openxmlformats.org/officeDocument/2006/docPropsVTypes">
  <Template>Retrospect</Template>
  <TotalTime>0</TotalTime>
  <Words>1535</Words>
  <Application>Microsoft Office PowerPoint</Application>
  <PresentationFormat>Widescreen</PresentationFormat>
  <Paragraphs>323</Paragraphs>
  <Slides>14</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3" baseType="lpstr">
      <vt:lpstr>Arial</vt:lpstr>
      <vt:lpstr>Arial Nova</vt:lpstr>
      <vt:lpstr>Calibri</vt:lpstr>
      <vt:lpstr>Courier New</vt:lpstr>
      <vt:lpstr>Graphik Light</vt:lpstr>
      <vt:lpstr>Graphik Regular</vt:lpstr>
      <vt:lpstr>Symbol</vt:lpstr>
      <vt:lpstr>1_Retrospect</vt:lpstr>
      <vt:lpstr>think-cell Slide</vt:lpstr>
      <vt:lpstr>DA 204o: Data Science in Practice Course Project Proposal  Auto-Insight: Predicting Ownership, Usage, Price and Insights from Indian Car Listings</vt:lpstr>
      <vt:lpstr>PowerPoint Presentation</vt:lpstr>
      <vt:lpstr>Problem Definition</vt:lpstr>
      <vt:lpstr>Data Collection and Preparation</vt:lpstr>
      <vt:lpstr>Data Collection and Preparation</vt:lpstr>
      <vt:lpstr>EDA</vt:lpstr>
      <vt:lpstr>Implementation Plan</vt:lpstr>
      <vt:lpstr>Proposed Methodology</vt:lpstr>
      <vt:lpstr>Challenges and Risks</vt:lpstr>
      <vt:lpstr>Final Learnings I</vt:lpstr>
      <vt:lpstr>Final Learnings - II</vt:lpstr>
      <vt:lpstr>Role and Responsibilities</vt:lpstr>
      <vt:lpstr>Future Enhancements</vt:lpstr>
      <vt:lpstr>Demo &amp; QnA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 204o: Data Science in Practice Course Project Proposal  Auto-Insight: Predicting Ownership, Usage, Price and Insights from Indian Car Listings</dc:title>
  <dc:creator>Pandarasamy Arjunan</dc:creator>
  <cp:lastModifiedBy>Supratim Dey (External)</cp:lastModifiedBy>
  <cp:revision>242</cp:revision>
  <dcterms:created xsi:type="dcterms:W3CDTF">2023-08-01T07:21:01Z</dcterms:created>
  <dcterms:modified xsi:type="dcterms:W3CDTF">2025-12-01T14:01:16Z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0x0101000CF4A66993F69444994DEDC68916C527</vt:lpwstr>
  </property>
  <property fmtid="{D5CDD505-2E9C-101B-9397-08002B2CF9AE}" pid="3" name="MediaServiceImageTags">
    <vt:lpwstr/>
  </property>
</Properties>
</file>